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902952" cy="7644384"/>
  <p:notesSz cx="7644384" cy="9902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902952" cy="1143000"/>
          </a:xfrm>
          <a:prstGeom prst="rect">
            <a:avLst/>
          </a:prstGeom>
          <a:solidFill>
            <a:srgbClr val="1218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902952" cy="914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0116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EDU AI AGENT SUITE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76656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AI Agents for Education — Built on AWS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766560" y="457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FE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Decision-support · human-gated · auditable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2801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agents are not the product. </a:t>
            </a:r>
            <a:pPr indent="0" marL="0">
              <a:buNone/>
            </a:pPr>
            <a:r>
              <a:rPr lang="en-US" sz="1100" i="1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governed platform — one MCP authorization gateway, a FERPA/COPPA/IDEA/ADA compliance spine, and a human gate on every consequential action — that makes them deployable across K-12, higher ed, and workforce education is.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87452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FLAGSHIP AGENTS, ONE PLATFORM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148840"/>
            <a:ext cx="2240280" cy="475488"/>
          </a:xfrm>
          <a:prstGeom prst="rect">
            <a:avLst/>
          </a:prstGeom>
          <a:solidFill>
            <a:srgbClr val="F4F7FC"/>
          </a:solidFill>
          <a:ln w="12700">
            <a:solidFill>
              <a:srgbClr val="E3E8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249424"/>
            <a:ext cx="274320" cy="2743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2494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" y="214884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&amp; Family Concierge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0" y="2148840"/>
            <a:ext cx="2240280" cy="475488"/>
          </a:xfrm>
          <a:prstGeom prst="rect">
            <a:avLst/>
          </a:prstGeom>
          <a:solidFill>
            <a:srgbClr val="F4F7FC"/>
          </a:solidFill>
          <a:ln w="12700">
            <a:solidFill>
              <a:srgbClr val="E3E8F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34640" y="2249424"/>
            <a:ext cx="274320" cy="2743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2834640" y="22494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00400" y="214884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 &amp; Study Companion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120640" y="2148840"/>
            <a:ext cx="2240280" cy="475488"/>
          </a:xfrm>
          <a:prstGeom prst="rect">
            <a:avLst/>
          </a:prstGeom>
          <a:solidFill>
            <a:srgbClr val="F4F7FC"/>
          </a:solidFill>
          <a:ln w="12700">
            <a:solidFill>
              <a:srgbClr val="E3E8F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212080" y="2249424"/>
            <a:ext cx="274320" cy="2743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5212080" y="22494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577840" y="214884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Educator Copilot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498080" y="2148840"/>
            <a:ext cx="2240280" cy="475488"/>
          </a:xfrm>
          <a:prstGeom prst="rect">
            <a:avLst/>
          </a:prstGeom>
          <a:solidFill>
            <a:srgbClr val="F4F7FC"/>
          </a:solidFill>
          <a:ln w="12700">
            <a:solidFill>
              <a:srgbClr val="E3E8F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589520" y="2249424"/>
            <a:ext cx="274320" cy="2743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7589520" y="22494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955280" y="214884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&amp; Feedback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2715768"/>
            <a:ext cx="2240280" cy="475488"/>
          </a:xfrm>
          <a:prstGeom prst="rect">
            <a:avLst/>
          </a:prstGeom>
          <a:solidFill>
            <a:srgbClr val="F4F7FC"/>
          </a:solidFill>
          <a:ln w="12700">
            <a:solidFill>
              <a:srgbClr val="E3E8F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2816352"/>
            <a:ext cx="274320" cy="2743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28163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22960" y="2715768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Success &amp; Engagement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0" y="2715768"/>
            <a:ext cx="2240280" cy="475488"/>
          </a:xfrm>
          <a:prstGeom prst="rect">
            <a:avLst/>
          </a:prstGeom>
          <a:solidFill>
            <a:srgbClr val="F4F7FC"/>
          </a:solidFill>
          <a:ln w="12700">
            <a:solidFill>
              <a:srgbClr val="E3E8F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834640" y="2816352"/>
            <a:ext cx="274320" cy="2743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2834640" y="28163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200400" y="2715768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Pathway Navigator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120640" y="2715768"/>
            <a:ext cx="2240280" cy="475488"/>
          </a:xfrm>
          <a:prstGeom prst="rect">
            <a:avLst/>
          </a:prstGeom>
          <a:solidFill>
            <a:srgbClr val="F4F7FC"/>
          </a:solidFill>
          <a:ln w="12700">
            <a:solidFill>
              <a:srgbClr val="E3E8F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212080" y="2816352"/>
            <a:ext cx="274320" cy="2743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5" name="Text 33"/>
          <p:cNvSpPr/>
          <p:nvPr/>
        </p:nvSpPr>
        <p:spPr>
          <a:xfrm>
            <a:off x="5212080" y="28163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577840" y="2715768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&amp; Accessibility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498080" y="2715768"/>
            <a:ext cx="2240280" cy="475488"/>
          </a:xfrm>
          <a:prstGeom prst="rect">
            <a:avLst/>
          </a:prstGeom>
          <a:solidFill>
            <a:srgbClr val="F4F7FC"/>
          </a:solidFill>
          <a:ln w="12700">
            <a:solidFill>
              <a:srgbClr val="E3E8F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589520" y="2816352"/>
            <a:ext cx="274320" cy="2743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9" name="Text 37"/>
          <p:cNvSpPr/>
          <p:nvPr/>
        </p:nvSpPr>
        <p:spPr>
          <a:xfrm>
            <a:off x="7589520" y="28163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955280" y="2715768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Service Desk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65760" y="3429000"/>
            <a:ext cx="4663440" cy="1874520"/>
          </a:xfrm>
          <a:prstGeom prst="rect">
            <a:avLst/>
          </a:prstGeom>
          <a:solidFill>
            <a:srgbClr val="F4F7FC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65760" y="3429000"/>
            <a:ext cx="4663440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3" name="Text 41"/>
          <p:cNvSpPr/>
          <p:nvPr/>
        </p:nvSpPr>
        <p:spPr>
          <a:xfrm>
            <a:off x="548640" y="3456432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MCP gateway comes first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48640" y="3886200"/>
            <a:ext cx="4343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agent touches a system of record directly. One door: verify identity &amp; role · deny-by-default least privilege · human approval on consequential actions · short-lived scoped tokens · PII-masked audit.</a:t>
            </a:r>
            <a:endParaRPr lang="en-US" sz="9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ways to build it: AgentCore Gateway (managed) · API Gateway + Lambda (primitives) · FastMCP (self-built). Identical controls.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239512" y="3429000"/>
            <a:ext cx="4297680" cy="1874520"/>
          </a:xfrm>
          <a:prstGeom prst="rect">
            <a:avLst/>
          </a:prstGeom>
          <a:solidFill>
            <a:srgbClr val="F4F7FC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5239512" y="3429000"/>
            <a:ext cx="4297680" cy="3657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7" name="Text 45"/>
          <p:cNvSpPr/>
          <p:nvPr/>
        </p:nvSpPr>
        <p:spPr>
          <a:xfrm>
            <a:off x="5422392" y="3456432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compliance spine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5422392" y="3886200"/>
            <a:ext cx="3977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FERPA · COPPA · PPRA · IDEA / Section 504 · ADA / Section 508 / WCAG 2.2 AA · ~140 state student-privacy laws — enforced in the platform, not just documented.</a:t>
            </a:r>
            <a:endParaRPr lang="en-US" sz="9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line: agents never autonomously decide grades, admissions, discipline, financial aid, special-ed eligibility, or placement.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365760" y="544068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IN PRODUCTION ON AWS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65760" y="5715000"/>
            <a:ext cx="2240280" cy="914400"/>
          </a:xfrm>
          <a:prstGeom prst="rect">
            <a:avLst/>
          </a:prstGeom>
          <a:solidFill>
            <a:srgbClr val="12183A"/>
          </a:solidFill>
          <a:ln/>
        </p:spPr>
      </p:sp>
      <p:sp>
        <p:nvSpPr>
          <p:cNvPr id="51" name="Text 49"/>
          <p:cNvSpPr/>
          <p:nvPr/>
        </p:nvSpPr>
        <p:spPr>
          <a:xfrm>
            <a:off x="502920" y="578815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FE3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94.5%</a:t>
            </a:r>
            <a:endParaRPr lang="en-US" sz="1900" dirty="0"/>
          </a:p>
        </p:txBody>
      </p:sp>
      <p:sp>
        <p:nvSpPr>
          <p:cNvPr id="52" name="Text 50"/>
          <p:cNvSpPr/>
          <p:nvPr/>
        </p:nvSpPr>
        <p:spPr>
          <a:xfrm>
            <a:off x="502920" y="619963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UA-Pulaski Tech agent adoption; +253% admissions engagement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2743200" y="5715000"/>
            <a:ext cx="2240280" cy="914400"/>
          </a:xfrm>
          <a:prstGeom prst="rect">
            <a:avLst/>
          </a:prstGeom>
          <a:solidFill>
            <a:srgbClr val="12183A"/>
          </a:solidFill>
          <a:ln/>
        </p:spPr>
      </p:sp>
      <p:sp>
        <p:nvSpPr>
          <p:cNvPr id="54" name="Text 52"/>
          <p:cNvSpPr/>
          <p:nvPr/>
        </p:nvSpPr>
        <p:spPr>
          <a:xfrm>
            <a:off x="2880360" y="578815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FE3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75%</a:t>
            </a:r>
            <a:endParaRPr lang="en-US" sz="1900" dirty="0"/>
          </a:p>
        </p:txBody>
      </p:sp>
      <p:sp>
        <p:nvSpPr>
          <p:cNvPr id="55" name="Text 53"/>
          <p:cNvSpPr/>
          <p:nvPr/>
        </p:nvSpPr>
        <p:spPr>
          <a:xfrm>
            <a:off x="2880360" y="619963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financial-aid status contacts at Highline College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5120640" y="5715000"/>
            <a:ext cx="2240280" cy="914400"/>
          </a:xfrm>
          <a:prstGeom prst="rect">
            <a:avLst/>
          </a:prstGeom>
          <a:solidFill>
            <a:srgbClr val="12183A"/>
          </a:solidFill>
          <a:ln/>
        </p:spPr>
      </p:sp>
      <p:sp>
        <p:nvSpPr>
          <p:cNvPr id="57" name="Text 55"/>
          <p:cNvSpPr/>
          <p:nvPr/>
        </p:nvSpPr>
        <p:spPr>
          <a:xfrm>
            <a:off x="5257800" y="578815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FE3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 day</a:t>
            </a:r>
            <a:endParaRPr lang="en-US" sz="1900" dirty="0"/>
          </a:p>
        </p:txBody>
      </p:sp>
      <p:sp>
        <p:nvSpPr>
          <p:cNvPr id="58" name="Text 56"/>
          <p:cNvSpPr/>
          <p:nvPr/>
        </p:nvSpPr>
        <p:spPr>
          <a:xfrm>
            <a:off x="5257800" y="619963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Illinois Tech transcript eval (was 4-6 weeks)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7498080" y="5715000"/>
            <a:ext cx="2240280" cy="914400"/>
          </a:xfrm>
          <a:prstGeom prst="rect">
            <a:avLst/>
          </a:prstGeom>
          <a:solidFill>
            <a:srgbClr val="12183A"/>
          </a:solidFill>
          <a:ln/>
        </p:spPr>
      </p:sp>
      <p:sp>
        <p:nvSpPr>
          <p:cNvPr id="60" name="Text 58"/>
          <p:cNvSpPr/>
          <p:nvPr/>
        </p:nvSpPr>
        <p:spPr>
          <a:xfrm>
            <a:off x="7635240" y="578815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FE3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UT Sage</a:t>
            </a:r>
            <a:endParaRPr lang="en-US" sz="1900" dirty="0"/>
          </a:p>
        </p:txBody>
      </p:sp>
      <p:sp>
        <p:nvSpPr>
          <p:cNvPr id="61" name="Text 59"/>
          <p:cNvSpPr/>
          <p:nvPr/>
        </p:nvSpPr>
        <p:spPr>
          <a:xfrm>
            <a:off x="7635240" y="619963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 Austin faculty-guided Bedrock tutor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365760" y="68122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with the Student &amp; Family Concierge, then expand across the portfolio.  </a:t>
            </a:r>
            <a:pPr indent="0" marL="0">
              <a:buNone/>
            </a:pPr>
            <a:r>
              <a:rPr lang="en-US" sz="950" i="1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AWS Public Sector Blog; Illinois Tech case study.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2026-06-18T00:42:30Z</dcterms:created>
  <dcterms:modified xsi:type="dcterms:W3CDTF">2026-06-18T00:42:30Z</dcterms:modified>
</cp:coreProperties>
</file>