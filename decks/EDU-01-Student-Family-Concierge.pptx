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[00:20] Title. Agent 01 is the land-first motion: visible, low decision-risk, measurable. Position to the CIO as the safest first deployment that proves the shared control plane; to the CFO as a fast, contact-cost ROI. Set up that the whole suite shares one governed AWS platform — this agent is the on-ramp.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[00:45] Hook. Lead with the GAO figure — three of four FAFSA-cycle calls went unanswered — as the strongest (gov) proxy for routine-inquiry overload. The two AWS customer stats are vendor-attributed and shown as such. To the CFO: a contact-cost story. To the CIO: 24/7 multilingual coverage without adding headcount.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[01:10] Issue + cost. Walk the left card as the operational reality, then land the modeled ~$1.2–1.6M/yr avoidable contact cost with the arithmetic visible — defensible, not invented; substitute their real volumes. The bright line is the governance promise: reads are self-serve, account actions need a named human. CISOs care most about this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[01:35] Pipeline. Five steps, human gate in red. Emphasize the gate is enforced in the orchestration framework, not a policy document. The three cards are the audit/grounding/never-decides assurances every regulated buyer asks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[02:15] Architecture — the most important slide. Trace the eight numbered flow steps. To deploy, the customer must provide: an IdP (Okta/Azure AD/Google), network reachability to SIS + financial-aid (PrivateLink/Direct Connect), approved KB content, and a named approver group. Bedrock + Guardrails are in-VPC and mandatory; PII never egresses after masking.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[02:45] Proof + deploy. Outcomes are documented-at-institution or modeled-at-your-baseline, never guaranteed. Six deploy steps map to the runbook. Close on the takeaway: the governed platform is the product. The customer provides IdP, connectors, KB, and approvers; we provide the FERPA-defensible AWS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&amp; Family Services Concierge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95528" y="3429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Agentic AI Reference Architecture for Education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01 of 8  ·  deflect routine inquiries, 24/7 and multilingual — humans own every account action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5212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 AI Agent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Built on AWS  ·  June 2026</a:t>
            </a:r>
            <a:endParaRPr 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365760" y="6291072"/>
            <a:ext cx="1146048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00" i="1">
                <a:solidFill>
                  <a:srgbClr val="879296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772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HOLD MUSIC TO INSTANT ANSWERS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95528" y="1828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&amp; Family Services Concierge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2423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concierge that answers routine status, eligibility, and deadline questions in the family's language — while staff approve every account-touching action and every access is audited.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3730752"/>
            <a:ext cx="2852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~4M of 5.4M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FAFSA-cycle calls to the federal center went UNANSWERED (2024-25)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5202936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GAO-24-107407]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79976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654296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financial-aid status emails/calls/visits (Highline College)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5202936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[vendor — AWS]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982712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3730752"/>
            <a:ext cx="2852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&gt;15 min → &lt;30 sec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57032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times at similar staffing (UT Austin)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7032" y="5202936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[vendor — AWS]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Built on AWS  ·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 &amp; The Cost of Doing Nothing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25880"/>
            <a:ext cx="73152" cy="33832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039112"/>
            <a:ext cx="45994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can't self-serve answers; routine status/eligibility/deadline questions crowd out complex casework.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staff can't cover after-hours and multilingual demand.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peaks (FAFSA, registration, move-in) spike contact volume unpredictably.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2024-25 FAFSA cycle ~3 of 4 federal-center calls went unanswered — the sharpest proxy for routine-inquiry overload.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9944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9944" y="1325880"/>
            <a:ext cx="73152" cy="33832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729984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E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DOING NOTHING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1929384"/>
            <a:ext cx="4645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~$1.2M–$1.6M / yr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757416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Modeled: ~120k routine contacts/yr × ~60% deflectable × ~$16 phone/email → self-service cost delta. Self-service resolves at $1–$4 vs. $17–$25 phone.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75704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goodwill and enrollment yield when families can't reach anyone at peak.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burnout and turnover absorbing repetitive volume.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9128" y="4434840"/>
            <a:ext cx="354970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[modeled — cost-per-contact benchmark × institutional volume]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3232" y="5029200"/>
            <a:ext cx="10771632" cy="9144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line:  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answers and drafts; a named staff member approves every account-touching action, and every record access is audited.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 — A Governed Pipeline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approved knowledge + the student's own record through a scoped gateway, answer or draft — then stop at a human gate for anything consequential.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KB + record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policy/KB + student record via gateway-scoped connectors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090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0779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7238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238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intent &amp; entitlement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7238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ask; check what this role may see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0235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6694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694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/ translate / draft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6694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in the family's language or draft a staff reply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5002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96912" y="1828800"/>
            <a:ext cx="1993392" cy="15544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6150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6150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6150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approves account-touching actions; reads stay self-service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4458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91472" y="1828800"/>
            <a:ext cx="1993392" cy="155448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5606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5606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audit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5606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access logged to immutable store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audited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timestamp, actor, data sources, model version — append-only and examiner-ready by design.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708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708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46451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&amp; explainable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cite approved sources; Bedrock Guardrails mask PII before any model call and bound the output.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284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284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83027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never decides the account action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a human-only step, enforced in the orchestration framework — not a policy PDF.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Architecture &amp; Traffic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331720" cy="416052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58368" y="9235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 / EXTERNAL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7512" y="1252728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280160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families (web / chat / voice)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947672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975104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— Okta / Azure AD / Google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 + MFA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2642616"/>
            <a:ext cx="2093976" cy="6400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670048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+ Financial-Aid system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· PrivateLink / Direct Connect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3429000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456432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Connect / chat channel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4069080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/ Direct Connect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63240" y="868680"/>
            <a:ext cx="8549640" cy="466344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172968" y="923544"/>
            <a:ext cx="8330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— PER-CUSTOMER VPC (dedicated account per institution)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1307592"/>
            <a:ext cx="246888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337560" y="13624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8C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PUBLIC SUBNET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673352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7007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148840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— TLS 1.3 + Cognito auth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2624328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6517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 — SAML→JWT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97880" y="1307592"/>
            <a:ext cx="27889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007608" y="136245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SUBNET — ECS FARGATE / AGENTCORE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07608" y="1673352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6099048" y="170078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task (concierge console)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07608" y="2139696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6099048" y="2167128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worker + Amazon Translate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07608" y="2606040"/>
            <a:ext cx="2569464" cy="402336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32" name="Text 30"/>
          <p:cNvSpPr/>
          <p:nvPr/>
        </p:nvSpPr>
        <p:spPr>
          <a:xfrm>
            <a:off x="6099048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 gateway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outbound tool calls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887968" y="1307592"/>
            <a:ext cx="23317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8997696" y="13624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 — VPC ENDPOINT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97696" y="1691640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6" name="Text 34"/>
          <p:cNvSpPr/>
          <p:nvPr/>
        </p:nvSpPr>
        <p:spPr>
          <a:xfrm>
            <a:off x="9089136" y="1719072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(analysis + draft)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97696" y="2350008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8" name="Text 36"/>
          <p:cNvSpPr/>
          <p:nvPr/>
        </p:nvSpPr>
        <p:spPr>
          <a:xfrm>
            <a:off x="9089136" y="237744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+ content filters (mandatory)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27832" y="3246120"/>
            <a:ext cx="8220456" cy="114300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3337560" y="3300984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7AA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 — KMS CMK-ENCRYPTED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37560" y="3630168"/>
            <a:ext cx="1876806" cy="62179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2" name="Text 40"/>
          <p:cNvSpPr/>
          <p:nvPr/>
        </p:nvSpPr>
        <p:spPr>
          <a:xfrm>
            <a:off x="3429000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/ DynamoDB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+ case state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78958" y="3630168"/>
            <a:ext cx="1876806" cy="621792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44" name="Text 42"/>
          <p:cNvSpPr/>
          <p:nvPr/>
        </p:nvSpPr>
        <p:spPr>
          <a:xfrm>
            <a:off x="5470398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audit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20356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6" name="Text 44"/>
          <p:cNvSpPr/>
          <p:nvPr/>
        </p:nvSpPr>
        <p:spPr>
          <a:xfrm>
            <a:off x="7511796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records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461754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8" name="Text 46"/>
          <p:cNvSpPr/>
          <p:nvPr/>
        </p:nvSpPr>
        <p:spPr>
          <a:xfrm>
            <a:off x="9553194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27832" y="4544568"/>
            <a:ext cx="8220456" cy="713232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50" name="Text 48"/>
          <p:cNvSpPr/>
          <p:nvPr/>
        </p:nvSpPr>
        <p:spPr>
          <a:xfrm>
            <a:off x="3429000" y="4544568"/>
            <a:ext cx="7854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OPS:  </a:t>
            </a:r>
            <a:pPr algn="l" indent="0" marL="0">
              <a:buNone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 per data class  ·  IAM least privilege  ·  CloudWatch  ·  X-Ray  ·  CloudTrail  ·  Security Hub + Config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843784" y="132588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43784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843784" y="203911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43784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78424" y="217627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78424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843784" y="278892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43784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146036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46036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705088" y="185623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05088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1082528" y="309981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082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21040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2104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57150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student sign-in   2 SAML federation (MFA at IdP; Cognito issues JWT — no credentials in AWS)   3 authenticated session to concierge   4 SIS / financial-aid read over private connectivity   5 demand scales the agent workers   6 model calls stay inside AWS via VPC endpoint   7 every record access &amp; answer persisted to append-only audit   8 connectors reachable only through the governed MCP gateway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Payback &amp; How to Deploy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status emails/calls/visits (Highline College)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008376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[vendor — AWS]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65576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&lt;30 sec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65576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from &gt;15 min at similar staffing (UT Austin)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65576" y="3008376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[vendor — AWS]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$1–$4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05840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contact cost vs. $17–$25 phone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215384"/>
            <a:ext cx="13953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[sector-press/estimate]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65576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~$1.2–1.6M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65576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avoidable contact cost/yr addressed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65576" y="4215384"/>
            <a:ext cx="6016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[modeled]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09944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 TO DEPLOY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21424" y="1892808"/>
            <a:ext cx="4553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KMS CMK per data class + per-customer VPC / network.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Cognito SAML→JWT federation with role scoping.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with CloudFront + WAF, ALB TLS 1.3.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agent + grant tools via the MCP gateway (deny-by-default).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SIS + financial-aid; load approved KB; wire Connect/chat.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S3 Object Lock + append-only audit; run smoke + HITL test.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02552" y="408736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quick-deploy provisions the isolated environment + gateway + Connect/chat channel; point connectors at SIS and financial-aid; load approved KB.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02552" y="457200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runbooks/agent-deploy/01-student-family-concierge.md  ·  docs/AWS-DEPLOYMENT-REFERENCE.md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" y="5230368"/>
            <a:ext cx="10771632" cy="841248"/>
          </a:xfrm>
          <a:prstGeom prst="rect">
            <a:avLst/>
          </a:prstGeom>
          <a:solidFill>
            <a:srgbClr val="1B2530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230368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isn't the product — the governed platform that makes it FERPA/ADA-defensible and deployable on AWS is.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011680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Disclaimer &amp; Shared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D5DBDB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D5DBDB"/>
                </a:solidFill>
              </a:rPr>
              <a:t>Built on AWS; not affiliated with or endorsed by Amazon Web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 Agent 01 — Student &amp; Family Services Concierge</dc:title>
  <dc:subject>PptxGenJS Presentation</dc:subject>
  <dc:creator>EDU AI Agent Suite</dc:creator>
  <cp:lastModifiedBy>EDU AI Agent Suite</cp:lastModifiedBy>
  <cp:revision>1</cp:revision>
  <dcterms:created xsi:type="dcterms:W3CDTF">2026-06-24T03:49:10Z</dcterms:created>
  <dcterms:modified xsi:type="dcterms:W3CDTF">2026-06-24T03:49:10Z</dcterms:modified>
</cp:coreProperties>
</file>