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Open on the promise: this is the 24/7 governed front door to the institution. Frame Agent 01 as the land-first motion — the safest, most visible, most measurable first deployment that proves the shared governed platform. To the CIO it's the lowest-decision-risk agent; to the CFO it's a fast contact-cost ROI. The one line that lands: 'the same governed platform under this concierge runs all eight agents.' Note the disclaimer up front — this is a reference accelerator, not an AWS product — so the room trusts every later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The issue. Lead with the GAO headline: during the 2024-25 FAFSA cycle, about three of every four calls to the federal aid line went unanswered — roughly 4 million of 5.4 million. That is the sharpest public proxy for the routine-inquiry overload every institution's front office feels at peak. The one line: 'families can't self-serve, and the phones can't keep up.' The three cards make it concrete — 24/7 and multilingual demand, seasonal peaks, and complex casework waiting behind routine questions.</a:t>
            </a:r>
            <a:endParaRPr lang="en-US" dirty="0"/>
          </a:p>
          <a:p/>
          <a:p>
            <a:r>
              <a:t>Source: ~4M of 5.4M 2024-25 FAFSA-cycle calls unanswered — GAO-24-107407 (2024) [gov].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What students expect. The bar is now set by consumer apps, not by the registrar. 86% of students expect 24/7 support, 72% are mobile-first, and a third of applicants expect an answer within a day. When an inquiry sits more than 48 hours, enrollment likelihood drops about 30% — so the gap isn't cosmetic, it costs yield. The one line: 'students live in an instant, self-serve, mobile world; the institution runs on business hours and phone queues — that's the expectation gap.' Tag the softer figures as sector-press so the room knows what's rigorous.</a:t>
            </a:r>
            <a:endParaRPr lang="en-US" dirty="0"/>
          </a:p>
          <a:p/>
          <a:p>
            <a:r>
              <a:t>Sources: 86% expect 24/7 AI support — higher-ed GenAI student survey (arXiv, 2024) [research]; 72% mobile-first — AppsAnywhere teen higher-ed research [research]; 37% expect an answer within a day / faster response lifts conversion — ReWork &amp; EducationDynamics speed-to-lead [sector-press]; ~30% lower enrollment likelihood when an inquiry sits &gt;48 hrs — NACAC [sector-press]. Full entries in gtm/EDU-DECK-SOURCES.md.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How colleges try today — and why each falls short. Walk the three rows: more staff can't scale to peaks or cover after-hours; FAQ portals are static and can't see a student's record; generic chatbots hallucinate, have no audit, and can't safely touch a record — a FERPA risk. Land the teal line: the missing piece is a governed agent — self-service that can safely reach the student's own record, answer in any language, and produce an audit trail. This is the frame for everything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[02:00] The cost of doing nothing. For a mid-size institution the modeled avoidable contact-handling cost is ~$1.2M–$1.6M/yr — and the arithmetic is on the slide, so it's defensible, not invented; swap in their real volumes live. Then the costs you can't invoice: lost enrollment yield at peak, staff burnout, and an equity gap for non-English-speaking and working families. Close on the bright line — the agent answers and drafts; a named human approves every account-touching action; every access is audited. CISOs care most about that line.</a:t>
            </a:r>
            <a:endParaRPr lang="en-US" dirty="0"/>
          </a:p>
          <a:p/>
          <a:p>
            <a:r>
              <a:t>Sources: cost-of-doing-nothing is modeled (~120k routine contacts/yr x ~60% deflectable x ~$16 phone/email-&gt;self-service delta) [modeled]; self-service $1-$4 vs $17-$25 phone [sector-press]. gtm/EDU-DECK-SOURCES.md.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How we solve it. Five governed steps: retrieve approved content plus live public data (College Scorecard), govern with deny-by-default record-scope, answer in any language through Bedrock + Guardrails, stop at the human gate (red) for anything consequential, and audit everything append-only. The one line: 'reads are instant and self-serve; consequential actions are human-only.' The three cards are the assurances every regulated buyer asks for — grounded answers, own-record-only, humans own the account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[03:00] Architecture — trace the eight numbered flow steps. To deploy, the customer provides an IdP (Okta/Azure AD/Google), governed reachability to SIS + financial-aid, approved KB content, and a named approver group; the live College Scorecard read needs only outbound API access through the gateway. Bedrock + Guardrails are reached over a VPC endpoint and are mandatory — student PII never egresses to an external AI API after masking. If someone asks 'is this real / is this safe?', this slide plus slide 8 are your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[03:45] The differentiator — this isn't a slideware concept. We deployed this concierge to a real AWS account on 2026-07-12, verified it live, and tore it down. It pulled live College Scorecard data for Michigan and Bedrock returned a grounded answer with the real figures — 15.6% admission rate, $17,736 in-state tuition. Governance held 4/4: public info allowed, own record allowed, another student's record denied by record-scope, a consequential send held for human approval — all in the deployed append-only audit. One CloudFormation stack plus a copy-paste runbook, whole run under a dollar; 200 tests pass, axe-core clean, PII masked at runtime. To a skeptical CIO: 'you can reproduce this in your own account in an afternoon.' Be honest about the footer — production still needs your IdP, your SIS connector, and a security review.</a:t>
            </a:r>
            <a:endParaRPr lang="en-US" dirty="0"/>
          </a:p>
          <a:p/>
          <a:p>
            <a:r>
              <a:t>Sources: all figures verbatim from the live AWS pilot run — docs/evidence/pilot-deploy.md (2026-07-12): live College Scorecard (api.data.gov) retrieval, deployed append-only audit table, 200 automated tests, axe-core 4.12.1 scan. Real, not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[04:20] ROI and the ask. Reference outcomes: Highline cut financial-aid status contacts 75%; UT Austin took waits from &gt;15 minutes to under 30 seconds at similar staffing; self-service resolves at $1–$4 vs $17–$25 by phone; modeled payback is 4–9 months at a mid-size institution. Tag vendor vs modeled honestly — don't oversell. To the CFO: 'the payback is months, not years, and the math uses your baseline.' To the CIO: 'land the governed front door in a 6–12 week pilot on one live system of record, then expand the same platform to the other seven agents.' That's the close — one platform, eight agents, start here.</a:t>
            </a:r>
            <a:endParaRPr lang="en-US" dirty="0"/>
          </a:p>
          <a:p/>
          <a:p>
            <a:r>
              <a:t>Sources: Highline College 75% reduction in financial-aid status contacts [vendor — AWS]; UT Austin wait &gt;15 min -&gt; &lt;30 sec [vendor — AWS]; self-service $1-$4 vs $17-$25 phone [sector-press]; 4-9 month payback [modeled]. gtm/EDU-DECK-SOURCES.md.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41732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&amp; Family Services Concierge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95528" y="32461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24/7 governed front door to the institution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3977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01 of 8  ·  answers routine questions instantly, in any language — while staff own every account action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0749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3949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Student &amp; Family Concierge  ·  Built on AWS  ·  July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61722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6B7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can't self-serve — and the phones can't keep up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95528" y="15361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status, aid, and deadline questions bury front-office staff — and seasonal peaks make it worse.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10771632" cy="1234440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86000"/>
            <a:ext cx="7498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~4M of 5.4M calls</a:t>
            </a:r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went unanswered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549640" y="228600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 of every 4 calls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federal aid line, 2024-25 FAFSA cycle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312724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 — U.S. GAO, GAO-24-107407, 2024]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77240" y="3657600"/>
            <a:ext cx="3456432" cy="21488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3272" y="3913632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+ multilingual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51560" y="4754880"/>
            <a:ext cx="29443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fixed staff and business hours simply can't cover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51560" y="5550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434840" y="3657600"/>
            <a:ext cx="3456432" cy="21488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0872" y="3913632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peaks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09160" y="4754880"/>
            <a:ext cx="29443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FAFSA, registration, and move-in spike contact volume unpredictably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709160" y="5550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[design]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092440" y="3657600"/>
            <a:ext cx="3456432" cy="21488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48472" y="3913632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casework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66760" y="4754880"/>
            <a:ext cx="29443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while advisors answer routine, repetitive questions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66760" y="5550408"/>
            <a:ext cx="2999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[design]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02920" y="64922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Student &amp; Family Concierge  ·  Built on AWS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students &amp; families now expect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Gen-Z grew up on consumer apps. They expect an answer in seconds — on their phone, in their language, any hour — and they lose trust and walk when they can't get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828800"/>
            <a:ext cx="2606040" cy="8229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60120" y="294436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students expect 24/7 support from an AI assistant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8862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[research — survey, 2024]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93008" y="182880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93008" y="1828800"/>
            <a:ext cx="2606040" cy="8229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/>
          <p:nvPr/>
        </p:nvSpPr>
        <p:spPr>
          <a:xfrm>
            <a:off x="3721608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739896" y="294436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on a smartphone — mobile-first is the default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39896" y="38862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[research — 2024]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272784" y="182880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72784" y="1828800"/>
            <a:ext cx="2606040" cy="8229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519672" y="294436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applicants expect an answer within a single day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19672" y="38862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 — speed-to-lead]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052560" y="1828800"/>
            <a:ext cx="260604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52560" y="1828800"/>
            <a:ext cx="2606040" cy="8229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1214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9299448" y="294436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enrollment likelihood when an inquiry sits &gt;48 hrs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99448" y="38862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 — NACAC]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13232" y="4526280"/>
            <a:ext cx="10771632" cy="12344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6" name="Shape 24"/>
          <p:cNvSpPr/>
          <p:nvPr/>
        </p:nvSpPr>
        <p:spPr>
          <a:xfrm>
            <a:off x="713232" y="4526280"/>
            <a:ext cx="82296" cy="12344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992" y="4709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EXPECTATION GAP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78992" y="50383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institution runs on business hours, forms, and phone queues. Students live in an instant, self-serve, mobile world. Every hour that gap stays open costs trust, staff time, and enrollment yield.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2920" y="64922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Student &amp; Family Concierge  ·  Built on AWS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colleges try to solve it — and where it falls short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current approach either can't scale, can't personalize, or can't safely touch a student record.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58952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APPROACH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06240" y="15727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1572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FALLS SHORT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1901952"/>
            <a:ext cx="3291840" cy="10241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3232" y="1901952"/>
            <a:ext cx="73152" cy="1024128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" y="1901952"/>
            <a:ext cx="2926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 more staff / call centers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160520" y="1901952"/>
            <a:ext cx="2971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answer phones and email during business hours.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01952"/>
            <a:ext cx="4206240" cy="1024128"/>
          </a:xfrm>
          <a:prstGeom prst="rect">
            <a:avLst/>
          </a:prstGeom>
          <a:solidFill>
            <a:srgbClr val="FBECEA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01952"/>
            <a:ext cx="73152" cy="10241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1901952"/>
            <a:ext cx="38770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A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Expensive; can't scale to FAFSA/registration peaks; still no after-hours or multilingual coverage.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3232" y="3054096"/>
            <a:ext cx="3291840" cy="10241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232" y="3054096"/>
            <a:ext cx="73152" cy="1024128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7" name="Text 15"/>
          <p:cNvSpPr/>
          <p:nvPr/>
        </p:nvSpPr>
        <p:spPr>
          <a:xfrm>
            <a:off x="969264" y="3054096"/>
            <a:ext cx="2926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 pages &amp; self-service portals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160520" y="3054096"/>
            <a:ext cx="2971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answers students look up themselves.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69480" y="3054096"/>
            <a:ext cx="4206240" cy="1024128"/>
          </a:xfrm>
          <a:prstGeom prst="rect">
            <a:avLst/>
          </a:prstGeom>
          <a:solidFill>
            <a:srgbClr val="FBECEA"/>
          </a:solidFill>
          <a:ln/>
        </p:spPr>
      </p:sp>
      <p:sp>
        <p:nvSpPr>
          <p:cNvPr id="20" name="Shape 18"/>
          <p:cNvSpPr/>
          <p:nvPr/>
        </p:nvSpPr>
        <p:spPr>
          <a:xfrm>
            <a:off x="7269480" y="3054096"/>
            <a:ext cx="73152" cy="10241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1" name="Text 19"/>
          <p:cNvSpPr/>
          <p:nvPr/>
        </p:nvSpPr>
        <p:spPr>
          <a:xfrm>
            <a:off x="7507224" y="3054096"/>
            <a:ext cx="38770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A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personalized; can't see a student's own record; the hard questions still route to staff.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3232" y="4206240"/>
            <a:ext cx="3291840" cy="10241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3232" y="4206240"/>
            <a:ext cx="73152" cy="1024128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4" name="Text 22"/>
          <p:cNvSpPr/>
          <p:nvPr/>
        </p:nvSpPr>
        <p:spPr>
          <a:xfrm>
            <a:off x="969264" y="4206240"/>
            <a:ext cx="2926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website chatbots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160520" y="4206240"/>
            <a:ext cx="2971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Bolt-on bots that field common questions.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269480" y="4206240"/>
            <a:ext cx="4206240" cy="1024128"/>
          </a:xfrm>
          <a:prstGeom prst="rect">
            <a:avLst/>
          </a:prstGeom>
          <a:solidFill>
            <a:srgbClr val="FBECEA"/>
          </a:solidFill>
          <a:ln/>
        </p:spPr>
      </p:sp>
      <p:sp>
        <p:nvSpPr>
          <p:cNvPr id="27" name="Shape 25"/>
          <p:cNvSpPr/>
          <p:nvPr/>
        </p:nvSpPr>
        <p:spPr>
          <a:xfrm>
            <a:off x="7269480" y="4206240"/>
            <a:ext cx="73152" cy="10241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6"/>
          <p:cNvSpPr/>
          <p:nvPr/>
        </p:nvSpPr>
        <p:spPr>
          <a:xfrm>
            <a:off x="7507224" y="4206240"/>
            <a:ext cx="38770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A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Hallucinate; no governance or audit; can't safely reach a student record — a FERPA risk.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13232" y="5522976"/>
            <a:ext cx="10771632" cy="77724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0" name="Text 28"/>
          <p:cNvSpPr/>
          <p:nvPr/>
        </p:nvSpPr>
        <p:spPr>
          <a:xfrm>
            <a:off x="1078992" y="5522976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piece:  </a:t>
            </a:r>
            <a:pPr algn="l"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 agent — self-service that can safely reach a student's own record, answer in any language, and produce an audit trail.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02920" y="64922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Student &amp; Family Concierge  ·  Built on AWS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mid-size institution, staffing routine contacts by phone and email instead of self-service leaves real money on the table every year.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691640"/>
            <a:ext cx="630936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91640"/>
            <a:ext cx="82296" cy="23317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" y="191109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AVOIDABLE CONTACT-HANDLING COST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24028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~$1.2M–$1.6M / yr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1033272" y="3172968"/>
            <a:ext cx="5687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</a:t>
            </a:r>
            <a:pPr algn="l"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~120k routine contacts/yr  ×  ~60% deflectable  ×  ~$16 phone/email → self-service delta.  Self-service resolves at $1–$4 vs. $17–$25 by phone.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33272" y="3749040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cost-per-contact benchmark × institutional volume]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388352" y="1691640"/>
            <a:ext cx="409651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88352" y="1691640"/>
            <a:ext cx="82296" cy="233172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1911096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COSTS YOU CAN'T INVOICE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17536" y="2350008"/>
            <a:ext cx="34930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enrollment yield when families can't reach anyone at peak.</a:t>
            </a:r>
            <a:endParaRPr lang="en-US" sz="1250" dirty="0"/>
          </a:p>
          <a:p>
            <a:pPr algn="l" marL="342900" indent="-3429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burnout and turnover absorbing repetitive, routine volume.</a:t>
            </a:r>
            <a:endParaRPr lang="en-US" sz="1250" dirty="0"/>
          </a:p>
          <a:p>
            <a:pPr algn="l" marL="342900" indent="-342900">
              <a:lnSpc>
                <a:spcPct val="102000"/>
              </a:lnSpc>
              <a:buSzPct val="100000"/>
              <a:buChar char="•"/>
            </a:pPr>
            <a:r>
              <a:rPr lang="en-US" sz="12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gap — non-English-speaking and working families underserved after hours.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13232" y="4315968"/>
            <a:ext cx="10771632" cy="12344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315968"/>
            <a:ext cx="82296" cy="12344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78992" y="44988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BRIGHT LINE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78992" y="480974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answers and drafts; a named staff member approves every account-touching action; every record access is audited.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2920" y="64922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Student &amp; Family Concierge  ·  Built on AWS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the governed concierge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875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approved content and live public data, govern access, answer in any language — then stop at a human gate for anything consequential, and audit everything.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73736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19568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96112" y="2432304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288950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content + live College Scorecard (U.S. Dept. of Education)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660904" y="24963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73736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90672" y="19568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090672" y="2432304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90672" y="288950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deny-by-default; record-scope — a student sees only their own record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855464" y="24963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73736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85232" y="19568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285232" y="2432304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any language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85232" y="288950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response via Bedrock + Guardrails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050024" y="24963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73736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79792" y="19568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479792" y="2432304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79792" y="288950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staff member approves every consequential action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244584" y="24963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73736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74352" y="19568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674352" y="2432304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674352" y="288950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PII-masked record of every access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13232" y="3950208"/>
            <a:ext cx="3456432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950208"/>
            <a:ext cx="64008" cy="15087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151376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grounded, never invented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700016"/>
            <a:ext cx="290779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reply cites approved content or live public data; Guardrails mask PII and bound the output.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950208"/>
            <a:ext cx="3456432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950208"/>
            <a:ext cx="64008" cy="15087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151376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only ever sees their own record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700016"/>
            <a:ext cx="290779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record-scope authorization is deny-by-default and fail-closed — enforced in code, not a policy PDF.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950208"/>
            <a:ext cx="3456432" cy="1508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950208"/>
            <a:ext cx="64008" cy="15087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151376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own every consequential action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700016"/>
            <a:ext cx="290779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and account changes are human-gated; reads stay instant, self-service.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922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Student &amp; Family Concierge  ·  Built on AWS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&amp; families (web / chat / voice)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Google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+ Financial-Aid system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Scorecard (public API)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U.S. Dept. of Education data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 account per institution)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ECS FARGATE / AGENTCORE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(concierge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worker + Amazon Translate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+ case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student sign-in   2 SAML federation (MFA at IdP; Cognito issues JWT — no credentials in AWS)   3 authenticated session to concierge   4 SIS / financial-aid + live College Scorecard read over governed connectivity   5 demand scales the agent workers   6 model calls stay inside AWS via VPC endpoint   7 every record access &amp; answer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deployable &amp; tested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9611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a real AWS account and verified live on 2026-07-12</a:t>
            </a:r>
            <a:pPr algn="l"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then torn down.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13232" y="1371600"/>
            <a:ext cx="5202936" cy="2249424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371600"/>
            <a:ext cx="5202936" cy="82296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7" name="Text 5"/>
          <p:cNvSpPr/>
          <p:nvPr/>
        </p:nvSpPr>
        <p:spPr>
          <a:xfrm>
            <a:off x="987552" y="1572768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 + REAL ANSWER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938528"/>
            <a:ext cx="4654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deployed concierge pulled live College Scorecard data for “University of Michigan-Ann Arbor”; Amazon Bedrock returned a grounded answer citing the real figures: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2743200"/>
            <a:ext cx="4654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15.6%</a:t>
            </a:r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admission rate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</a:t>
            </a:r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$17,736</a:t>
            </a:r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in-state tuition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005840" y="3291840"/>
            <a:ext cx="4654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retrieval + generation via api.data.gov — not fixtures.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81928" y="1371600"/>
            <a:ext cx="5202936" cy="2249424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81928" y="1371600"/>
            <a:ext cx="5202936" cy="8229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6556248" y="1572768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PROVEN LIVE (4/4)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74536" y="195681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info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21624" y="1956816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77656" y="1956816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74536" y="22677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record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21624" y="2267712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77656" y="2267712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74536" y="257860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student's record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21624" y="2578608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77656" y="2578608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DENY  ·  record-scope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74536" y="288950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 send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21624" y="2889504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77656" y="288950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PENDING_APPROVAL  ·  human-gated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74536" y="3328416"/>
            <a:ext cx="4654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confirmed in the deployed append-only audit table.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3232" y="3767328"/>
            <a:ext cx="5202936" cy="2249424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" y="3767328"/>
            <a:ext cx="5202936" cy="82296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3968496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IN AN AFTERNOON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4334256"/>
            <a:ext cx="46542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CloudFormation stack </a:t>
            </a:r>
            <a:pPr algn="l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(infra/cloudformation/pilot-concierge.template.json)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the copy-paste runbook </a:t>
            </a:r>
            <a:pPr algn="l"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9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runbooks/agent-deploy/01-PILOT.md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05840" y="5248656"/>
            <a:ext cx="4654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$1</a:t>
            </a:r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cost of the entire verification run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6281928" y="3767328"/>
            <a:ext cx="5202936" cy="2249424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81928" y="3767328"/>
            <a:ext cx="5202936" cy="82296"/>
          </a:xfrm>
          <a:prstGeom prst="rect">
            <a:avLst/>
          </a:prstGeom>
          <a:solidFill>
            <a:srgbClr val="1ABC9C"/>
          </a:solidFill>
          <a:ln/>
        </p:spPr>
      </p:sp>
      <p:sp>
        <p:nvSpPr>
          <p:cNvPr id="34" name="Text 32"/>
          <p:cNvSpPr/>
          <p:nvPr/>
        </p:nvSpPr>
        <p:spPr>
          <a:xfrm>
            <a:off x="6556248" y="3968496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" kern="0" dirty="0">
                <a:solidFill>
                  <a:srgbClr val="1ABC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39128" y="4370832"/>
            <a:ext cx="4425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automated tests pass</a:t>
            </a:r>
            <a:endParaRPr lang="en-US" sz="1200" dirty="0"/>
          </a:p>
          <a:p>
            <a:pPr algn="l"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axe-core WCAG scan — 0 violations</a:t>
            </a:r>
            <a:endParaRPr lang="en-US" sz="1200" dirty="0"/>
          </a:p>
          <a:p>
            <a:pPr algn="l" marL="342900" indent="-342900">
              <a:lnSpc>
                <a:spcPct val="102000"/>
              </a:lnSpc>
              <a:buSzPct val="100000"/>
              <a:buChar char="•"/>
            </a:pPr>
            <a:r>
              <a:rPr lang="en-US" sz="12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student-PII masking — SSN / email / ID redacted in the cloud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13232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Reference-accelerator pilot proof — full production needs your IdP, your SIS connector, and a security review.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&amp; why now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961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documented at reference institutions — and the payback math for your own baseline.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417320"/>
            <a:ext cx="5202936" cy="1847088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417320"/>
            <a:ext cx="82296" cy="184708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1618488"/>
            <a:ext cx="4636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042416" y="2386584"/>
            <a:ext cx="4599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financial-aid status contacts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42416" y="2935224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Highline College   </a:t>
            </a:r>
            <a:pPr algn="l" indent="0" marL="0">
              <a:buNone/>
            </a:pPr>
            <a:r>
              <a:rPr lang="en-US" sz="9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81928" y="1417320"/>
            <a:ext cx="5202936" cy="1847088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81928" y="1417320"/>
            <a:ext cx="82296" cy="184708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592824" y="1618488"/>
            <a:ext cx="4636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&gt;15 min → &lt;30 sec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611112" y="2386584"/>
            <a:ext cx="4599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wait time at similar staffing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11112" y="2935224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 Austin   </a:t>
            </a:r>
            <a:pPr algn="l" indent="0" marL="0">
              <a:buNone/>
            </a:pPr>
            <a:r>
              <a:rPr lang="en-US" sz="9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13232" y="3401568"/>
            <a:ext cx="5202936" cy="1847088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3401568"/>
            <a:ext cx="82296" cy="184708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3602736"/>
            <a:ext cx="4636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$1–$4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042416" y="4370832"/>
            <a:ext cx="4599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contact cost vs. $17–$25 by phone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4919472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benchmark   </a:t>
            </a:r>
            <a:pPr algn="l" indent="0" marL="0">
              <a:buNone/>
            </a:pPr>
            <a:r>
              <a:rPr lang="en-US" sz="9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81928" y="3401568"/>
            <a:ext cx="5202936" cy="1847088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81928" y="3401568"/>
            <a:ext cx="82296" cy="184708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2" name="Text 20"/>
          <p:cNvSpPr/>
          <p:nvPr/>
        </p:nvSpPr>
        <p:spPr>
          <a:xfrm>
            <a:off x="6592824" y="3602736"/>
            <a:ext cx="4636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4–9 mo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611112" y="4370832"/>
            <a:ext cx="4599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D6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payback at a mid-size institution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11112" y="4919472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B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baseline   </a:t>
            </a:r>
            <a:pPr algn="l" indent="0" marL="0">
              <a:buNone/>
            </a:pPr>
            <a:r>
              <a:rPr lang="en-US" sz="9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13232" y="5522976"/>
            <a:ext cx="10771632" cy="102412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5522976"/>
            <a:ext cx="82296" cy="102412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992" y="5522976"/>
            <a:ext cx="10058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offer:  </a:t>
            </a:r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the governed front door in a 6–12 week pilot on one live system of record — then expand the same platform to the other seven agents.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 ·  Student &amp; Family Concierge  ·  Built on AWS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&amp; Family Services Concierge — GTM</dc:title>
  <dc:subject>PptxGenJS Presentation</dc:subject>
  <dc:creator>EDU AI Agent Suite</dc:creator>
  <cp:lastModifiedBy>EDU AI Agent Suite</cp:lastModifiedBy>
  <cp:revision>1</cp:revision>
  <dcterms:created xsi:type="dcterms:W3CDTF">2026-07-12T02:43:14Z</dcterms:created>
  <dcterms:modified xsi:type="dcterms:W3CDTF">2026-07-12T02:43:14Z</dcterms:modified>
</cp:coreProperties>
</file>