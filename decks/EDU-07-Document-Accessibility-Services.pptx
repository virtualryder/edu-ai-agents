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[00:00] HOOK — open by naming the agent and its one-line value: "Extract, classify, remediate and translate documents to WCAG 2.1 AA — staff sign off on every consequential record." Pause, then frame the whole deck: this is one of eight agents that all ride the SAME governed AWS platform — deny-by-default gateway, human-in-the-loop, full audit. POSITION: For a CIO/CISO, stress that the value prop is bounded by governance from slide one; for an academic leader, stress the outcome for students/staff. Say: "Six slides — the problem, how we govern it, the AWS architecture, how you deploy it, and the honest ROI." Keep it to ~45 seconds; the architecture slide is where you'll spend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THE PROBLEM — lead with the big number: ~95%. Let it land, then read the source aloud ("DOJ + sector-press · gov/peer-reviewed") so the room knows it's not a vendor claim. Walk the three "what we solve for" cards quickly — these are the pains your buyer feels in their own operation. POSITION: For an academic/operational leader this is the empathy slide — they live this pain; for a CIO/CISO it sizes the problem worth governing. Tie it back: "This is the recurring cost of doing nothing." Don't oversell — the metric carries it.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THE GOVERNED PIPELINE — this is the trust slide. Walk left to right: retrieve only approved content, analyze, draft/recommend, then the HITL gate (the amber step), then audit. Land hard on the bright line: "Staff sign off on every consequential record and accessibility approval; the agent remediates, a human approves release." POSITION: This is the slide for the CISO and the academic-integrity/compliance stakeholder — the agent is decision-support, a human owns the consequential call. Say explicitly: "The agent never crosses this line." If they push on autonomy, this slide is your answer. ~55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[02:30] AWS ARCHITECTURE — the most important slide; slow down. Trace the request path along the top spine: request → CloudFront+WAF → Cognito (role-scoped) → AgentCore Gateway (deny-by-default — nothing the agent wasn't explicitly granted) → Bedrock+Guardrails in-VPC, where PII is masked and never egresses. Then drop to this agent's specific tools/connectors (Amazon Textract, Amazon Translate, IDP pipeline, SIS / CRM connector), all gateway-scoped, and finally the WORM audit band. HOW IT DEPLOYS / WHAT THE CUSTOMER NEEDS: it runs in the customer's own AWS account; they bring their IdP, their data systems to connect, and a KMS key — Bedrock inference is in-account so student PII stays in their boundary. POSITION: This is the CISO/cloud-architect slide — emphasize tenancy, deny-by-default, and that the platform is identical across all 8 agents, so they govern once. ~70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[03:40] HOW TO DEPLOY — show it's a known, repeatable path, not a science project: keys/network, identity, edge, the agent and its tool grants, connectors/secrets, WORM audit, smoke test. End on the deploy one-liner. HOW IT DEPLOYS / WHAT THE CUSTOMER NEEDS: a runbook exists for this exact agent (runbooks/agent-deploy/07-document-accessibility-services.md) and a shared reference architecture (docs/AWS-DEPLOYMENT-REFERENCE.md); the customer supplies AWS account access, IdP federation, the systems to connect, and approved content/KB. POSITION: For a CIO/PMO this de-risks delivery and timeline; for a CISO it shows audit and least-privilege are wired in by step, not bolted on. Offer: "We can stand up a governed pilot in a contained environment quickly." ~45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[04:25] ROI &amp; HONEST TRADEOFFS — walk the three callouts, calling the source class each time; note which are vendor/estimate vs gov/peer-reviewed. Then the honesty panel — say it out loud: decision-support not autonomy, humans own consequential calls, vendor figures flagged, outcomes modeled to THEIR baseline, not guaranteed. POSITION: This candor is what earns the CISO and the academic leader; don't skip it to look stronger — it's the differentiator. Close: "We'll model these against your actual volumes and staffing before you commit." CLOSE/NEXT STEP: propose a scoped pilot starting with the land-first agents (01/03/07/08).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11880"/>
            <a:ext cx="9144000" cy="1531620"/>
          </a:xfrm>
          <a:prstGeom prst="rect">
            <a:avLst/>
          </a:prstGeom>
          <a:solidFill>
            <a:srgbClr val="24365C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8804" y="785652"/>
            <a:ext cx="403799" cy="4037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627632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&amp; Accessibility Services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58368" y="3822192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Extract, classify, remediate and translate documents to WCAG 2.1 AA — staff sign off on every consequential record.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658368" y="4430268"/>
            <a:ext cx="365760" cy="365760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6" y="4525366"/>
            <a:ext cx="175565" cy="1755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15568" y="44302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E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TODAY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doing nothing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3657600" cy="320040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66928" y="1481328"/>
            <a:ext cx="3456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~95%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03504" y="290779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E5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accessibility complaints involve PDFs — ADA Title II (WCAG 2.1 AA) hits Apr 26 2027 / 2028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03504" y="39502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DOJ + sector-press · gov/peer-reviewed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434840" y="123444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SOLVE FOR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34840" y="1572768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90288" y="1792224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91109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75504" y="16824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High-volume intake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175504" y="197510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Transcripts, aid docs — seasonal, error- and turnaround-pressured.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434840" y="2587752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90288" y="2807208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92608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75504" y="2697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WCAG 2.1 AA remediation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5175504" y="299008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 inaccessible PDFs / content at scale.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434840" y="3602736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590288" y="3822192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941064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175504" y="37124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Multilingual handling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175504" y="400507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handled across languages.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SOLVE IT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governed pipeline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74750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974750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12064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 + extract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Textract pulls structure from documents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990649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2381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49931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/>
          <p:nvPr/>
        </p:nvSpPr>
        <p:spPr>
          <a:xfrm>
            <a:off x="2649931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2187245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2223821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and detect accessibility gaps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6583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0756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325112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7"/>
          <p:cNvSpPr/>
          <p:nvPr/>
        </p:nvSpPr>
        <p:spPr>
          <a:xfrm>
            <a:off x="4325112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386242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Remediate / draft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389900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(+ Translate for multilingual)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34101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274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6EEE0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000293" y="1508760"/>
            <a:ext cx="493776" cy="49377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3"/>
          <p:cNvSpPr/>
          <p:nvPr/>
        </p:nvSpPr>
        <p:spPr>
          <a:xfrm>
            <a:off x="6000293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553760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HITL sign-off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557418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review consequential records + accessibility sign-off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016191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157923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675474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2" name="Text 29"/>
          <p:cNvSpPr/>
          <p:nvPr/>
        </p:nvSpPr>
        <p:spPr>
          <a:xfrm>
            <a:off x="7675474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212787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7249363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document touched is logged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950208"/>
            <a:ext cx="8229600" cy="676656"/>
          </a:xfrm>
          <a:prstGeom prst="roundRect">
            <a:avLst>
              <a:gd name="adj" fmla="val 10811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03504" y="4078224"/>
            <a:ext cx="420624" cy="42062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66" y="4187586"/>
            <a:ext cx="201900" cy="201900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133856" y="39502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sign off on every consequential record and accessibility approval; the agent remediates, a human approves release.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ARCHITECTURE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path &amp; traffic flow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0292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/ staff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00070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2872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17444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+ WAF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17444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672230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800246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845966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845966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Role-scoped identity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343754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7177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51749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Gateway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51749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01527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329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18901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Bedrock + Guardrails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18901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In-VPC · PII masked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860182" y="2231136"/>
            <a:ext cx="109728" cy="201168"/>
          </a:xfrm>
          <a:prstGeom prst="down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7200" y="2468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AGENT-SPECIFIC TOOLS &amp; CONNECTORS  (gateway-scoped)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57200" y="2743200"/>
            <a:ext cx="1961388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12064" y="2834640"/>
            <a:ext cx="18516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Textract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12064" y="3145536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extraction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2546604" y="2743200"/>
            <a:ext cx="1961388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601468" y="2834640"/>
            <a:ext cx="18516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Translate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2601468" y="3145536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output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636008" y="2743200"/>
            <a:ext cx="1961388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690872" y="2834640"/>
            <a:ext cx="18516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IDP pipeline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4690872" y="3145536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document processing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725412" y="2743200"/>
            <a:ext cx="1961388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780276" y="2834640"/>
            <a:ext cx="18516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 / CRM connector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6780276" y="3145536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write on approval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57200" y="3602736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3694176"/>
            <a:ext cx="329184" cy="32918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516" y="3779764"/>
            <a:ext cx="158008" cy="15800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1005840" y="36027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EVIDENCE   </a:t>
            </a:r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+ DynamoDB append-only — every access, draft, approval, and action logged.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457200" y="472287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 → S3 → Textract extract → Bedrock+Guardrails classify/remediate → (Translate) → staff HITL sign-off → record write + audit.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DEPLOY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zero to governed in seven steps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8521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58521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1556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CMK / KMS + network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1556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keys; isolated VPC.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521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11556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 / JWT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1556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the IdP; role scoping.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8" name="Text 15"/>
          <p:cNvSpPr/>
          <p:nvPr/>
        </p:nvSpPr>
        <p:spPr>
          <a:xfrm>
            <a:off x="58521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11556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/ WAF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1556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 at the front door.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85216" y="362102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3" name="Text 20"/>
          <p:cNvSpPr/>
          <p:nvPr/>
        </p:nvSpPr>
        <p:spPr>
          <a:xfrm>
            <a:off x="585216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115568" y="358444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agent + tool grants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1115568" y="384962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agent; grant only this agent's tools.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07492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0293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8" name="Text 25"/>
          <p:cNvSpPr/>
          <p:nvPr/>
        </p:nvSpPr>
        <p:spPr>
          <a:xfrm>
            <a:off x="520293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73328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Connectors + secrets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73328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Textract/IDP pipeline, connect SIS/CRM, enable Translate and the staff accessibility-approval gate.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07492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20293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3" name="Text 30"/>
          <p:cNvSpPr/>
          <p:nvPr/>
        </p:nvSpPr>
        <p:spPr>
          <a:xfrm>
            <a:off x="520293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73328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 WORM + DynamoDB audit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573328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Lock + append-only audit on.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07492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20293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8" name="Text 35"/>
          <p:cNvSpPr/>
          <p:nvPr/>
        </p:nvSpPr>
        <p:spPr>
          <a:xfrm>
            <a:off x="520293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73328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Smoke test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573328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path, HITL gate, audit write.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07492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5202936" y="3538728"/>
            <a:ext cx="3813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ONE-LINER
</a:t>
            </a:r>
            <a:endParaRPr lang="en-US" sz="9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wire the Textract/IDP pipeline, connect SIS/CRM, enable Translate and the staff accessibility-approval gate.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457200" y="47228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runbooks/agent-deploy/07-document-accessibility-services.md   ·   </a:t>
            </a:r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docs/AWS-DEPLOYMENT-REFERENCE.md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&amp; HONEST TRADEOFFS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 modeled to your baseline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4-6 wks → 1 day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585216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/ credential evaluation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85216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Tech · vendor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55264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46704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Open-sourced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3383280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PDF remediation for the ADA deadline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383280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Ohio State · vendor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053328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144768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2027 / 2028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181344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 deadlines this directly addresses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181344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DOJ · gov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57200" y="3291840"/>
            <a:ext cx="8229600" cy="1078992"/>
          </a:xfrm>
          <a:prstGeom prst="roundRect">
            <a:avLst>
              <a:gd name="adj" fmla="val 6780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0080" y="3621024"/>
            <a:ext cx="420624" cy="420624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" y="3730386"/>
            <a:ext cx="201900" cy="2019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170432" y="3401568"/>
            <a:ext cx="7406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 — and isn't.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Decision-support, not autonomy: humans own every consequential call (grades, awards, interventions, account changes).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figures are flagged on-slide and never lead.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are documented at the named institution and modeled to your baseline — not guaranteed.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Document &amp; Accessibility Services</dc:title>
  <dc:subject>PptxGenJS Presentation</dc:subject>
  <dc:creator>EDU AI Agent Suite</dc:creator>
  <cp:lastModifiedBy>EDU AI Agent Suite</cp:lastModifiedBy>
  <cp:revision>1</cp:revision>
  <dcterms:created xsi:type="dcterms:W3CDTF">2026-06-24T02:54:27Z</dcterms:created>
  <dcterms:modified xsi:type="dcterms:W3CDTF">2026-06-24T02:54:27Z</dcterms:modified>
</cp:coreProperties>
</file>