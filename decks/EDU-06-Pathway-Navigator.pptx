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[00:20] Title. Agent 06 is higher-governance — degree planning is consequential. Position to the CFO via transfer-credit cost and completion; to the provost via advisor-verified plans and full audit. Sequence after the control plane is proven.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[00:45] Hook. Lead with the ~43% credit-loss figure (GAO, restated in CHEPP) — flag the GAO year. The $13K–$26K is foundation/research (CHEPP, direct). Illinois Tech 4-6wk→1day is vendor-attributed.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[01:10] Issue + cost. Uses a DIRECT per-student cost (CHEPP) — a strength. Bright line: advisor verifies before any plan is finalized; consequential planning is a human decision.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[01:35] Pipeline. Advisor verify gate via Step Functions. 'Audit the audit' means the degree audit itself is logged and reproducible — important for appeals and accreditation.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[02:15] Architecture. Customer provides: IdP, SIS/degree-audit connectivity, and catalog/articulation rules to index. Plans finalize only after advisor verification, through the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[02:45] Proof + deploy. The 2.5x graduation likelihood and Illinois Tech speed-up are the proof points. Close on platform-as-product and the runbook pointer.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15544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Navigator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34290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Governed Agentic AI Reference Architecture for Education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04672" y="41605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06 of 8  ·  plain-language degree audits and transfer-credit mapping — an advisor verifies every plan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04672" y="521208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 AI Agent Suite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04672" y="55321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777240"/>
            <a:ext cx="106984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LOSING 43% OF CREDITS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95528" y="18288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Pathway Navigator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04672" y="2423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9AA7B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governed navigator that produces plain-language degree audits and transfer-credit mapping against catalog and articulation rules — keeping students on a guided pathway while an advisor verifies every consequential plan.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~43%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51560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credits lost on average when students transfer (~a semester)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5202936"/>
            <a:ext cx="184891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 — GAO/CHEPP]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379976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36008" y="3730752"/>
            <a:ext cx="28529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$13K–$26K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4654296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cost per transfer student from lost credits (4-yr)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54296" y="5202936"/>
            <a:ext cx="173553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 — CHEPP]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982712" y="3566160"/>
            <a:ext cx="3310128" cy="18745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38744" y="3730752"/>
            <a:ext cx="285292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 wks → 1 day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257032" y="4590288"/>
            <a:ext cx="2807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evaluation at Illinois Tech on AWS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57032" y="5202936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[vendor]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 ·  Built on AWS  ·  June 2026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 &amp; The Cost of Doing Nothing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713232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325880"/>
            <a:ext cx="73152" cy="33832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6" name="Text 4"/>
          <p:cNvSpPr/>
          <p:nvPr/>
        </p:nvSpPr>
        <p:spPr>
          <a:xfrm>
            <a:off x="1033272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ISSUE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8992" y="2039112"/>
            <a:ext cx="4599432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and transfer rules are complex; advisors are overloaded (~441 students/advisor at 2-yr).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Transferring students lose ~43% of credits on average; 1 in 7 lose all of them.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credits lengthen time-to-degree and inflate cost-of-attendance.</a:t>
            </a:r>
            <a:endParaRPr lang="en-US" sz="1300" dirty="0"/>
          </a:p>
          <a:p>
            <a:pPr algn="l" marL="342900" indent="-342900">
              <a:lnSpc>
                <a:spcPct val="102000"/>
              </a:lnSpc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credential evaluation is slow — weeks per student.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9944" y="1325880"/>
            <a:ext cx="5285232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9944" y="1325880"/>
            <a:ext cx="73152" cy="338328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10" name="Text 8"/>
          <p:cNvSpPr/>
          <p:nvPr/>
        </p:nvSpPr>
        <p:spPr>
          <a:xfrm>
            <a:off x="6729984" y="1527048"/>
            <a:ext cx="4645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spc="100" kern="0" dirty="0">
                <a:solidFill>
                  <a:srgbClr val="E88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 OF DOING NOTHING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720840" y="1929384"/>
            <a:ext cx="464515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~$13,081–$26,396 / student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757416" y="2697480"/>
            <a:ext cx="4572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(CHEPP 2024): added cost-of-attendance from lost credits — $13,081 public 4-yr / $26,396 private 4-yr — plus ~$15,400 in lost wages per 3-month graduation delay.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775704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Depressed transfer enrollment and completion for the institution.</a:t>
            </a:r>
            <a:endParaRPr lang="en-US" sz="12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student debt ($2,742–$5,543) and longer time-to-degree.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739128" y="4434840"/>
            <a:ext cx="247253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 — CHEPP 2024, direct]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713232" y="5029200"/>
            <a:ext cx="10771632" cy="9144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6" name="Text 14"/>
          <p:cNvSpPr/>
          <p:nvPr/>
        </p:nvSpPr>
        <p:spPr>
          <a:xfrm>
            <a:off x="1078992" y="50292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line:  </a:t>
            </a:r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audits and recommends next-best courses; an advisor verifies before any plan is finalized — consequential planning stays a human decision.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Solve It — A Governed Pipeline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31520" y="969264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400" i="1" dirty="0">
                <a:solidFill>
                  <a:srgbClr val="6B778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degree requirements + the student's transcript, analyze against articulation rules, recommend next-best courses — an advisor verifies before the plan is finalized.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1323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7782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7782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 transcript + rules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7782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degree requirements + student record via gateway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6090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90779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07238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07238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 vs. catalog rules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7238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against articulation / catalog rules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85546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102352" y="1828800"/>
            <a:ext cx="1993392" cy="1554480"/>
          </a:xfrm>
          <a:prstGeom prst="rect">
            <a:avLst/>
          </a:prstGeom>
          <a:solidFill>
            <a:srgbClr val="16A085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6694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6694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 + flag gaps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6694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 courses; flag credit gaps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05002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296912" y="1828800"/>
            <a:ext cx="1993392" cy="1554480"/>
          </a:xfrm>
          <a:prstGeom prst="rect">
            <a:avLst/>
          </a:prstGeom>
          <a:solidFill>
            <a:srgbClr val="C0392B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6150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6150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ADVISOR VERIFIES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46150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before the plan is finalized (waitForTaskToken)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9244584" y="2404872"/>
            <a:ext cx="292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491472" y="1828800"/>
            <a:ext cx="1993392" cy="1554480"/>
          </a:xfrm>
          <a:prstGeom prst="rect">
            <a:avLst/>
          </a:prstGeom>
          <a:solidFill>
            <a:srgbClr val="232F3E"/>
          </a:solidFill>
          <a:ln/>
          <a:effectLst>
            <a:outerShdw sx="100000" sy="100000" kx="0" ky="0" algn="bl" rotWithShape="0" blurRad="635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656064" y="193852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656064" y="2359152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the audit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656064" y="2889504"/>
            <a:ext cx="16824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900" dirty="0">
                <a:solidFill>
                  <a:srgbClr val="EAF0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degree audit + plan logged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132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1" name="Text 29"/>
          <p:cNvSpPr/>
          <p:nvPr/>
        </p:nvSpPr>
        <p:spPr>
          <a:xfrm>
            <a:off x="9875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action audited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0058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node, timestamp, actor, data sources, model version — append-only and examiner-ready by design.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3708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3708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5" name="Text 33"/>
          <p:cNvSpPr/>
          <p:nvPr/>
        </p:nvSpPr>
        <p:spPr>
          <a:xfrm>
            <a:off x="46451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&amp; explainable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6634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cite approved sources; Bedrock Guardrails mask PII before any model call and bound the output.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028432" y="3840480"/>
            <a:ext cx="3456432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28432" y="3840480"/>
            <a:ext cx="64008" cy="146304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9" name="Text 37"/>
          <p:cNvSpPr/>
          <p:nvPr/>
        </p:nvSpPr>
        <p:spPr>
          <a:xfrm>
            <a:off x="8302752" y="4023360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never decides the degree plan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321040" y="4517136"/>
            <a:ext cx="2907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consequential action is a human-only step, enforced in the orchestration framework — not a policy PDF.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 AI Agent Suite · Governed Agentic AI on AWS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82880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Architecture &amp; Traffic Flow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868680"/>
            <a:ext cx="2331720" cy="416052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658368" y="923544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6B77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 / EXTERNAL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67512" y="1252728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1280160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advisors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67512" y="1947672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758952" y="1975104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 — Okta / Azure AD / Google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SAML/OIDC + MFA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67512" y="2642616"/>
            <a:ext cx="2093976" cy="64008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670048"/>
            <a:ext cx="192938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 / degree-audit + articulation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· PrivateLink / Direct Connect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67512" y="3429000"/>
            <a:ext cx="2093976" cy="54864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758952" y="3456432"/>
            <a:ext cx="192938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/ articulation rules → KB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4069080"/>
            <a:ext cx="2093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PrivateLink / Direct Connect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063240" y="868680"/>
            <a:ext cx="8549640" cy="466344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3172968" y="923544"/>
            <a:ext cx="8330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CLOUD — PER-CUSTOMER VPC (dedicated account per institution)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27832" y="1307592"/>
            <a:ext cx="246888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337560" y="1362456"/>
            <a:ext cx="2249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8C4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/ PUBLIC SUBNET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337560" y="1673352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29000" y="1700784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CloudFront + WAF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337560" y="2148840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176272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 — TLS 1.3 + Cognito auth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337560" y="2624328"/>
            <a:ext cx="2249424" cy="402336"/>
          </a:xfrm>
          <a:prstGeom prst="rect">
            <a:avLst/>
          </a:prstGeom>
          <a:solidFill>
            <a:srgbClr val="8C4FFF"/>
          </a:solidFill>
          <a:ln/>
        </p:spPr>
      </p:sp>
      <p:sp>
        <p:nvSpPr>
          <p:cNvPr id="24" name="Text 22"/>
          <p:cNvSpPr/>
          <p:nvPr/>
        </p:nvSpPr>
        <p:spPr>
          <a:xfrm>
            <a:off x="3429000" y="2651760"/>
            <a:ext cx="2084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Cognito — SAML→JWT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97880" y="1307592"/>
            <a:ext cx="27889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6007608" y="1362456"/>
            <a:ext cx="2569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SUBNET — ECS FARGATE / AGENTCORE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07608" y="1673352"/>
            <a:ext cx="2569464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8" name="Text 26"/>
          <p:cNvSpPr/>
          <p:nvPr/>
        </p:nvSpPr>
        <p:spPr>
          <a:xfrm>
            <a:off x="6099048" y="1700784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task (pathway console)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007608" y="2023110"/>
            <a:ext cx="2569464" cy="28575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0" name="Text 28"/>
          <p:cNvSpPr/>
          <p:nvPr/>
        </p:nvSpPr>
        <p:spPr>
          <a:xfrm>
            <a:off x="6099048" y="2050542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Navigator agent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007608" y="2372868"/>
            <a:ext cx="2569464" cy="285750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2" name="Text 30"/>
          <p:cNvSpPr/>
          <p:nvPr/>
        </p:nvSpPr>
        <p:spPr>
          <a:xfrm>
            <a:off x="6099048" y="2400300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 HITL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verify gate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07608" y="2722626"/>
            <a:ext cx="2569464" cy="285750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34" name="Text 32"/>
          <p:cNvSpPr/>
          <p:nvPr/>
        </p:nvSpPr>
        <p:spPr>
          <a:xfrm>
            <a:off x="6099048" y="2750058"/>
            <a:ext cx="2404872" cy="230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auth gateway</a:t>
            </a:r>
            <a:endParaRPr lang="en-US" sz="8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68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outbound tool calls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8887968" y="1307592"/>
            <a:ext cx="2331720" cy="178308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36" name="Text 34"/>
          <p:cNvSpPr/>
          <p:nvPr/>
        </p:nvSpPr>
        <p:spPr>
          <a:xfrm>
            <a:off x="8997696" y="1362456"/>
            <a:ext cx="2112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LAYER — VPC ENDPOINT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997696" y="1691640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38" name="Text 36"/>
          <p:cNvSpPr/>
          <p:nvPr/>
        </p:nvSpPr>
        <p:spPr>
          <a:xfrm>
            <a:off x="9089136" y="1719072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5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(analysis + draft)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997696" y="2350008"/>
            <a:ext cx="2112264" cy="566928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0" name="Text 38"/>
          <p:cNvSpPr/>
          <p:nvPr/>
        </p:nvSpPr>
        <p:spPr>
          <a:xfrm>
            <a:off x="9089136" y="2377440"/>
            <a:ext cx="19476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Guardrails</a:t>
            </a:r>
            <a:endParaRPr lang="en-US" sz="90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 + content filters (mandatory)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27832" y="3246120"/>
            <a:ext cx="8220456" cy="1143000"/>
          </a:xfrm>
          <a:prstGeom prst="rect">
            <a:avLst/>
          </a:prstGeom>
          <a:ln w="12700">
            <a:solidFill>
              <a:srgbClr val="9AA7B4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3337560" y="3300984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rgbClr val="7AA1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TIER — KMS CMK-ENCRYPTED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337560" y="3630168"/>
            <a:ext cx="1876806" cy="621792"/>
          </a:xfrm>
          <a:prstGeom prst="rect">
            <a:avLst/>
          </a:prstGeom>
          <a:solidFill>
            <a:srgbClr val="16A085"/>
          </a:solidFill>
          <a:ln/>
        </p:spPr>
      </p:sp>
      <p:sp>
        <p:nvSpPr>
          <p:cNvPr id="44" name="Text 42"/>
          <p:cNvSpPr/>
          <p:nvPr/>
        </p:nvSpPr>
        <p:spPr>
          <a:xfrm>
            <a:off x="3429000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Knowledge Base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+ articulation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378958" y="3630168"/>
            <a:ext cx="1876806" cy="621792"/>
          </a:xfrm>
          <a:prstGeom prst="rect">
            <a:avLst/>
          </a:prstGeom>
          <a:solidFill>
            <a:srgbClr val="E7157B"/>
          </a:solidFill>
          <a:ln/>
        </p:spPr>
      </p:sp>
      <p:sp>
        <p:nvSpPr>
          <p:cNvPr id="46" name="Text 44"/>
          <p:cNvSpPr/>
          <p:nvPr/>
        </p:nvSpPr>
        <p:spPr>
          <a:xfrm>
            <a:off x="5470398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audit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+ plans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420356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48" name="Text 46"/>
          <p:cNvSpPr/>
          <p:nvPr/>
        </p:nvSpPr>
        <p:spPr>
          <a:xfrm>
            <a:off x="7511796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Object Lock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WORM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9461754" y="3630168"/>
            <a:ext cx="1876806" cy="621792"/>
          </a:xfrm>
          <a:prstGeom prst="rect">
            <a:avLst/>
          </a:prstGeom>
          <a:solidFill>
            <a:srgbClr val="7AA116"/>
          </a:solidFill>
          <a:ln/>
        </p:spPr>
      </p:sp>
      <p:sp>
        <p:nvSpPr>
          <p:cNvPr id="50" name="Text 48"/>
          <p:cNvSpPr/>
          <p:nvPr/>
        </p:nvSpPr>
        <p:spPr>
          <a:xfrm>
            <a:off x="9553194" y="3657600"/>
            <a:ext cx="171221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4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Manager</a:t>
            </a:r>
            <a:endParaRPr lang="en-US" sz="850" dirty="0"/>
          </a:p>
          <a:p>
            <a:pPr algn="l" indent="0" marL="0">
              <a:lnSpc>
                <a:spcPct val="94000"/>
              </a:lnSpc>
              <a:buNone/>
            </a:pPr>
            <a:r>
              <a:rPr lang="en-US" sz="700" dirty="0">
                <a:solidFill>
                  <a:srgbClr val="F0F4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tokens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27832" y="4544568"/>
            <a:ext cx="8220456" cy="713232"/>
          </a:xfrm>
          <a:prstGeom prst="rect">
            <a:avLst/>
          </a:prstGeom>
          <a:solidFill>
            <a:srgbClr val="1B2530"/>
          </a:solidFill>
          <a:ln/>
        </p:spPr>
      </p:sp>
      <p:sp>
        <p:nvSpPr>
          <p:cNvPr id="52" name="Text 50"/>
          <p:cNvSpPr/>
          <p:nvPr/>
        </p:nvSpPr>
        <p:spPr>
          <a:xfrm>
            <a:off x="3429000" y="4544568"/>
            <a:ext cx="785469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OPS:  </a:t>
            </a:r>
            <a:pPr algn="l" indent="0" marL="0">
              <a:buNone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KMS CMK per data class  ·  IAM least privilege  ·  CloudWatch  ·  X-Ray  ·  CloudTrail  ·  Security Hub + Config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2843784" y="132588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843784" y="13258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843784" y="203911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843784" y="20391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678424" y="217627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78424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2843784" y="2788920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843784" y="2788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146036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146036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8705088" y="1856232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705088" y="18562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1082528" y="309981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082528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321040" y="3054096"/>
            <a:ext cx="292608" cy="292608"/>
          </a:xfrm>
          <a:prstGeom prst="ellipse">
            <a:avLst/>
          </a:prstGeom>
          <a:solidFill>
            <a:srgbClr val="FF99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21040" y="30540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32F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48640" y="5715000"/>
            <a:ext cx="11155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9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student/advisor sign-in   2 SAML federation (MFA at IdP; Cognito issues JWT)   3 authenticated session to pathway console   4 transcript + degree-audit rules read over private connectivity   5 planning workers scale with demand   6 audit + recommendation via Bedrock + Guardrails inside the VPC   7 Step Functions holds at the advisor verify gate; every audit/plan persisted to append-only store   8 SIS/degree-audit reachable only through the governed MCP gateway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2F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47472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Proof, Payback &amp; How to Deploy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13232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OUTCOMES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05840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~43%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05840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credit-loss problem directly targeted (GAO/CHEPP)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005840" y="3008376"/>
            <a:ext cx="1168603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[gov/peer-reviewed]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465576" y="1947672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$13K–$26K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465576" y="2478024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per-student added cost reduced when credits transfer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465576" y="3008376"/>
            <a:ext cx="12819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[foundation/research]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1005840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4–6wk→1d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evaluation (Illinois Tech on AWS)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005840" y="4215384"/>
            <a:ext cx="54498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[vendor]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465576" y="3154680"/>
            <a:ext cx="22768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99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2.5×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65576" y="3685032"/>
            <a:ext cx="225856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C9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likely to graduate with &gt;90% of credits accepted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465576" y="4215384"/>
            <a:ext cx="128198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[foundation/research]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409944" y="1234440"/>
            <a:ext cx="5285232" cy="3703320"/>
          </a:xfrm>
          <a:prstGeom prst="rect">
            <a:avLst/>
          </a:prstGeom>
          <a:solidFill>
            <a:srgbClr val="2E3B4E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02552" y="1435608"/>
            <a:ext cx="47365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spc="100" kern="0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TAKES TO DEPLOY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821424" y="1892808"/>
            <a:ext cx="455371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 KMS CMK per data class + per-customer VPC / network.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Cognito SAML→JWT federation with role scoping.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with CloudFront + WAF, ALB TLS 1.3.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the navigator agent + Step Functions advisor-verify gate.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SIS/degree-audit; index catalog + articulation rules.</a:t>
            </a:r>
            <a:endParaRPr lang="en-US" sz="1050" dirty="0"/>
          </a:p>
          <a:p>
            <a:pPr algn="l" marL="342900" indent="-342900">
              <a:lnSpc>
                <a:spcPct val="100000"/>
              </a:lnSpc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1050" dirty="0">
                <a:solidFill>
                  <a:srgbClr val="E6EC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advisor verification gate + audit; smoke test.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02552" y="4087368"/>
            <a:ext cx="4718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algn="l" indent="0" marL="0">
              <a:lnSpc>
                <a:spcPct val="100000"/>
              </a:lnSpc>
              <a:buNone/>
            </a:pPr>
            <a:r>
              <a:rPr lang="en-US" sz="95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Quick-deploy + gateway; connect SIS/degree-audit, index catalog and articulation rules, enable advisor verification gate.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702552" y="457200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9AA7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runbooks/agent-deploy/06-pathway-navigator.md  ·  docs/AWS-DEPLOYMENT-REFERENCE.md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13232" y="5230368"/>
            <a:ext cx="10771632" cy="841248"/>
          </a:xfrm>
          <a:prstGeom prst="rect">
            <a:avLst/>
          </a:prstGeom>
          <a:solidFill>
            <a:srgbClr val="1B2530"/>
          </a:solidFill>
          <a:ln w="12700">
            <a:solidFill>
              <a:srgbClr val="3A485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5230368"/>
            <a:ext cx="10058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3000"/>
              </a:lnSpc>
              <a:buNone/>
            </a:pPr>
            <a:r>
              <a:rPr lang="en-US" sz="14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takeaway:  </a:t>
            </a:r>
            <a:pPr algn="l"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isn't the product — the governed platform that makes it FERPA/ADA-defensible and deployable on AWS is.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 Agent 06 — Pathway Navigator</dc:title>
  <dc:subject>PptxGenJS Presentation</dc:subject>
  <dc:creator>EDU AI Agent Suite</dc:creator>
  <cp:lastModifiedBy>EDU AI Agent Suite</cp:lastModifiedBy>
  <cp:revision>1</cp:revision>
  <dcterms:created xsi:type="dcterms:W3CDTF">2026-06-24T03:49:11Z</dcterms:created>
  <dcterms:modified xsi:type="dcterms:W3CDTF">2026-06-24T03:49:11Z</dcterms:modified>
</cp:coreProperties>
</file>