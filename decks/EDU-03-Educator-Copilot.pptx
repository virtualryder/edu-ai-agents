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Title. Agent 03 is a strong land-first companion to 01 — high visibility, low decision-risk, and a direct line to the teacher-time and turnover story. Position to the CFO via turnover cost; to the CIO as educator-owned output with full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Hook. Lead with RAND's 53-vs-44-hour gap (gov/peer-reviewed). The Walton-Gallup 5.9 hrs/week and LPI turnover cost are foundation/research. Frame the AI as giving teachers their week back, not replacing their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[01:10] Issue + cost. This agent uses a DIRECT cost figure (LPI turnover) rather than a model — call that out as a strength. Bright line: educator reviews, edits, and owns; nothing publishes unedited.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Pipeline. The gate is the educator approval — students never see unedited AI output. Standards grounding via Knowledge Base keeps drafts aligned.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[02:15] Architecture. Customer provides: IdP, LMS connectivity, and the standards/curriculum/template corpus. Publish-to-LMS happens only on approval, through the governed gateway. Bedrock + Guardrails in-VPC.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Proof + deploy. Vanderbilt Amplify is the vendor proof that this pattern runs in production. Close on the platform-as-product takeaway and the runbook pointer.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Educator Copilot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95528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Agentic AI Reference Architecture for Education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03 of 8  ·  first-draft lessons, rubrics, quizzes &amp; differentiation in minutes — the educator edits and owns every output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 AI Agent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Built on AWS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RECLAIM THE 9-HOUR WEEK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95528" y="1828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Educator Copilot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copilot that drafts standards-aligned lessons, rubrics, quizzes, and differentiated variants in minutes — on-template and educator-owned, with nothing published unedited.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~53 hrs/wk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work vs. 44 for comparable adults — a 9-hr gap (RAND 2024)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5202936"/>
            <a:ext cx="15654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RAND]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9976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~5.9 hrs/wk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54296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by teachers using AI weekly (~6 weeks/yr)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5202936"/>
            <a:ext cx="12819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[foundation/research]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82712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$11.9K–24.9K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57032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replace one burned-out teacher (~$2.2B/yr nationally)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5202936"/>
            <a:ext cx="16221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[foundation/research — LPI]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&amp; The Cost of Doing Nothing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25880"/>
            <a:ext cx="73152" cy="33832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3911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work ~53 hrs/week (vs. 44 for peers) on only ~4.4 hrs of planning time.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 to prep, differentiation, rubric-building, and LMS navigation.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is a named burnout driver; turnover costs $11,860–$24,930 per teacher.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alignment and template consistency are manual and slow.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9944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9944" y="1325880"/>
            <a:ext cx="73152" cy="3383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729984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929384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~$11.9K–$24.9K / teacher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757416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(LPI 2024): replacing one burned-out teacher costs $11,860 (small) to $24,930 (large districts) — ~$2.2B/yr nationally. Inaction keeps paying this recurring bill.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5704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turnover and rehire cost driven by workload burnout.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instructional quality when prep time is squeezed.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4434840"/>
            <a:ext cx="31528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[foundation/research — Learning Policy Institute 2024]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" y="5029200"/>
            <a:ext cx="10771632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line: 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drafts standards-aligned materials; the educator reviews, edits, and owns every output — nothing publishes unedited.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 — A Governed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standards + approved curriculum, draft lessons/rubrics/quizzes and differentiated variants — the educator approves before anything publishes.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standards + curriculum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standards/templates via Knowledge Base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090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7238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educator intent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grade, standard, level, differentiation need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235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6694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+ differentiate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694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/ rubric / quiz + variants, on-template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1993392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6150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EDUCATOR APPROVES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edits; nothing publishes unedited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1828800"/>
            <a:ext cx="1993392" cy="1554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5606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606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drafts &amp; approvals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5606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draft + approval logged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audited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timestamp, actor, data sources, model version — append-only and examiner-ready by design.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708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46451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&amp; explainable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 approved sources; Bedrock Guardrails mask PII before any model call and bound the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284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83027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decides what students see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a human-only step, enforced in the orchestration framework — not a policy PDF.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(web / LMS)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Google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(publish-on-approval)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/ curriculum → Knowledge Base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 account per institution)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ECS FARGATE / AGENTCORE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170078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task (copilot console)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139696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48" y="216712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agent + templating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606040"/>
            <a:ext cx="2569464" cy="402336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2" name="Text 30"/>
          <p:cNvSpPr/>
          <p:nvPr/>
        </p:nvSpPr>
        <p:spPr>
          <a:xfrm>
            <a:off x="6099048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6" name="Text 34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8" name="Text 36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+ content filters (mandatory)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2" name="Text 40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+ curriculum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44" name="Text 42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6" name="Text 44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(WORM)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8" name="Text 46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50" name="Text 48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educator sign-in   2 SAML federation (MFA at IdP; Cognito issues JWT)   3 authenticated session to copilot   4 standards/curriculum retrieved from the Knowledge Base   5 drafting workers scale with demand   6 drafting via Bedrock + Guardrails inside the VPC   7 drafts &amp; approvals persisted to append-only audit   8 LMS publish reachable only through the governed MCP gateway (on approval)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Payback &amp; How 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hrs/wk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above-peer workload targeted (RAND)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5576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~5.9 hrs/wk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65576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weekly with AI (~6 wks/yr)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3008376"/>
            <a:ext cx="12819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[foundation/research]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$11.9–24.9K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 turnover cost per retained teacher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15384"/>
            <a:ext cx="12819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[foundation/research]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65576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prod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65576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Vanderbilt 'Amplify' runs lesson-plan agents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215384"/>
            <a:ext cx="5449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[vendor]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9944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892808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KMS CMK per data class + per-customer VPC / network.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Cognito SAML→JWT federation with role scoping.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with CloudFront + WAF, ALB TLS 1.3.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copilot agent + grant tools via the MCP gateway.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standards/curriculum/templates into a Knowledge Base.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LMS for publish-on-approval; enable audit + smoke test.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40873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Quick-deploy + gateway; index standards/curriculum/templates into a Knowledge Base; connect the LMS for publish-on-approval.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02552" y="45720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runbooks/agent-deploy/03-educator-copilot.md  ·  docs/AWS-DEPLOYMENT-REFERENCE.md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230368"/>
            <a:ext cx="10771632" cy="841248"/>
          </a:xfrm>
          <a:prstGeom prst="rect">
            <a:avLst/>
          </a:prstGeom>
          <a:solidFill>
            <a:srgbClr val="1B2530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product — the governed platform that makes it FERPA/ADA-defensible and deployable on AWS is.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 Agent 03 — Educator Copilot</dc:title>
  <dc:subject>PptxGenJS Presentation</dc:subject>
  <dc:creator>EDU AI Agent Suite</dc:creator>
  <cp:lastModifiedBy>EDU AI Agent Suite</cp:lastModifiedBy>
  <cp:revision>1</cp:revision>
  <dcterms:created xsi:type="dcterms:W3CDTF">2026-06-24T03:49:11Z</dcterms:created>
  <dcterms:modified xsi:type="dcterms:W3CDTF">2026-06-24T03:49:11Z</dcterms:modified>
</cp:coreProperties>
</file>