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[00:00] HOOK — open by naming the agent and its one-line value: "First-draft lessons, rubrics, quizzes and differentiated variants in minutes — the educator edits and owns every one." Pause, then frame the whole deck: this is one of eight agents that all ride the SAME governed AWS platform — deny-by-default gateway, human-in-the-loop, full audit. POSITION: For a CIO/CISO, stress that the value prop is bounded by governance from slide one; for an academic leader, stress the outcome for students/staff. Say: "Six slides — the problem, how we govern it, the AWS architecture, how you deploy it, and the honest ROI." Keep it to ~45 seconds; the architecture slide is where you'll spend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THE PROBLEM — lead with the big number: ~53 hrs/wk. Let it land, then read the source aloud ("RAND, 2024 · gov/peer-reviewed") so the room knows it's not a vendor claim. Walk the three "what we solve for" cards quickly — these are the pains your buyer feels in their own operation. POSITION: For an academic/operational leader this is the empathy slide — they live this pain; for a CIO/CISO it sizes the problem worth governing. Tie it back: "This is the recurring cost of doing nothing." Don't oversell — the metric carries it.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THE GOVERNED PIPELINE — this is the trust slide. Walk left to right: retrieve only approved content, analyze, draft/recommend, then the HITL gate (the amber step), then audit. Land hard on the bright line: "The educator authors and approves; the agent drafts, the human always owns what reaches a student." POSITION: This is the slide for the CISO and the academic-integrity/compliance stakeholder — the agent is decision-support, a human owns the consequential call. Say explicitly: "The agent never crosses this line." If they push on autonomy, this slide is your answer. ~55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AWS ARCHITECTURE — the most important slide; slow down. Trace the request path along the top spine: request → CloudFront+WAF → Cognito (role-scoped) → AgentCore Gateway (deny-by-default — nothing the agent wasn't explicitly granted) → Bedrock+Guardrails in-VPC, where PII is masked and never egresses. Then drop to this agent's specific tools/connectors (Standards / curriculum KB, LMS connector, Document templating), all gateway-scoped, and finally the WORM audit band. HOW IT DEPLOYS / WHAT THE CUSTOMER NEEDS: it runs in the customer's own AWS account; they bring their IdP, their data systems to connect, and a KMS key — Bedrock inference is in-account so student PII stays in their boundary. POSITION: This is the CISO/cloud-architect slide — emphasize tenancy, deny-by-default, and that the platform is identical across all 8 agents, so they govern once. ~70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[03:40] HOW TO DEPLOY — show it's a known, repeatable path, not a science project: keys/network, identity, edge, the agent and its tool grants, connectors/secrets, WORM audit, smoke test. End on the deploy one-liner. HOW IT DEPLOYS / WHAT THE CUSTOMER NEEDS: a runbook exists for this exact agent (runbooks/agent-deploy/03-educator-copilot.md) and a shared reference architecture (docs/AWS-DEPLOYMENT-REFERENCE.md); the customer supplies AWS account access, IdP federation, the systems to connect, and approved content/KB. POSITION: For a CIO/PMO this de-risks delivery and timeline; for a CISO it shows audit and least-privilege are wired in by step, not bolted on. Offer: "We can stand up a governed pilot in a contained environment quickly." ~45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[04:25] ROI &amp; HONEST TRADEOFFS — walk the three callouts, calling the source class each time; note which are vendor/estimate vs gov/peer-reviewed. Then the honesty panel — say it out loud: decision-support not autonomy, humans own consequential calls, vendor figures flagged, outcomes modeled to THEIR baseline, not guaranteed. POSITION: This candor is what earns the CISO and the academic leader; don't skip it to look stronger — it's the differentiator. Close: "We'll model these against your actual volumes and staffing before you commit." CLOSE/NEXT STEP: propose a scoped pilot starting with the land-first agents (01/03/07/08).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24365C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785652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627632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Educator Copilot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lessons, rubrics, quizzes and differentiated variants in minutes — the educator edits and owns every one.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58368" y="4430268"/>
            <a:ext cx="365760" cy="36576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4525366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44302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E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TODAY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doing nothing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" y="1481328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~53 hrs/wk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03504" y="2907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5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teachers work vs 44 for comparable adults — a 9-hour gap, ~4.4 hrs of planning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" y="3950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RAND, 2024 · gov/peer-reviewed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34840" y="12344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SOLVE FOR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4840" y="1572768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0288" y="1792224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1109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7550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drafts in minutes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75504" y="197510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Lessons, rubrics, quizzes, and differentiated versions.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434840" y="2587752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90288" y="2807208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92608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75504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Standards-aligned, on-template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175504" y="299008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the educator edits and owns — nothing publishes unedited.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434840" y="3602736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90288" y="3822192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94106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37124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Reclaimed time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175504" y="400507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burnout; turnover costs ~$11,860–$24,930 per teacher.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 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governed pipeline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4750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974750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12064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+ approved curriculum / templates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990649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2381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49931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2649931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7245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2223821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educator's intent — grade, standard, level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6583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0756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25112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/>
          <p:nvPr/>
        </p:nvSpPr>
        <p:spPr>
          <a:xfrm>
            <a:off x="4325112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6242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89900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/ rubric / quiz + differentiated variants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4101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274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6EEE0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00293" y="1508760"/>
            <a:ext cx="493776" cy="49377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6000293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53760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 review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7418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 reviews and approves; nothing publishes unedited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016191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57923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675474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2" name="Text 29"/>
          <p:cNvSpPr/>
          <p:nvPr/>
        </p:nvSpPr>
        <p:spPr>
          <a:xfrm>
            <a:off x="7675474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212787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7249363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and approvals logged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50208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03504" y="4078224"/>
            <a:ext cx="420624" cy="42062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66" y="4187586"/>
            <a:ext cx="201900" cy="20190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33856" y="39502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educator authors and approves; the agent drafts, the human always owns what reaches a student.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path &amp; traffic flow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staff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00070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2872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7444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+ WAF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7444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672230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00246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845966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845966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identity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43754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7177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51749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Gateway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1749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01527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329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18901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Bedrock + Guardrails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8901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In-VPC · PII masked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860182" y="2231136"/>
            <a:ext cx="109728" cy="201168"/>
          </a:xfrm>
          <a:prstGeom prst="down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468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AGENT-SPECIFIC TOOLS &amp; CONNECTORS  (gateway-scoped)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12064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Standards / curriculum KB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12064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 of approved content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3243072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3297936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LMS connector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297936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Publish-on-approval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6028944" y="2743200"/>
            <a:ext cx="2657856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6083808" y="2834640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 templating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6083808" y="3145536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On-template output (S3)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66928" y="3694176"/>
            <a:ext cx="329184" cy="32918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3779764"/>
            <a:ext cx="158008" cy="158008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1005840" y="36027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EVIDENCE   </a:t>
            </a:r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+ DynamoDB append-only — every access, draft, approval, and action logged.</a:t>
            </a:r>
            <a:endParaRPr lang="en-US" sz="950" dirty="0"/>
          </a:p>
        </p:txBody>
      </p:sp>
      <p:sp>
        <p:nvSpPr>
          <p:cNvPr id="40" name="Text 36"/>
          <p:cNvSpPr/>
          <p:nvPr/>
        </p:nvSpPr>
        <p:spPr>
          <a:xfrm>
            <a:off x="457200" y="472287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Educator prompt → CloudFront/WAF → Cognito → Gateway → standards/template retrieve → Bedrock+Guardrails draft → educator HITL approve → audit.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DEPLOY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zero to governed in seven steps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521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CMK / KMS + network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1556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keys; isolated VPC.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1556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 / JWT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1556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the IdP; role scoping.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5"/>
          <p:cNvSpPr/>
          <p:nvPr/>
        </p:nvSpPr>
        <p:spPr>
          <a:xfrm>
            <a:off x="58521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1556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/ WAF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556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 at the front door.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85216" y="362102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/>
          <p:nvPr/>
        </p:nvSpPr>
        <p:spPr>
          <a:xfrm>
            <a:off x="585216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15568" y="358444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agent + tool grants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15568" y="384962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agent; grant only this agent's tools.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7492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0293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5"/>
          <p:cNvSpPr/>
          <p:nvPr/>
        </p:nvSpPr>
        <p:spPr>
          <a:xfrm>
            <a:off x="520293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73328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+ secrets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73328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standards/curriculum/templates into a Knowledge Base; connect the LMS for publish-on-approval.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07492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20293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3" name="Text 30"/>
          <p:cNvSpPr/>
          <p:nvPr/>
        </p:nvSpPr>
        <p:spPr>
          <a:xfrm>
            <a:off x="520293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73328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WORM + DynamoDB audit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73328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Lock + append-only audit on.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7492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0293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8" name="Text 35"/>
          <p:cNvSpPr/>
          <p:nvPr/>
        </p:nvSpPr>
        <p:spPr>
          <a:xfrm>
            <a:off x="520293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73328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Smoke test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573328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path, HITL gate, audit write.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07492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5202936" y="3538728"/>
            <a:ext cx="3813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ONE-LINER
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index standards/curriculum/templates into a Knowledge Base; connect the LMS for publish-on-approval.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57200" y="47228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runbooks/agent-deploy/03-educator-copilot.md   ·   </a:t>
            </a:r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docs/AWS-DEPLOYMENT-REFERENCE.md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HONEST TRADEOFFS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modeled to your baseline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hrs/wk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85216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above-peer workload the copilot targets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5216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 · gov/peer-reviewed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55264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46704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$11.9K–$24.9K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383280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turnover cost per teacher when burnout drops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383280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LPI · foundation/research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53328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44768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production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181344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'Amplify' runs lesson/template agents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81344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· vendor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7200" y="3291840"/>
            <a:ext cx="8229600" cy="1078992"/>
          </a:xfrm>
          <a:prstGeom prst="roundRect">
            <a:avLst>
              <a:gd name="adj" fmla="val 6780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0080" y="3621024"/>
            <a:ext cx="420624" cy="420624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3730386"/>
            <a:ext cx="201900" cy="2019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170432" y="3401568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 — and isn't.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Decision-support, not autonomy: humans own every consequential call (grades, awards, interventions, account changes).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figures are flagged on-slide and never lead.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are documented at the named institution and modeled to your baseline — not guaranteed.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Educator Copilot</dc:title>
  <dc:subject>PptxGenJS Presentation</dc:subject>
  <dc:creator>EDU AI Agent Suite</dc:creator>
  <cp:lastModifiedBy>EDU AI Agent Suite</cp:lastModifiedBy>
  <cp:revision>1</cp:revision>
  <dcterms:created xsi:type="dcterms:W3CDTF">2026-06-24T02:54:27Z</dcterms:created>
  <dcterms:modified xsi:type="dcterms:W3CDTF">2026-06-24T02:54:27Z</dcterms:modified>
</cp:coreProperties>
</file>