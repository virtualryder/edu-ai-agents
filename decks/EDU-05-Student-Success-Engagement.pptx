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[00:00] HOOK — open by naming the agent and its one-line value: "Surface at-risk signals early and draft the nudge — the advisor approves every intervention before it goes out." Pause, then frame the whole deck: this is one of eight agents that all ride the SAME governed AWS platform — deny-by-default gateway, human-in-the-loop, full audit. POSITION: For a CIO/CISO, stress that the value prop is bounded by governance from slide one; for an academic leader, stress the outcome for students/staff. Say: "Six slides — the problem, how we govern it, the AWS architecture, how you deploy it, and the honest ROI." Keep it to ~45 seconds; the architecture slide is where you'll spend real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[00:45] THE PROBLEM — lead with the big number: 22.4%. Let it land, then read the source aloud ("NSC 2024 · gov/peer-reviewed") so the room knows it's not a vendor claim. Walk the three "what we solve for" cards quickly — these are the pains your buyer feels in their own operation. POSITION: For an academic/operational leader this is the empathy slide — they live this pain; for a CIO/CISO it sizes the problem worth governing. Tie it back: "This is the recurring cost of doing nothing." Don't oversell — the metric carries it. ~50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[01:35] THE GOVERNED PIPELINE — this is the trust slide. Walk left to right: retrieve only approved content, analyze, draft/recommend, then the HITL gate (the amber step), then audit. Land hard on the bright line: "An advisor approves every intervention; the agent flags and drafts, a human decides who is contacted and how." POSITION: This is the slide for the CISO and the academic-integrity/compliance stakeholder — the agent is decision-support, a human owns the consequential call. Say explicitly: "The agent never crosses this line." If they push on autonomy, this slide is your answer. ~55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[02:30] AWS ARCHITECTURE — the most important slide; slow down. Trace the request path along the top spine: request → CloudFront+WAF → Cognito (role-scoped) → AgentCore Gateway (deny-by-default — nothing the agent wasn't explicitly granted) → Bedrock+Guardrails in-VPC, where PII is masked and never egresses. Then drop to this agent's specific tools/connectors (SIS + LMS connectors, EventBridge triggers, Risk model (Bedrock/SageMaker), Step Functions HITL), all gateway-scoped, and finally the WORM audit band. HOW IT DEPLOYS / WHAT THE CUSTOMER NEEDS: it runs in the customer's own AWS account; they bring their IdP, their data systems to connect, and a KMS key — Bedrock inference is in-account so student PII stays in their boundary. POSITION: This is the CISO/cloud-architect slide — emphasize tenancy, deny-by-default, and that the platform is identical across all 8 agents, so they govern once. ~70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[03:40] HOW TO DEPLOY — show it's a known, repeatable path, not a science project: keys/network, identity, edge, the agent and its tool grants, connectors/secrets, WORM audit, smoke test. End on the deploy one-liner. HOW IT DEPLOYS / WHAT THE CUSTOMER NEEDS: a runbook exists for this exact agent (runbooks/agent-deploy/05-student-success-engagement.md) and a shared reference architecture (docs/AWS-DEPLOYMENT-REFERENCE.md); the customer supplies AWS account access, IdP federation, the systems to connect, and approved content/KB. POSITION: For a CIO/PMO this de-risks delivery and timeline; for a CISO it shows audit and least-privilege are wired in by step, not bolted on. Offer: "We can stand up a governed pilot in a contained environment quickly." ~45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[04:25] ROI &amp; HONEST TRADEOFFS — walk the three callouts, calling the source class each time; note which are vendor/estimate vs gov/peer-reviewed. Then the honesty panel — say it out loud: decision-support not autonomy, humans own consequential calls, vendor figures flagged, outcomes modeled to THEIR baseline, not guaranteed. POSITION: This candor is what earns the CISO and the academic leader; don't skip it to look stronger — it's the differentiator. Close: "We'll model these against your actual volumes and staffing before you commit." CLOSE/NEXT STEP: propose a scoped pilot starting with the land-first agents (01/03/07/08). ~50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3611880"/>
            <a:ext cx="9144000" cy="1531620"/>
          </a:xfrm>
          <a:prstGeom prst="rect">
            <a:avLst/>
          </a:prstGeom>
          <a:solidFill>
            <a:srgbClr val="24365C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566928"/>
            <a:ext cx="841248" cy="841248"/>
          </a:xfrm>
          <a:prstGeom prst="ellipse">
            <a:avLst/>
          </a:prstGeom>
          <a:solidFill>
            <a:srgbClr val="0E7C7B"/>
          </a:solidFill>
          <a:ln/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8804" y="785652"/>
            <a:ext cx="403799" cy="403799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691640" y="65836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3AA6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05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640080" y="1627632"/>
            <a:ext cx="7863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Student Success &amp; Proactive Engagement</a:t>
            </a:r>
            <a:endParaRPr lang="en-US" sz="3800" dirty="0"/>
          </a:p>
        </p:txBody>
      </p:sp>
      <p:sp>
        <p:nvSpPr>
          <p:cNvPr id="8" name="Text 5"/>
          <p:cNvSpPr/>
          <p:nvPr/>
        </p:nvSpPr>
        <p:spPr>
          <a:xfrm>
            <a:off x="658368" y="3822192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50" i="1" dirty="0">
                <a:solidFill>
                  <a:srgbClr val="D6E2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 at-risk signals early and draft the nudge — the advisor approves every intervention before it goes out.</a:t>
            </a:r>
            <a:endParaRPr lang="en-US" sz="1550" dirty="0"/>
          </a:p>
        </p:txBody>
      </p:sp>
      <p:sp>
        <p:nvSpPr>
          <p:cNvPr id="9" name="Shape 6"/>
          <p:cNvSpPr/>
          <p:nvPr/>
        </p:nvSpPr>
        <p:spPr>
          <a:xfrm>
            <a:off x="658368" y="4430268"/>
            <a:ext cx="365760" cy="365760"/>
          </a:xfrm>
          <a:prstGeom prst="ellipse">
            <a:avLst/>
          </a:prstGeom>
          <a:solidFill>
            <a:srgbClr val="E8A33D"/>
          </a:solidFill>
          <a:ln/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466" y="4525366"/>
            <a:ext cx="175565" cy="175565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115568" y="4430268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AEC4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 AI Agent Suite · Governed AI on AWS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566928" cy="566928"/>
          </a:xfrm>
          <a:prstGeom prst="ellipse">
            <a:avLst/>
          </a:prstGeom>
          <a:solidFill>
            <a:srgbClr val="0E7C7B"/>
          </a:solidFill>
          <a:ln/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4601" y="458297"/>
            <a:ext cx="272125" cy="2721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70432" y="310896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 TODAY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1170432" y="530352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cost of doing nothing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457200" y="1234440"/>
            <a:ext cx="3657600" cy="3200400"/>
          </a:xfrm>
          <a:prstGeom prst="roundRect">
            <a:avLst>
              <a:gd name="adj" fmla="val 2857"/>
            </a:avLst>
          </a:prstGeom>
          <a:solidFill>
            <a:srgbClr val="1B2A4A"/>
          </a:solidFill>
          <a:ln/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566928" y="1481328"/>
            <a:ext cx="34564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60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22.4%</a:t>
            </a:r>
            <a:endParaRPr lang="en-US" sz="6000" dirty="0"/>
          </a:p>
        </p:txBody>
      </p:sp>
      <p:sp>
        <p:nvSpPr>
          <p:cNvPr id="8" name="Text 5"/>
          <p:cNvSpPr/>
          <p:nvPr/>
        </p:nvSpPr>
        <p:spPr>
          <a:xfrm>
            <a:off x="603504" y="2907792"/>
            <a:ext cx="3383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350" dirty="0">
                <a:solidFill>
                  <a:srgbClr val="E5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first-year students do not return for year two (community colleges retain only ~55%)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603504" y="3950208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3AA6A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NSC 2024 · gov/peer-reviewed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4434840" y="1234440"/>
            <a:ext cx="4251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SOLVE FOR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434840" y="1572768"/>
            <a:ext cx="4251960" cy="896112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9E0E6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590288" y="1792224"/>
            <a:ext cx="457200" cy="457200"/>
          </a:xfrm>
          <a:prstGeom prst="ellipse">
            <a:avLst/>
          </a:prstGeom>
          <a:solidFill>
            <a:srgbClr val="3AA6A4"/>
          </a:solidFill>
          <a:ln/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60" y="1911096"/>
            <a:ext cx="219456" cy="21945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175504" y="1682496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Early signals, not post-mortems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5175504" y="1975104"/>
            <a:ext cx="3383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Surface risk across SIS/LMS before withdrawal.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4434840" y="2587752"/>
            <a:ext cx="4251960" cy="896112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9E0E6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4590288" y="2807208"/>
            <a:ext cx="457200" cy="457200"/>
          </a:xfrm>
          <a:prstGeom prst="ellipse">
            <a:avLst/>
          </a:prstGeom>
          <a:solidFill>
            <a:srgbClr val="3AA6A4"/>
          </a:solidFill>
          <a:ln/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9160" y="2926080"/>
            <a:ext cx="219456" cy="219456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5175504" y="269748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Personalized, timely nudges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5175504" y="2990088"/>
            <a:ext cx="3383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Drafted for an advisor to approve and send.</a:t>
            </a:r>
            <a:endParaRPr lang="en-US" sz="1100" dirty="0"/>
          </a:p>
        </p:txBody>
      </p:sp>
      <p:sp>
        <p:nvSpPr>
          <p:cNvPr id="21" name="Shape 16"/>
          <p:cNvSpPr/>
          <p:nvPr/>
        </p:nvSpPr>
        <p:spPr>
          <a:xfrm>
            <a:off x="4434840" y="3602736"/>
            <a:ext cx="4251960" cy="896112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D9E0E6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4590288" y="3822192"/>
            <a:ext cx="457200" cy="457200"/>
          </a:xfrm>
          <a:prstGeom prst="ellipse">
            <a:avLst/>
          </a:prstGeom>
          <a:solidFill>
            <a:srgbClr val="3AA6A4"/>
          </a:solidFill>
          <a:ln/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09160" y="3941064"/>
            <a:ext cx="219456" cy="219456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5175504" y="3712464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Protect recurring revenue</a:t>
            </a:r>
            <a:endParaRPr lang="en-US" sz="1400" dirty="0"/>
          </a:p>
        </p:txBody>
      </p:sp>
      <p:sp>
        <p:nvSpPr>
          <p:cNvPr id="25" name="Text 19"/>
          <p:cNvSpPr/>
          <p:nvPr/>
        </p:nvSpPr>
        <p:spPr>
          <a:xfrm>
            <a:off x="5175504" y="4005072"/>
            <a:ext cx="3383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1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Tuition + recruitment investment per retained student.</a:t>
            </a:r>
            <a:endParaRPr lang="en-US" sz="1100" dirty="0"/>
          </a:p>
        </p:txBody>
      </p:sp>
      <p:sp>
        <p:nvSpPr>
          <p:cNvPr id="26" name="Text 20"/>
          <p:cNvSpPr/>
          <p:nvPr/>
        </p:nvSpPr>
        <p:spPr>
          <a:xfrm>
            <a:off x="457200" y="4759452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5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 AI Agent Suite · Governed AI on AWS</a:t>
            </a:r>
            <a:endParaRPr lang="en-US" sz="900" dirty="0"/>
          </a:p>
        </p:txBody>
      </p:sp>
      <p:sp>
        <p:nvSpPr>
          <p:cNvPr id="27" name="Text 21"/>
          <p:cNvSpPr/>
          <p:nvPr/>
        </p:nvSpPr>
        <p:spPr>
          <a:xfrm>
            <a:off x="7040880" y="475945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05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566928" cy="566928"/>
          </a:xfrm>
          <a:prstGeom prst="ellipse">
            <a:avLst/>
          </a:prstGeom>
          <a:solidFill>
            <a:srgbClr val="0E7C7B"/>
          </a:solidFill>
          <a:ln/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4601" y="458297"/>
            <a:ext cx="272125" cy="2721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70432" y="310896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SOLVE IT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1170432" y="530352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governed pipeline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457200" y="1325880"/>
            <a:ext cx="1528877" cy="2331720"/>
          </a:xfrm>
          <a:prstGeom prst="roundRect">
            <a:avLst>
              <a:gd name="adj" fmla="val 4187"/>
            </a:avLst>
          </a:prstGeom>
          <a:solidFill>
            <a:srgbClr val="FFFFFF"/>
          </a:solidFill>
          <a:ln w="12700">
            <a:solidFill>
              <a:srgbClr val="D9E0E6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974750" y="1508760"/>
            <a:ext cx="493776" cy="493776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8" name="Text 5"/>
          <p:cNvSpPr/>
          <p:nvPr/>
        </p:nvSpPr>
        <p:spPr>
          <a:xfrm>
            <a:off x="974750" y="1508760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512064" y="2112264"/>
            <a:ext cx="14191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Retrieve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548640" y="2551176"/>
            <a:ext cx="1345997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7000"/>
              </a:lnSpc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signals — attendance, grades, engagement — via scoped connectors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1990649" y="2436876"/>
            <a:ext cx="146304" cy="109728"/>
          </a:xfrm>
          <a:prstGeom prst="rightArrow">
            <a:avLst/>
          </a:prstGeom>
          <a:solidFill>
            <a:srgbClr val="8593A3"/>
          </a:solidFill>
          <a:ln w="12700">
            <a:solidFill>
              <a:srgbClr val="8593A3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132381" y="1325880"/>
            <a:ext cx="1528877" cy="2331720"/>
          </a:xfrm>
          <a:prstGeom prst="roundRect">
            <a:avLst>
              <a:gd name="adj" fmla="val 4187"/>
            </a:avLst>
          </a:prstGeom>
          <a:solidFill>
            <a:srgbClr val="FFFFFF"/>
          </a:solidFill>
          <a:ln w="12700">
            <a:solidFill>
              <a:srgbClr val="D9E0E6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2649931" y="1508760"/>
            <a:ext cx="493776" cy="493776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14" name="Text 11"/>
          <p:cNvSpPr/>
          <p:nvPr/>
        </p:nvSpPr>
        <p:spPr>
          <a:xfrm>
            <a:off x="2649931" y="1508760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2187245" y="2112264"/>
            <a:ext cx="14191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Analyze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2223821" y="2551176"/>
            <a:ext cx="1345997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7000"/>
              </a:lnSpc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 an approved risk model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3665830" y="2436876"/>
            <a:ext cx="146304" cy="109728"/>
          </a:xfrm>
          <a:prstGeom prst="rightArrow">
            <a:avLst/>
          </a:prstGeom>
          <a:solidFill>
            <a:srgbClr val="8593A3"/>
          </a:solidFill>
          <a:ln w="12700">
            <a:solidFill>
              <a:srgbClr val="8593A3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3807562" y="1325880"/>
            <a:ext cx="1528877" cy="2331720"/>
          </a:xfrm>
          <a:prstGeom prst="roundRect">
            <a:avLst>
              <a:gd name="adj" fmla="val 4187"/>
            </a:avLst>
          </a:prstGeom>
          <a:solidFill>
            <a:srgbClr val="FFFFFF"/>
          </a:solidFill>
          <a:ln w="12700">
            <a:solidFill>
              <a:srgbClr val="D9E0E6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4325112" y="1508760"/>
            <a:ext cx="493776" cy="493776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20" name="Text 17"/>
          <p:cNvSpPr/>
          <p:nvPr/>
        </p:nvSpPr>
        <p:spPr>
          <a:xfrm>
            <a:off x="4325112" y="1508760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3862426" y="2112264"/>
            <a:ext cx="14191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Recommend</a:t>
            </a:r>
            <a:endParaRPr lang="en-US" sz="1350" dirty="0"/>
          </a:p>
        </p:txBody>
      </p:sp>
      <p:sp>
        <p:nvSpPr>
          <p:cNvPr id="22" name="Text 19"/>
          <p:cNvSpPr/>
          <p:nvPr/>
        </p:nvSpPr>
        <p:spPr>
          <a:xfrm>
            <a:off x="3899002" y="2551176"/>
            <a:ext cx="1345997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7000"/>
              </a:lnSpc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outreach + draft the nudge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5341010" y="2436876"/>
            <a:ext cx="146304" cy="109728"/>
          </a:xfrm>
          <a:prstGeom prst="rightArrow">
            <a:avLst/>
          </a:prstGeom>
          <a:solidFill>
            <a:srgbClr val="8593A3"/>
          </a:solidFill>
          <a:ln w="12700">
            <a:solidFill>
              <a:srgbClr val="8593A3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5482742" y="1325880"/>
            <a:ext cx="1528877" cy="2331720"/>
          </a:xfrm>
          <a:prstGeom prst="roundRect">
            <a:avLst>
              <a:gd name="adj" fmla="val 4187"/>
            </a:avLst>
          </a:prstGeom>
          <a:solidFill>
            <a:srgbClr val="F6EEE0"/>
          </a:solidFill>
          <a:ln w="19050">
            <a:solidFill>
              <a:srgbClr val="E8A33D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6000293" y="1508760"/>
            <a:ext cx="493776" cy="493776"/>
          </a:xfrm>
          <a:prstGeom prst="ellipse">
            <a:avLst/>
          </a:prstGeom>
          <a:solidFill>
            <a:srgbClr val="E8A33D"/>
          </a:solidFill>
          <a:ln/>
        </p:spPr>
      </p:sp>
      <p:sp>
        <p:nvSpPr>
          <p:cNvPr id="26" name="Text 23"/>
          <p:cNvSpPr/>
          <p:nvPr/>
        </p:nvSpPr>
        <p:spPr>
          <a:xfrm>
            <a:off x="6000293" y="1508760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27" name="Text 24"/>
          <p:cNvSpPr/>
          <p:nvPr/>
        </p:nvSpPr>
        <p:spPr>
          <a:xfrm>
            <a:off x="5537606" y="2112264"/>
            <a:ext cx="14191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C97E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HITL gate</a:t>
            </a:r>
            <a:endParaRPr lang="en-US" sz="1350" dirty="0"/>
          </a:p>
        </p:txBody>
      </p:sp>
      <p:sp>
        <p:nvSpPr>
          <p:cNvPr id="28" name="Text 25"/>
          <p:cNvSpPr/>
          <p:nvPr/>
        </p:nvSpPr>
        <p:spPr>
          <a:xfrm>
            <a:off x="5574182" y="2551176"/>
            <a:ext cx="1345997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7000"/>
              </a:lnSpc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Advisor approves the intervention — consequential by nature</a:t>
            </a:r>
            <a:endParaRPr lang="en-US" sz="1000" dirty="0"/>
          </a:p>
        </p:txBody>
      </p:sp>
      <p:sp>
        <p:nvSpPr>
          <p:cNvPr id="29" name="Shape 26"/>
          <p:cNvSpPr/>
          <p:nvPr/>
        </p:nvSpPr>
        <p:spPr>
          <a:xfrm>
            <a:off x="7016191" y="2436876"/>
            <a:ext cx="146304" cy="109728"/>
          </a:xfrm>
          <a:prstGeom prst="rightArrow">
            <a:avLst/>
          </a:prstGeom>
          <a:solidFill>
            <a:srgbClr val="8593A3"/>
          </a:solidFill>
          <a:ln w="12700">
            <a:solidFill>
              <a:srgbClr val="8593A3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7157923" y="1325880"/>
            <a:ext cx="1528877" cy="2331720"/>
          </a:xfrm>
          <a:prstGeom prst="roundRect">
            <a:avLst>
              <a:gd name="adj" fmla="val 4187"/>
            </a:avLst>
          </a:prstGeom>
          <a:solidFill>
            <a:srgbClr val="FFFFFF"/>
          </a:solidFill>
          <a:ln w="12700">
            <a:solidFill>
              <a:srgbClr val="D9E0E6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7675474" y="1508760"/>
            <a:ext cx="493776" cy="493776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32" name="Text 29"/>
          <p:cNvSpPr/>
          <p:nvPr/>
        </p:nvSpPr>
        <p:spPr>
          <a:xfrm>
            <a:off x="7675474" y="1508760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000" dirty="0"/>
          </a:p>
        </p:txBody>
      </p:sp>
      <p:sp>
        <p:nvSpPr>
          <p:cNvPr id="33" name="Text 30"/>
          <p:cNvSpPr/>
          <p:nvPr/>
        </p:nvSpPr>
        <p:spPr>
          <a:xfrm>
            <a:off x="7212787" y="2112264"/>
            <a:ext cx="141914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3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Audit</a:t>
            </a:r>
            <a:endParaRPr lang="en-US" sz="1350" dirty="0"/>
          </a:p>
        </p:txBody>
      </p:sp>
      <p:sp>
        <p:nvSpPr>
          <p:cNvPr id="34" name="Text 31"/>
          <p:cNvSpPr/>
          <p:nvPr/>
        </p:nvSpPr>
        <p:spPr>
          <a:xfrm>
            <a:off x="7249363" y="2551176"/>
            <a:ext cx="1345997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7000"/>
              </a:lnSpc>
              <a:buNone/>
            </a:pPr>
            <a:r>
              <a:rPr lang="en-US" sz="10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was flagged, contacted, and why</a:t>
            </a:r>
            <a:endParaRPr lang="en-US" sz="1000" dirty="0"/>
          </a:p>
        </p:txBody>
      </p:sp>
      <p:sp>
        <p:nvSpPr>
          <p:cNvPr id="35" name="Shape 32"/>
          <p:cNvSpPr/>
          <p:nvPr/>
        </p:nvSpPr>
        <p:spPr>
          <a:xfrm>
            <a:off x="457200" y="3950208"/>
            <a:ext cx="8229600" cy="676656"/>
          </a:xfrm>
          <a:prstGeom prst="roundRect">
            <a:avLst>
              <a:gd name="adj" fmla="val 10811"/>
            </a:avLst>
          </a:prstGeom>
          <a:solidFill>
            <a:srgbClr val="1B2A4A"/>
          </a:solidFill>
          <a:ln/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603504" y="4078224"/>
            <a:ext cx="420624" cy="420624"/>
          </a:xfrm>
          <a:prstGeom prst="ellipse">
            <a:avLst/>
          </a:prstGeom>
          <a:solidFill>
            <a:srgbClr val="E8A33D"/>
          </a:solidFill>
          <a:ln/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pic>
        <p:nvPicPr>
          <p:cNvPr id="3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2866" y="4187586"/>
            <a:ext cx="201900" cy="201900"/>
          </a:xfrm>
          <a:prstGeom prst="rect">
            <a:avLst/>
          </a:prstGeom>
        </p:spPr>
      </p:pic>
      <p:sp>
        <p:nvSpPr>
          <p:cNvPr id="38" name="Text 34"/>
          <p:cNvSpPr/>
          <p:nvPr/>
        </p:nvSpPr>
        <p:spPr>
          <a:xfrm>
            <a:off x="1133856" y="3950208"/>
            <a:ext cx="74066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110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BRIGHT LINE   </a:t>
            </a:r>
            <a:pPr algn="l" indent="0" marL="0">
              <a:lnSpc>
                <a:spcPct val="95000"/>
              </a:lnSpc>
              <a:buNone/>
            </a:pPr>
            <a:r>
              <a:rPr lang="en-US" sz="1150" dirty="0">
                <a:solidFill>
                  <a:srgbClr val="E9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advisor approves every intervention; the agent flags and drafts, a human decides who is contacted and how.</a:t>
            </a:r>
            <a:endParaRPr lang="en-US" sz="1100" dirty="0"/>
          </a:p>
        </p:txBody>
      </p:sp>
      <p:sp>
        <p:nvSpPr>
          <p:cNvPr id="39" name="Text 35"/>
          <p:cNvSpPr/>
          <p:nvPr/>
        </p:nvSpPr>
        <p:spPr>
          <a:xfrm>
            <a:off x="457200" y="4759452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5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 AI Agent Suite · Governed AI on AWS</a:t>
            </a:r>
            <a:endParaRPr lang="en-US" sz="900" dirty="0"/>
          </a:p>
        </p:txBody>
      </p:sp>
      <p:sp>
        <p:nvSpPr>
          <p:cNvPr id="40" name="Text 36"/>
          <p:cNvSpPr/>
          <p:nvPr/>
        </p:nvSpPr>
        <p:spPr>
          <a:xfrm>
            <a:off x="7040880" y="475945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05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566928" cy="566928"/>
          </a:xfrm>
          <a:prstGeom prst="ellipse">
            <a:avLst/>
          </a:prstGeom>
          <a:solidFill>
            <a:srgbClr val="0E7C7B"/>
          </a:solidFill>
          <a:ln/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4601" y="458297"/>
            <a:ext cx="272125" cy="2721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70432" y="310896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 ARCHITECTURE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1170432" y="530352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Request path &amp; traffic flow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457200" y="1371600"/>
            <a:ext cx="1543507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0E7C7B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502920" y="1481328"/>
            <a:ext cx="145206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1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Request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1847088"/>
            <a:ext cx="14520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8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/ staff</a:t>
            </a:r>
            <a:endParaRPr lang="en-US" sz="850" dirty="0"/>
          </a:p>
        </p:txBody>
      </p:sp>
      <p:sp>
        <p:nvSpPr>
          <p:cNvPr id="9" name="Shape 6"/>
          <p:cNvSpPr/>
          <p:nvPr/>
        </p:nvSpPr>
        <p:spPr>
          <a:xfrm>
            <a:off x="2000707" y="1732788"/>
            <a:ext cx="128016" cy="100584"/>
          </a:xfrm>
          <a:prstGeom prst="rightArrow">
            <a:avLst/>
          </a:prstGeom>
          <a:solidFill>
            <a:srgbClr val="8593A3"/>
          </a:solidFill>
          <a:ln w="12700">
            <a:solidFill>
              <a:srgbClr val="8593A3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128723" y="1371600"/>
            <a:ext cx="1543507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1B2A4A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2174443" y="1481328"/>
            <a:ext cx="145206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1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CloudFront + WAF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2174443" y="1847088"/>
            <a:ext cx="14520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8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protection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3672230" y="1732788"/>
            <a:ext cx="128016" cy="100584"/>
          </a:xfrm>
          <a:prstGeom prst="rightArrow">
            <a:avLst/>
          </a:prstGeom>
          <a:solidFill>
            <a:srgbClr val="8593A3"/>
          </a:solidFill>
          <a:ln w="12700">
            <a:solidFill>
              <a:srgbClr val="8593A3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800246" y="1371600"/>
            <a:ext cx="1543507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1B2A4A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3845966" y="1481328"/>
            <a:ext cx="145206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1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Cognito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3845966" y="1847088"/>
            <a:ext cx="14520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8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Role-scoped identity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5343754" y="1732788"/>
            <a:ext cx="128016" cy="100584"/>
          </a:xfrm>
          <a:prstGeom prst="rightArrow">
            <a:avLst/>
          </a:prstGeom>
          <a:solidFill>
            <a:srgbClr val="8593A3"/>
          </a:solidFill>
          <a:ln w="12700">
            <a:solidFill>
              <a:srgbClr val="8593A3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471770" y="1371600"/>
            <a:ext cx="1543507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E8A33D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19" name="Text 16"/>
          <p:cNvSpPr/>
          <p:nvPr/>
        </p:nvSpPr>
        <p:spPr>
          <a:xfrm>
            <a:off x="5517490" y="1481328"/>
            <a:ext cx="145206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1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AgentCore Gateway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5517490" y="1847088"/>
            <a:ext cx="14520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8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Deny-by-default</a:t>
            </a:r>
            <a:endParaRPr lang="en-US" sz="850" dirty="0"/>
          </a:p>
        </p:txBody>
      </p:sp>
      <p:sp>
        <p:nvSpPr>
          <p:cNvPr id="21" name="Shape 18"/>
          <p:cNvSpPr/>
          <p:nvPr/>
        </p:nvSpPr>
        <p:spPr>
          <a:xfrm>
            <a:off x="7015277" y="1732788"/>
            <a:ext cx="128016" cy="100584"/>
          </a:xfrm>
          <a:prstGeom prst="rightArrow">
            <a:avLst/>
          </a:prstGeom>
          <a:solidFill>
            <a:srgbClr val="8593A3"/>
          </a:solidFill>
          <a:ln w="12700">
            <a:solidFill>
              <a:srgbClr val="8593A3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143293" y="1371600"/>
            <a:ext cx="1543507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1B2A4A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23" name="Text 20"/>
          <p:cNvSpPr/>
          <p:nvPr/>
        </p:nvSpPr>
        <p:spPr>
          <a:xfrm>
            <a:off x="7189013" y="1481328"/>
            <a:ext cx="145206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1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Bedrock + Guardrails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7189013" y="1847088"/>
            <a:ext cx="145206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8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In-VPC · PII masked</a:t>
            </a:r>
            <a:endParaRPr lang="en-US" sz="850" dirty="0"/>
          </a:p>
        </p:txBody>
      </p:sp>
      <p:sp>
        <p:nvSpPr>
          <p:cNvPr id="25" name="Shape 22"/>
          <p:cNvSpPr/>
          <p:nvPr/>
        </p:nvSpPr>
        <p:spPr>
          <a:xfrm>
            <a:off x="7860182" y="2231136"/>
            <a:ext cx="109728" cy="201168"/>
          </a:xfrm>
          <a:prstGeom prst="downArrow">
            <a:avLst/>
          </a:prstGeom>
          <a:solidFill>
            <a:srgbClr val="8593A3"/>
          </a:solidFill>
          <a:ln w="12700">
            <a:solidFill>
              <a:srgbClr val="8593A3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457200" y="246888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1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AGENT-SPECIFIC TOOLS &amp; CONNECTORS  (gateway-scoped)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457200" y="2743200"/>
            <a:ext cx="1961388" cy="713232"/>
          </a:xfrm>
          <a:prstGeom prst="roundRect">
            <a:avLst>
              <a:gd name="adj" fmla="val 7692"/>
            </a:avLst>
          </a:prstGeom>
          <a:solidFill>
            <a:srgbClr val="EDF3F4"/>
          </a:solidFill>
          <a:ln w="12700">
            <a:solidFill>
              <a:srgbClr val="3AA6A4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28" name="Text 25"/>
          <p:cNvSpPr/>
          <p:nvPr/>
        </p:nvSpPr>
        <p:spPr>
          <a:xfrm>
            <a:off x="512064" y="2834640"/>
            <a:ext cx="18516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050" b="1" dirty="0">
                <a:solidFill>
                  <a:srgbClr val="0E7C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SIS + LMS connectors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512064" y="3145536"/>
            <a:ext cx="18516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8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Scoped signal reads</a:t>
            </a:r>
            <a:endParaRPr lang="en-US" sz="850" dirty="0"/>
          </a:p>
        </p:txBody>
      </p:sp>
      <p:sp>
        <p:nvSpPr>
          <p:cNvPr id="30" name="Shape 27"/>
          <p:cNvSpPr/>
          <p:nvPr/>
        </p:nvSpPr>
        <p:spPr>
          <a:xfrm>
            <a:off x="2546604" y="2743200"/>
            <a:ext cx="1961388" cy="713232"/>
          </a:xfrm>
          <a:prstGeom prst="roundRect">
            <a:avLst>
              <a:gd name="adj" fmla="val 7692"/>
            </a:avLst>
          </a:prstGeom>
          <a:solidFill>
            <a:srgbClr val="EDF3F4"/>
          </a:solidFill>
          <a:ln w="12700">
            <a:solidFill>
              <a:srgbClr val="3AA6A4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31" name="Text 28"/>
          <p:cNvSpPr/>
          <p:nvPr/>
        </p:nvSpPr>
        <p:spPr>
          <a:xfrm>
            <a:off x="2601468" y="2834640"/>
            <a:ext cx="18516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050" b="1" dirty="0">
                <a:solidFill>
                  <a:srgbClr val="0E7C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EventBridge triggers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2601468" y="3145536"/>
            <a:ext cx="18516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8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Signal-event driven</a:t>
            </a:r>
            <a:endParaRPr lang="en-US" sz="850" dirty="0"/>
          </a:p>
        </p:txBody>
      </p:sp>
      <p:sp>
        <p:nvSpPr>
          <p:cNvPr id="33" name="Shape 30"/>
          <p:cNvSpPr/>
          <p:nvPr/>
        </p:nvSpPr>
        <p:spPr>
          <a:xfrm>
            <a:off x="4636008" y="2743200"/>
            <a:ext cx="1961388" cy="713232"/>
          </a:xfrm>
          <a:prstGeom prst="roundRect">
            <a:avLst>
              <a:gd name="adj" fmla="val 7692"/>
            </a:avLst>
          </a:prstGeom>
          <a:solidFill>
            <a:srgbClr val="EDF3F4"/>
          </a:solidFill>
          <a:ln w="12700">
            <a:solidFill>
              <a:srgbClr val="3AA6A4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34" name="Text 31"/>
          <p:cNvSpPr/>
          <p:nvPr/>
        </p:nvSpPr>
        <p:spPr>
          <a:xfrm>
            <a:off x="4690872" y="2834640"/>
            <a:ext cx="18516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050" b="1" dirty="0">
                <a:solidFill>
                  <a:srgbClr val="0E7C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Risk model (Bedrock/SageMaker)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4690872" y="3145536"/>
            <a:ext cx="18516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8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 analytics</a:t>
            </a:r>
            <a:endParaRPr lang="en-US" sz="850" dirty="0"/>
          </a:p>
        </p:txBody>
      </p:sp>
      <p:sp>
        <p:nvSpPr>
          <p:cNvPr id="36" name="Shape 33"/>
          <p:cNvSpPr/>
          <p:nvPr/>
        </p:nvSpPr>
        <p:spPr>
          <a:xfrm>
            <a:off x="6725412" y="2743200"/>
            <a:ext cx="1961388" cy="713232"/>
          </a:xfrm>
          <a:prstGeom prst="roundRect">
            <a:avLst>
              <a:gd name="adj" fmla="val 7692"/>
            </a:avLst>
          </a:prstGeom>
          <a:solidFill>
            <a:srgbClr val="EDF3F4"/>
          </a:solidFill>
          <a:ln w="12700">
            <a:solidFill>
              <a:srgbClr val="3AA6A4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37" name="Text 34"/>
          <p:cNvSpPr/>
          <p:nvPr/>
        </p:nvSpPr>
        <p:spPr>
          <a:xfrm>
            <a:off x="6780276" y="2834640"/>
            <a:ext cx="18516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1050" b="1" dirty="0">
                <a:solidFill>
                  <a:srgbClr val="0E7C7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Functions HITL</a:t>
            </a:r>
            <a:endParaRPr lang="en-US" sz="1050" dirty="0"/>
          </a:p>
        </p:txBody>
      </p:sp>
      <p:sp>
        <p:nvSpPr>
          <p:cNvPr id="38" name="Text 35"/>
          <p:cNvSpPr/>
          <p:nvPr/>
        </p:nvSpPr>
        <p:spPr>
          <a:xfrm>
            <a:off x="6780276" y="3145536"/>
            <a:ext cx="18516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0000"/>
              </a:lnSpc>
              <a:buNone/>
            </a:pPr>
            <a:r>
              <a:rPr lang="en-US" sz="8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waitForTaskToken approval gate</a:t>
            </a:r>
            <a:endParaRPr lang="en-US" sz="850" dirty="0"/>
          </a:p>
        </p:txBody>
      </p:sp>
      <p:sp>
        <p:nvSpPr>
          <p:cNvPr id="39" name="Shape 36"/>
          <p:cNvSpPr/>
          <p:nvPr/>
        </p:nvSpPr>
        <p:spPr>
          <a:xfrm>
            <a:off x="457200" y="3602736"/>
            <a:ext cx="8229600" cy="512064"/>
          </a:xfrm>
          <a:prstGeom prst="roundRect">
            <a:avLst>
              <a:gd name="adj" fmla="val 10714"/>
            </a:avLst>
          </a:prstGeom>
          <a:solidFill>
            <a:srgbClr val="1B2A4A"/>
          </a:solidFill>
          <a:ln/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40" name="Shape 37"/>
          <p:cNvSpPr/>
          <p:nvPr/>
        </p:nvSpPr>
        <p:spPr>
          <a:xfrm>
            <a:off x="566928" y="3694176"/>
            <a:ext cx="329184" cy="329184"/>
          </a:xfrm>
          <a:prstGeom prst="ellipse">
            <a:avLst/>
          </a:prstGeom>
          <a:solidFill>
            <a:srgbClr val="E8A33D"/>
          </a:solidFill>
          <a:ln/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pic>
        <p:nvPicPr>
          <p:cNvPr id="4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2516" y="3779764"/>
            <a:ext cx="158008" cy="158008"/>
          </a:xfrm>
          <a:prstGeom prst="rect">
            <a:avLst/>
          </a:prstGeom>
        </p:spPr>
      </p:pic>
      <p:sp>
        <p:nvSpPr>
          <p:cNvPr id="42" name="Text 38"/>
          <p:cNvSpPr/>
          <p:nvPr/>
        </p:nvSpPr>
        <p:spPr>
          <a:xfrm>
            <a:off x="1005840" y="3602736"/>
            <a:ext cx="75895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5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&amp; EVIDENCE   </a:t>
            </a:r>
            <a:pPr algn="l" indent="0" marL="0">
              <a:lnSpc>
                <a:spcPct val="92000"/>
              </a:lnSpc>
              <a:buNone/>
            </a:pPr>
            <a:r>
              <a:rPr lang="en-US" sz="950" dirty="0">
                <a:solidFill>
                  <a:srgbClr val="E9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Object Lock (WORM) + DynamoDB append-only — every access, draft, approval, and action logged.</a:t>
            </a:r>
            <a:endParaRPr lang="en-US" sz="950" dirty="0"/>
          </a:p>
        </p:txBody>
      </p:sp>
      <p:sp>
        <p:nvSpPr>
          <p:cNvPr id="43" name="Text 39"/>
          <p:cNvSpPr/>
          <p:nvPr/>
        </p:nvSpPr>
        <p:spPr>
          <a:xfrm>
            <a:off x="457200" y="4722876"/>
            <a:ext cx="8229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850" i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 event → EventBridge → Gateway (scoped read) → risk analysis → Bedrock+Guardrails draft nudge → advisor HITL approve → outreach + audit.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566928" cy="566928"/>
          </a:xfrm>
          <a:prstGeom prst="ellipse">
            <a:avLst/>
          </a:prstGeom>
          <a:solidFill>
            <a:srgbClr val="0E7C7B"/>
          </a:solidFill>
          <a:ln/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4601" y="458297"/>
            <a:ext cx="272125" cy="2721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70432" y="310896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DEPLOY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1170432" y="530352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zero to governed in seven steps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457200" y="1298448"/>
            <a:ext cx="406908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9E0E6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85216" y="1426464"/>
            <a:ext cx="420624" cy="420624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8" name="Text 5"/>
          <p:cNvSpPr/>
          <p:nvPr/>
        </p:nvSpPr>
        <p:spPr>
          <a:xfrm>
            <a:off x="585216" y="142646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1115568" y="1389888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CMK / KMS + network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1115568" y="1655064"/>
            <a:ext cx="33192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Customer-managed keys; isolated VPC.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457200" y="2029968"/>
            <a:ext cx="406908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9E0E6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585216" y="2157984"/>
            <a:ext cx="420624" cy="420624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13" name="Text 10"/>
          <p:cNvSpPr/>
          <p:nvPr/>
        </p:nvSpPr>
        <p:spPr>
          <a:xfrm>
            <a:off x="585216" y="215798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1115568" y="2121408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Cognito / JWT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1115568" y="2386584"/>
            <a:ext cx="33192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Federate the IdP; role scoping.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457200" y="2761488"/>
            <a:ext cx="406908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9E0E6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585216" y="2889504"/>
            <a:ext cx="420624" cy="420624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18" name="Text 15"/>
          <p:cNvSpPr/>
          <p:nvPr/>
        </p:nvSpPr>
        <p:spPr>
          <a:xfrm>
            <a:off x="585216" y="288950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1115568" y="2852928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CloudFront / WAF</a:t>
            </a:r>
            <a:endParaRPr lang="en-US" sz="1250" dirty="0"/>
          </a:p>
        </p:txBody>
      </p:sp>
      <p:sp>
        <p:nvSpPr>
          <p:cNvPr id="20" name="Text 17"/>
          <p:cNvSpPr/>
          <p:nvPr/>
        </p:nvSpPr>
        <p:spPr>
          <a:xfrm>
            <a:off x="1115568" y="3118104"/>
            <a:ext cx="33192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protection at the front door.</a:t>
            </a:r>
            <a:endParaRPr lang="en-US" sz="950" dirty="0"/>
          </a:p>
        </p:txBody>
      </p:sp>
      <p:sp>
        <p:nvSpPr>
          <p:cNvPr id="21" name="Shape 18"/>
          <p:cNvSpPr/>
          <p:nvPr/>
        </p:nvSpPr>
        <p:spPr>
          <a:xfrm>
            <a:off x="457200" y="3493008"/>
            <a:ext cx="406908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9E0E6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585216" y="3621024"/>
            <a:ext cx="420624" cy="420624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23" name="Text 20"/>
          <p:cNvSpPr/>
          <p:nvPr/>
        </p:nvSpPr>
        <p:spPr>
          <a:xfrm>
            <a:off x="585216" y="362102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1115568" y="3584448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AgentCore agent + tool grants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1115568" y="3849624"/>
            <a:ext cx="33192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the agent; grant only this agent's tools.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5074920" y="1298448"/>
            <a:ext cx="406908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9E0E6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5202936" y="1426464"/>
            <a:ext cx="420624" cy="420624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28" name="Text 25"/>
          <p:cNvSpPr/>
          <p:nvPr/>
        </p:nvSpPr>
        <p:spPr>
          <a:xfrm>
            <a:off x="5202936" y="142646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5733288" y="1389888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Connectors + secrets</a:t>
            </a:r>
            <a:endParaRPr lang="en-US" sz="1250" dirty="0"/>
          </a:p>
        </p:txBody>
      </p:sp>
      <p:sp>
        <p:nvSpPr>
          <p:cNvPr id="30" name="Text 27"/>
          <p:cNvSpPr/>
          <p:nvPr/>
        </p:nvSpPr>
        <p:spPr>
          <a:xfrm>
            <a:off x="5733288" y="1655064"/>
            <a:ext cx="33192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SIS/LMS, configure the approved risk model and advisor-approval gate, wire EventBridge triggers.</a:t>
            </a:r>
            <a:endParaRPr lang="en-US" sz="950" dirty="0"/>
          </a:p>
        </p:txBody>
      </p:sp>
      <p:sp>
        <p:nvSpPr>
          <p:cNvPr id="31" name="Shape 28"/>
          <p:cNvSpPr/>
          <p:nvPr/>
        </p:nvSpPr>
        <p:spPr>
          <a:xfrm>
            <a:off x="5074920" y="2029968"/>
            <a:ext cx="406908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9E0E6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32" name="Shape 29"/>
          <p:cNvSpPr/>
          <p:nvPr/>
        </p:nvSpPr>
        <p:spPr>
          <a:xfrm>
            <a:off x="5202936" y="2157984"/>
            <a:ext cx="420624" cy="420624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33" name="Text 30"/>
          <p:cNvSpPr/>
          <p:nvPr/>
        </p:nvSpPr>
        <p:spPr>
          <a:xfrm>
            <a:off x="5202936" y="215798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5733288" y="2121408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S3 WORM + DynamoDB audit</a:t>
            </a:r>
            <a:endParaRPr lang="en-US" sz="1250" dirty="0"/>
          </a:p>
        </p:txBody>
      </p:sp>
      <p:sp>
        <p:nvSpPr>
          <p:cNvPr id="35" name="Text 32"/>
          <p:cNvSpPr/>
          <p:nvPr/>
        </p:nvSpPr>
        <p:spPr>
          <a:xfrm>
            <a:off x="5733288" y="2386584"/>
            <a:ext cx="33192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 Lock + append-only audit on.</a:t>
            </a:r>
            <a:endParaRPr lang="en-US" sz="950" dirty="0"/>
          </a:p>
        </p:txBody>
      </p:sp>
      <p:sp>
        <p:nvSpPr>
          <p:cNvPr id="36" name="Shape 33"/>
          <p:cNvSpPr/>
          <p:nvPr/>
        </p:nvSpPr>
        <p:spPr>
          <a:xfrm>
            <a:off x="5074920" y="2761488"/>
            <a:ext cx="4069080" cy="676656"/>
          </a:xfrm>
          <a:prstGeom prst="roundRect">
            <a:avLst>
              <a:gd name="adj" fmla="val 8108"/>
            </a:avLst>
          </a:prstGeom>
          <a:solidFill>
            <a:srgbClr val="FFFFFF"/>
          </a:solidFill>
          <a:ln w="12700">
            <a:solidFill>
              <a:srgbClr val="D9E0E6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37" name="Shape 34"/>
          <p:cNvSpPr/>
          <p:nvPr/>
        </p:nvSpPr>
        <p:spPr>
          <a:xfrm>
            <a:off x="5202936" y="2889504"/>
            <a:ext cx="420624" cy="420624"/>
          </a:xfrm>
          <a:prstGeom prst="ellipse">
            <a:avLst/>
          </a:prstGeom>
          <a:solidFill>
            <a:srgbClr val="0E7C7B"/>
          </a:solidFill>
          <a:ln/>
        </p:spPr>
      </p:sp>
      <p:sp>
        <p:nvSpPr>
          <p:cNvPr id="38" name="Text 35"/>
          <p:cNvSpPr/>
          <p:nvPr/>
        </p:nvSpPr>
        <p:spPr>
          <a:xfrm>
            <a:off x="5202936" y="288950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600" dirty="0"/>
          </a:p>
        </p:txBody>
      </p:sp>
      <p:sp>
        <p:nvSpPr>
          <p:cNvPr id="39" name="Text 36"/>
          <p:cNvSpPr/>
          <p:nvPr/>
        </p:nvSpPr>
        <p:spPr>
          <a:xfrm>
            <a:off x="5733288" y="2852928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Smoke test</a:t>
            </a:r>
            <a:endParaRPr lang="en-US" sz="1250" dirty="0"/>
          </a:p>
        </p:txBody>
      </p:sp>
      <p:sp>
        <p:nvSpPr>
          <p:cNvPr id="40" name="Text 37"/>
          <p:cNvSpPr/>
          <p:nvPr/>
        </p:nvSpPr>
        <p:spPr>
          <a:xfrm>
            <a:off x="5733288" y="3118104"/>
            <a:ext cx="33192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2000"/>
              </a:lnSpc>
              <a:buNone/>
            </a:pPr>
            <a:r>
              <a:rPr lang="en-US" sz="95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path, HITL gate, audit write.</a:t>
            </a:r>
            <a:endParaRPr lang="en-US" sz="950" dirty="0"/>
          </a:p>
        </p:txBody>
      </p:sp>
      <p:sp>
        <p:nvSpPr>
          <p:cNvPr id="41" name="Shape 38"/>
          <p:cNvSpPr/>
          <p:nvPr/>
        </p:nvSpPr>
        <p:spPr>
          <a:xfrm>
            <a:off x="5074920" y="3493008"/>
            <a:ext cx="4069080" cy="676656"/>
          </a:xfrm>
          <a:prstGeom prst="roundRect">
            <a:avLst>
              <a:gd name="adj" fmla="val 8108"/>
            </a:avLst>
          </a:prstGeom>
          <a:solidFill>
            <a:srgbClr val="1B2A4A"/>
          </a:solidFill>
          <a:ln/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42" name="Text 39"/>
          <p:cNvSpPr/>
          <p:nvPr/>
        </p:nvSpPr>
        <p:spPr>
          <a:xfrm>
            <a:off x="5202936" y="3538728"/>
            <a:ext cx="3813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90000"/>
              </a:lnSpc>
              <a:buNone/>
            </a:pPr>
            <a:r>
              <a:rPr lang="en-US" sz="950" b="1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ONE-LINER
</a:t>
            </a:r>
            <a:endParaRPr lang="en-US" sz="950" dirty="0"/>
          </a:p>
          <a:p>
            <a:pPr algn="l" indent="0" marL="0">
              <a:lnSpc>
                <a:spcPct val="90000"/>
              </a:lnSpc>
              <a:buNone/>
            </a:pPr>
            <a:r>
              <a:rPr lang="en-US" sz="850" dirty="0">
                <a:solidFill>
                  <a:srgbClr val="E9EE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Quick-deploy + gateway; connect SIS/LMS, configure the approved risk model and advisor-approval gate, wire EventBridge triggers.</a:t>
            </a:r>
            <a:endParaRPr lang="en-US" sz="950" dirty="0"/>
          </a:p>
        </p:txBody>
      </p:sp>
      <p:sp>
        <p:nvSpPr>
          <p:cNvPr id="43" name="Text 40"/>
          <p:cNvSpPr/>
          <p:nvPr/>
        </p:nvSpPr>
        <p:spPr>
          <a:xfrm>
            <a:off x="457200" y="4722876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Runbook: </a:t>
            </a:r>
            <a:pPr algn="l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runbooks/agent-deploy/05-student-success-engagement.md   ·   </a:t>
            </a:r>
            <a:pPr algn="l" indent="0" marL="0">
              <a:buNone/>
            </a:pPr>
            <a:r>
              <a:rPr lang="en-US" sz="900" b="1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Reference: </a:t>
            </a:r>
            <a:pPr algn="l" indent="0" marL="0">
              <a:buNone/>
            </a:pPr>
            <a:r>
              <a:rPr lang="en-US" sz="900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docs/AWS-DEPLOYMENT-REFERENCE.md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10896"/>
            <a:ext cx="566928" cy="566928"/>
          </a:xfrm>
          <a:prstGeom prst="ellipse">
            <a:avLst/>
          </a:prstGeom>
          <a:solidFill>
            <a:srgbClr val="0E7C7B"/>
          </a:solidFill>
          <a:ln/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4601" y="458297"/>
            <a:ext cx="272125" cy="272125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170432" y="310896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200" kern="0" dirty="0">
                <a:solidFill>
                  <a:srgbClr val="0E7C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ROI &amp; HONEST TRADEOFFS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1170432" y="530352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3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Outcomes modeled to your baseline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457200" y="1325880"/>
            <a:ext cx="2633472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D9E0E6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548640" y="1472184"/>
            <a:ext cx="24505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97E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22.4%</a:t>
            </a:r>
            <a:endParaRPr lang="en-US" sz="3200" dirty="0"/>
          </a:p>
        </p:txBody>
      </p:sp>
      <p:sp>
        <p:nvSpPr>
          <p:cNvPr id="8" name="Text 5"/>
          <p:cNvSpPr/>
          <p:nvPr/>
        </p:nvSpPr>
        <p:spPr>
          <a:xfrm>
            <a:off x="585216" y="2221992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first-year non-return rate the agent targets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585216" y="277063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NSC · gov/peer-reviewed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3255264" y="1325880"/>
            <a:ext cx="2633472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D9E0E6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3346704" y="1472184"/>
            <a:ext cx="24505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97E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$340–$642/cr-hr</a:t>
            </a:r>
            <a:endParaRPr lang="en-US" sz="3200" dirty="0"/>
          </a:p>
        </p:txBody>
      </p:sp>
      <p:sp>
        <p:nvSpPr>
          <p:cNvPr id="12" name="Text 9"/>
          <p:cNvSpPr/>
          <p:nvPr/>
        </p:nvSpPr>
        <p:spPr>
          <a:xfrm>
            <a:off x="3383280" y="2221992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tuition preserved per retained full-timer + recruitment cost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3383280" y="277063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NCES/IPEDS · gov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6053328" y="1325880"/>
            <a:ext cx="2633472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D9E0E6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6144768" y="1472184"/>
            <a:ext cx="24505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97E1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Lower withdrawal</a:t>
            </a:r>
            <a:endParaRPr lang="en-US" sz="3200" dirty="0"/>
          </a:p>
        </p:txBody>
      </p:sp>
      <p:sp>
        <p:nvSpPr>
          <p:cNvPr id="16" name="Text 13"/>
          <p:cNvSpPr/>
          <p:nvPr/>
        </p:nvSpPr>
        <p:spPr>
          <a:xfrm>
            <a:off x="6181344" y="2221992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95000"/>
              </a:lnSpc>
              <a:buNone/>
            </a:pPr>
            <a:r>
              <a:rPr lang="en-US" sz="110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alerts assoc. with higher grades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6181344" y="2770632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5B6B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CCRC · gov/peer-reviewed</a:t>
            </a:r>
            <a:endParaRPr lang="en-US" sz="850" dirty="0"/>
          </a:p>
        </p:txBody>
      </p:sp>
      <p:sp>
        <p:nvSpPr>
          <p:cNvPr id="18" name="Shape 15"/>
          <p:cNvSpPr/>
          <p:nvPr/>
        </p:nvSpPr>
        <p:spPr>
          <a:xfrm>
            <a:off x="457200" y="3291840"/>
            <a:ext cx="8229600" cy="1078992"/>
          </a:xfrm>
          <a:prstGeom prst="roundRect">
            <a:avLst>
              <a:gd name="adj" fmla="val 6780"/>
            </a:avLst>
          </a:prstGeom>
          <a:solidFill>
            <a:srgbClr val="EDF3F4"/>
          </a:solidFill>
          <a:ln w="12700">
            <a:solidFill>
              <a:srgbClr val="3AA6A4"/>
            </a:solidFill>
            <a:prstDash val="solid"/>
          </a:ln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640080" y="3621024"/>
            <a:ext cx="420624" cy="420624"/>
          </a:xfrm>
          <a:prstGeom prst="ellipse">
            <a:avLst/>
          </a:prstGeom>
          <a:solidFill>
            <a:srgbClr val="0E7C7B"/>
          </a:solidFill>
          <a:ln/>
          <a:effectLst>
            <a:outerShdw sx="100000" sy="100000" kx="0" ky="0" algn="bl" rotWithShape="0" blurRad="88900" dist="38100" dir="5400000">
              <a:srgbClr val="1B2A4A">
                <a:alpha val="16000"/>
              </a:srgbClr>
            </a:outerShdw>
          </a:effectLst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442" y="3730386"/>
            <a:ext cx="201900" cy="201900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1170432" y="3401568"/>
            <a:ext cx="740664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is — and isn't.   </a:t>
            </a:r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Decision-support, not autonomy: humans own every consequential call (grades, awards, interventions, account changes). </a:t>
            </a:r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 figures are flagged on-slide and never lead. </a:t>
            </a:r>
            <a:pPr algn="l"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1F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Outcomes are documented at the named institution and modeled to your baseline — not guaranteed.</a:t>
            </a:r>
            <a:endParaRPr lang="en-US" sz="1200" dirty="0"/>
          </a:p>
        </p:txBody>
      </p:sp>
      <p:sp>
        <p:nvSpPr>
          <p:cNvPr id="22" name="Text 18"/>
          <p:cNvSpPr/>
          <p:nvPr/>
        </p:nvSpPr>
        <p:spPr>
          <a:xfrm>
            <a:off x="457200" y="4759452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5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 AI Agent Suite · Governed AI on AWS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7040880" y="475945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593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05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Student Success &amp; Proactive Engagement</dc:title>
  <dc:subject>PptxGenJS Presentation</dc:subject>
  <dc:creator>EDU AI Agent Suite</dc:creator>
  <cp:lastModifiedBy>EDU AI Agent Suite</cp:lastModifiedBy>
  <cp:revision>1</cp:revision>
  <dcterms:created xsi:type="dcterms:W3CDTF">2026-06-24T02:54:27Z</dcterms:created>
  <dcterms:modified xsi:type="dcterms:W3CDTF">2026-06-24T02:54:27Z</dcterms:modified>
</cp:coreProperties>
</file>