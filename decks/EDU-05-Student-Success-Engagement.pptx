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[00:20] Title. Agent 05 is the clearest CFO story in the suite — retained tuition. It is also higher-governance (who gets contacted, and why, is consequential). Position to the CFO via the ~$5.6M model; to the CISO via the advisor gate and audit of every flag.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[00:45] Hook. Lead with NSC's 22.4% non-return (gov/peer-reviewed). The $5.6M and $560K are modeled — show arithmetic and stress they substitute the customer's own headcount and net tuition.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[01:10] Issue + cost. This is the revenue-protection agent. The cost-of-nothing is forgone recurring tuition. Bright line: the agent flags and drafts; an advisor decides who is contacted and why — and it's all audited (important for equity/fairness review).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[01:35] Pipeline. This is the event-driven agent — note EventBridge step 1 and SQS scaling. The advisor approval gate is enforced by Step Functions waitForTaskToken. Audit records who was flagged, contacted, and why.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[02:15] Architecture. Highlight EventBridge + SQS in the runtime tier — this is the one event-driven design. Customer provides: IdP, SIS/LMS connectivity, and an approved risk model. No autonomous outreach.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[02:45] Proof + deploy. CCRC early-alert evidence supports the intervention model. Close on revenue protection plus governance: every flag and contact is auditable for fairness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5544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Success &amp; Proactive Engagement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795528" y="34290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Governed Agentic AI Reference Architecture for Education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804672" y="41605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05 of 8  ·  surface at-risk signals early and draft the nudge — an advisor approves every intervention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04672" y="521208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 AI Agent Suite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04672" y="553212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 ·  Built on AWS  ·  June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7772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2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 BEFORE THEY WITHDRAW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795528" y="182880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Success &amp; Proactive Engagement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04672" y="242316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governed early-alert agent that surfaces at-risk signals across SIS/LMS and drafts a timely, personalized nudge — an advisor approves every intervention, protecting both the student and recurring tuition revenue.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33272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22.4%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1051560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first-year students don't return for year two (NSC 2025)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51560" y="5202936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 — NSC]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379976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36008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~$5.6M/yr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4654296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forgone recurring tuition from preventable non-return (modeled)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54296" y="5202936"/>
            <a:ext cx="6016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[modeled]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7982712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38744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~$560K/yr</a:t>
            </a:r>
            <a:endParaRPr lang="en-US" sz="3300" dirty="0"/>
          </a:p>
        </p:txBody>
      </p:sp>
      <p:sp>
        <p:nvSpPr>
          <p:cNvPr id="16" name="Text 14"/>
          <p:cNvSpPr/>
          <p:nvPr/>
        </p:nvSpPr>
        <p:spPr>
          <a:xfrm>
            <a:off x="8257032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recovered by cutting avoidable non-return just 1-in-10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57032" y="5202936"/>
            <a:ext cx="6016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[modeled]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 ·  Built on AWS  ·  June 2026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 &amp; The Cost of Doing Nothing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713232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325880"/>
            <a:ext cx="73152" cy="33832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1033272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78992" y="2039112"/>
            <a:ext cx="45994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 signs accumulate across SIS/LMS before anyone acts — usually after withdrawal.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22.4% of first-year students don't return for year two; community colleges retain far less.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lost student forfeits recurring tuition plus sunk recruitment cost ($457–$2,433).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Advisors can't manually watch every signal for every student.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9944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9944" y="1325880"/>
            <a:ext cx="73152" cy="338328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0" name="Text 8"/>
          <p:cNvSpPr/>
          <p:nvPr/>
        </p:nvSpPr>
        <p:spPr>
          <a:xfrm>
            <a:off x="6729984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E8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COST OF DOING NOTHING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720840" y="1929384"/>
            <a:ext cx="46451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~$5.6M / yr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6757416" y="269748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Modeled: 2,500 first-years × 22.4% non-return = ~560 lost × ~$10k net tuition/yr. Even a 1-in-10 reduction recovers ~$560K/yr, before recruitment sunk cost.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775704" y="36118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 tuition revenue lost to preventable attrition.</a:t>
            </a:r>
            <a:endParaRPr lang="en-US" sz="1200" dirty="0"/>
          </a:p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Wasted recruitment investment per non-returning student.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739128" y="4434840"/>
            <a:ext cx="3096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[modeled — non-return rate × net tuition × headcount]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713232" y="5029200"/>
            <a:ext cx="10771632" cy="9144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6" name="Text 14"/>
          <p:cNvSpPr/>
          <p:nvPr/>
        </p:nvSpPr>
        <p:spPr>
          <a:xfrm>
            <a:off x="1078992" y="50292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line:  </a:t>
            </a:r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flags risk and drafts the outreach; an advisor approves every intervention — who is contacted, and why, is a human decision and is audited.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Solve It — A Governed Pipeline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731520" y="969264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00" i="1" dirty="0">
                <a:solidFill>
                  <a:srgbClr val="6B77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Event-driven: a risk signal triggers a scoped read and an approved risk model, the agent drafts a nudge — an advisor approves before any outreach.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1323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7782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 → EventBridge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7782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attendance/grade/engagement event triggers the flow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66090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90779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07238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07238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 read + analyze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07238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SIS/LMS read via gateway; score on approved model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5546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10235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26694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526694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the nudge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26694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personalized, timely outreach recommendation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05002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296912" y="1828800"/>
            <a:ext cx="1993392" cy="1554480"/>
          </a:xfrm>
          <a:prstGeom prst="rect">
            <a:avLst/>
          </a:prstGeom>
          <a:solidFill>
            <a:srgbClr val="C0392B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46150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46150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 APPROVES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46150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 the intervention (waitForTaskToken)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24458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9491472" y="1828800"/>
            <a:ext cx="1993392" cy="155448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65606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65606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Outreach + audit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65606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was flagged, contacted, and why — logged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132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132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1" name="Text 29"/>
          <p:cNvSpPr/>
          <p:nvPr/>
        </p:nvSpPr>
        <p:spPr>
          <a:xfrm>
            <a:off x="9875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action audited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058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node, timestamp, actor, data sources, model version — append-only and examiner-ready by design.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3708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3708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5" name="Text 33"/>
          <p:cNvSpPr/>
          <p:nvPr/>
        </p:nvSpPr>
        <p:spPr>
          <a:xfrm>
            <a:off x="46451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&amp; explainable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6634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cite approved sources; Bedrock Guardrails mask PII before any model call and bound the output.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0284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0284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9" name="Text 37"/>
          <p:cNvSpPr/>
          <p:nvPr/>
        </p:nvSpPr>
        <p:spPr>
          <a:xfrm>
            <a:off x="83027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never decides who to contact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3210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consequential action is a human-only step, enforced in the orchestration framework — not a policy PDF.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8288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Architecture &amp; Traffic Flow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868680"/>
            <a:ext cx="2331720" cy="416052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658368" y="923544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INSTITUTION / EXTERNAL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67512" y="1252728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1280160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Advisors / success staff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67512" y="1947672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758952" y="1975104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— Okta / Azure AD / Google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SAML/OIDC + MFA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67512" y="2642616"/>
            <a:ext cx="2093976" cy="6400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1" name="Text 9"/>
          <p:cNvSpPr/>
          <p:nvPr/>
        </p:nvSpPr>
        <p:spPr>
          <a:xfrm>
            <a:off x="758952" y="2670048"/>
            <a:ext cx="19293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+ LMS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 · PrivateLink / Direct Connect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67512" y="3429000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758952" y="3456432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model (Bedrock / SageMaker)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67512" y="4069080"/>
            <a:ext cx="2093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PrivateLink / Direct Connect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3063240" y="868680"/>
            <a:ext cx="8549640" cy="466344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3172968" y="923544"/>
            <a:ext cx="8330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CLOUD — PER-CUSTOMER VPC (dedicated account per institution)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27832" y="1307592"/>
            <a:ext cx="246888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3337560" y="1362456"/>
            <a:ext cx="224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8C4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/ PUBLIC SUBNET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37560" y="1673352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429000" y="1700784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 + WAF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337560" y="2148840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2" name="Text 20"/>
          <p:cNvSpPr/>
          <p:nvPr/>
        </p:nvSpPr>
        <p:spPr>
          <a:xfrm>
            <a:off x="3429000" y="2176272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 — TLS 1.3 + Cognito auth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337560" y="2624328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4" name="Text 22"/>
          <p:cNvSpPr/>
          <p:nvPr/>
        </p:nvSpPr>
        <p:spPr>
          <a:xfrm>
            <a:off x="3429000" y="2651760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Cognito — SAML→JWT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897880" y="1307592"/>
            <a:ext cx="27889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6007608" y="1362456"/>
            <a:ext cx="2569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SUBNET — ECS FARGATE / AGENTCORE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07608" y="1673352"/>
            <a:ext cx="2569464" cy="285750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28" name="Text 26"/>
          <p:cNvSpPr/>
          <p:nvPr/>
        </p:nvSpPr>
        <p:spPr>
          <a:xfrm>
            <a:off x="6099048" y="1700784"/>
            <a:ext cx="240487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EventBridge + SQS</a:t>
            </a:r>
            <a:endParaRPr lang="en-US" sz="8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68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event-driven triggers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007608" y="2023110"/>
            <a:ext cx="2569464" cy="28575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0" name="Text 28"/>
          <p:cNvSpPr/>
          <p:nvPr/>
        </p:nvSpPr>
        <p:spPr>
          <a:xfrm>
            <a:off x="6099048" y="2050542"/>
            <a:ext cx="240487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agent + risk scoring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007608" y="2372868"/>
            <a:ext cx="2569464" cy="285750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32" name="Text 30"/>
          <p:cNvSpPr/>
          <p:nvPr/>
        </p:nvSpPr>
        <p:spPr>
          <a:xfrm>
            <a:off x="6099048" y="2400300"/>
            <a:ext cx="240487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Functions HITL</a:t>
            </a:r>
            <a:endParaRPr lang="en-US" sz="8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68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 approval gate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007608" y="2722626"/>
            <a:ext cx="2569464" cy="285750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34" name="Text 32"/>
          <p:cNvSpPr/>
          <p:nvPr/>
        </p:nvSpPr>
        <p:spPr>
          <a:xfrm>
            <a:off x="6099048" y="2750058"/>
            <a:ext cx="240487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auth gateway</a:t>
            </a:r>
            <a:endParaRPr lang="en-US" sz="8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68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outbound tool calls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8887968" y="1307592"/>
            <a:ext cx="23317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8997696" y="1362456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LAYER — VPC ENDPOINT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997696" y="1691640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8" name="Text 36"/>
          <p:cNvSpPr/>
          <p:nvPr/>
        </p:nvSpPr>
        <p:spPr>
          <a:xfrm>
            <a:off x="9089136" y="1719072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(analysis + draft)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8997696" y="2350008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40" name="Text 38"/>
          <p:cNvSpPr/>
          <p:nvPr/>
        </p:nvSpPr>
        <p:spPr>
          <a:xfrm>
            <a:off x="9089136" y="2377440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+ content filters (mandatory)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27832" y="3246120"/>
            <a:ext cx="8220456" cy="114300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3337560" y="3300984"/>
            <a:ext cx="8001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7AA1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TIER — KMS CMK-ENCRYPTED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337560" y="3630168"/>
            <a:ext cx="1876806" cy="621792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44" name="Text 42"/>
          <p:cNvSpPr/>
          <p:nvPr/>
        </p:nvSpPr>
        <p:spPr>
          <a:xfrm>
            <a:off x="3429000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/ DynamoDB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+ case state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5378958" y="3630168"/>
            <a:ext cx="1876806" cy="621792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46" name="Text 44"/>
          <p:cNvSpPr/>
          <p:nvPr/>
        </p:nvSpPr>
        <p:spPr>
          <a:xfrm>
            <a:off x="5470398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 audit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flagged/contacted/why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7420356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</p:sp>
      <p:sp>
        <p:nvSpPr>
          <p:cNvPr id="48" name="Text 46"/>
          <p:cNvSpPr/>
          <p:nvPr/>
        </p:nvSpPr>
        <p:spPr>
          <a:xfrm>
            <a:off x="7511796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WORM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9461754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</p:sp>
      <p:sp>
        <p:nvSpPr>
          <p:cNvPr id="50" name="Text 48"/>
          <p:cNvSpPr/>
          <p:nvPr/>
        </p:nvSpPr>
        <p:spPr>
          <a:xfrm>
            <a:off x="9553194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Manager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tokens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3227832" y="4544568"/>
            <a:ext cx="8220456" cy="713232"/>
          </a:xfrm>
          <a:prstGeom prst="rect">
            <a:avLst/>
          </a:prstGeom>
          <a:solidFill>
            <a:srgbClr val="1B2530"/>
          </a:solidFill>
          <a:ln/>
        </p:spPr>
      </p:sp>
      <p:sp>
        <p:nvSpPr>
          <p:cNvPr id="52" name="Text 50"/>
          <p:cNvSpPr/>
          <p:nvPr/>
        </p:nvSpPr>
        <p:spPr>
          <a:xfrm>
            <a:off x="3429000" y="4544568"/>
            <a:ext cx="78546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OPS:  </a:t>
            </a:r>
            <a:pPr algn="l" indent="0" marL="0">
              <a:buNone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KMS CMK per data class  ·  IAM least privilege  ·  CloudWatch  ·  X-Ray  ·  CloudTrail  ·  Security Hub + Config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2843784" y="132588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843784" y="1325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2843784" y="203911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843784" y="2039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5678424" y="217627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678424" y="2176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2843784" y="278892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843784" y="2788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7146036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146036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8705088" y="185623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8705088" y="18562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11082528" y="309981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1082528" y="30998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8321040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321040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548640" y="571500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9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advisor sign-in   2 SAML federation (MFA at IdP; Cognito issues JWT)   3 authenticated session to success console   4 SIS/LMS signals read over private connectivity   5 EventBridge + SQS drive event-driven scaling   6 risk analysis + draft via Bedrock + Guardrails inside the VPC   7 Step Functions holds at the advisor gate; flagged/contacted/why persisted to append-only audit   8 systems-of-record reachable only through the governed MCP gateway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Proof, Payback &amp; How to Deploy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13232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OUTCOMES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05840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22.4%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005840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first-year non-return rate targeted (NSC 2025)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005840" y="3008376"/>
            <a:ext cx="116860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[gov/peer-reviewed]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3465576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~$5.6M/yr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465576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forgone tuition modeled at reference institution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465576" y="3008376"/>
            <a:ext cx="6016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[modeled]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005840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lower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1005840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withdrawal + higher grades with early alerts (CCRC)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05840" y="4215384"/>
            <a:ext cx="116860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[gov/peer-reviewed]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3465576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~$560K/yr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3465576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recovered at a 1-in-10 reduction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465576" y="4215384"/>
            <a:ext cx="6016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[modeled]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409944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02552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TAKES TO DEPLOY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821424" y="1892808"/>
            <a:ext cx="45537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 KMS CMK per data class + per-customer VPC / network.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Cognito SAML→JWT federation with role scoping.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with CloudFront + WAF, ALB TLS 1.3.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the success agent + Step Functions advisor-approval gate.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SIS/LMS; configure the approved risk model; wire EventBridge triggers.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S3 Object Lock + audit of flagged/contacted/why; smoke test.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702552" y="4087368"/>
            <a:ext cx="4718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Deploy:  </a:t>
            </a:r>
            <a:pPr algn="l" indent="0" marL="0">
              <a:lnSpc>
                <a:spcPct val="100000"/>
              </a:lnSpc>
              <a:buNone/>
            </a:pPr>
            <a:r>
              <a:rPr lang="en-US" sz="95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Quick-deploy + gateway; connect SIS/LMS, configure the approved risk model and advisor-approval gate, wire EventBridge triggers.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702552" y="4572000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runbooks/agent-deploy/05-student-success-engagement.md  ·  docs/AWS-DEPLOYMENT-REFERENCE.md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713232" y="5230368"/>
            <a:ext cx="10771632" cy="841248"/>
          </a:xfrm>
          <a:prstGeom prst="rect">
            <a:avLst/>
          </a:prstGeom>
          <a:solidFill>
            <a:srgbClr val="1B2530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78992" y="5230368"/>
            <a:ext cx="10058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takeaway:  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isn't the product — the governed platform that makes it FERPA/ADA-defensible and deployable on AWS is.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EDU Agent 05 — Student Success &amp; Proactive Engagement</dc:title>
  <dc:subject>PptxGenJS Presentation</dc:subject>
  <dc:creator>EDU AI Agent Suite</dc:creator>
  <cp:lastModifiedBy>EDU AI Agent Suite</cp:lastModifiedBy>
  <cp:revision>1</cp:revision>
  <dcterms:created xsi:type="dcterms:W3CDTF">2026-06-24T03:49:11Z</dcterms:created>
  <dcterms:modified xsi:type="dcterms:W3CDTF">2026-06-24T03:49:11Z</dcterms:modified>
</cp:coreProperties>
</file>