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9"/>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room: you are the CIO / Director of Infrastructure, and your job tonight is to tell the board honestly what this is and is not. Lead with the verdict so no one waits for the punchline: this is a governed accelerator that compresses a systems-integrator-led build, NOT a shrink-wrapped certified product you switch on. The whole deck earns that one sentence — strengths first, then the shortfalls candidly, then a phased path. The decision you will ask for at the end is approval to fund a Phase-1 pilot on the lowest-risk agents, not a suite-wide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you would put on screen if you only had one. Three columns: what you buy, what you still build, why the trade is right. The honest tension you are managing: leadership hears 'AI agents' and assumes a SaaS subscription. Reset that expectation here, calmly. The value is real but it is acceleration of an SI build, not elimination of one. If a board member pushes 'so it's not finished?' — agree plainly: correct, and that is normal and expected for governed AI touching student records in 2026. Land on the recommendation bar: fund a pilot, prove the controls in production, expand 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ladder to set honest expectations. The suite is genuinely at Demonstrated and Deployable-by-design: the code runs, the tests pass, the IaC validates. The bright line is rung 4 — Production-ready — which is explicitly the engagement, not a day-one deliverable. Don't let anyone read 'Deployable' as 'in production.' Right column is the candor: real assets on top, the 'starting point' caveats on the bottom. If asked why connectors are stubs — that is deliberate: live connectors must be validated against the institution's own SIS/LMS and gated by a signed pilot SOW. The 80 passing tests are your strongest credibility point: governance is in code and tested, not a slideware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gets your CISO and privacy officer to lean in. The key message: the controls live in the gateway, OUTSIDE the model. A prompt injection cannot disable deny-by-default, the HITL gate, or the audit trail. Six control cards plus the regulatory-stack strip. Emphasize the intersection rule — the agent can never do more than the human on whose behalf it acts — and that the HITL gate fails closed: if the reviewer queue backs up, consequential actions pause, they do not silently execute. Close on the bright line: the agent never decides grades, admissions, discipline, financial aid, special-ed eligibility, or placement. That is the sentence that lets academic leadership say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slide. Putting the shortfalls on screen yourself is what makes the rest of the deck credible — a board trusts the executive who names the gaps before they're asked. Group the message into three buckets: (1) infrastructure not-yet-in-IaC (edge, alarms, endpoints) — real engineering work, well-understood, estimable; (2) AgentCore + connectors are reference placeholders that your SI wires to your systems; (3) the things only YOU can finish — no cert, cost/accuracy validation, reviewer UI. Handling pushback: 'isn't this a lot?' Yes — and it is the same list for ANY governed AI build; the difference is here it is written down and scoped, not discovered mid-project. Every one of these is on the backlog slide with an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questions a diligent board should make you answer before signing. Present them as YOUR checklist, not the vendor's — it signals you are driving the evaluation. The two highest-friction items in practice: IdP federation (most institutions' directories don't natively express guardian relationships or age-of-majority, which FERPA rights-transfer depends on) and accessibility conformance against the looming ADA Title II deadlines. If a board member asks 'what's the one thing most likely to slow us down?' — it's IdP claim mapping. Flag it now so it isn't a surprise in month two. Cost: stress that you must model the Bedrock run-rate, not just the build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centerpiece — walk it slowly, it is what leadership remembers. Three owners across the top: User (the staff operating the agents), Customer (your institution's IT/security/data/leadership), and Developer/SI (whoever deploys and maintains). Colour encodes the owner: teal = SI, navy = institution, slate = user. A filled cell means Responsible/Accountable; a pale cell means Consulted/Informed. Part 1 covers platform, identity, security, and data. The two rows to dwell on: Identity &amp; access is institution-owned (your IdP, your role policy) — this surprises people who assume the vendor handles it. And Connectors &amp; data is shared R/A — both must act. The takeaway for the board: every 'Customer R/A' cell is an accountability you cannot delegate to the SI. That is the readiness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is where the institution's accountability is heaviest — model governance, accessibility, and the human-in-the-loop gate. HITL operations is the one row where the User column lights up R/A: the staff who actually approve consequential actions are accountable for those approvals. The institution designates and rosters them; the SI cannot do this for you. Accessibility: stress the WCAG 2.2 AA gate and that final VPAT acceptance is yours. Model &amp; guardrails: your legal and student-services leadership must approve Guardrail policy, especially for K-12 / under-13 populations. If asked 'can't the SI just own all of this?' — no. FERPA accountability, what counts as consequential, and reviewer staffing are institution responsibilities by law and by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3 closes the matrix on day-to-day operations, change, and people. The throughline of all three matrix slides: the SI builds and operates the technical controls; the institution makes every legal determination and owns the compliance program. Incident response is the row to emphasize for the board: the SI contains and produces evidence and notifies you fast, but the breach-notification decision — the one with legal exposure — is yours. Change management: nothing reaches production without your sign-off, which is exactly the control a CISO wants. Training &amp; AUP is User + Customer R/A: your people must understand the bright line, because the agent's safety depends on humans owning consequential decisions. After this slide, the board should be able to answer 'who is responsible for what' without ambiguity.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shortfalls slide turned into a plan — same items, now with an owner and a place in the sequence. It answers the board's natural next question: 'fine, but what does finishing it actually take?' Roughly three streams: infrastructure-as-code (edge, observability, KB ingestion) is well-understood SI work; integration (live connectors, reviewer UI) is the bulk of the engagement and is gated on your systems and validation; and assurance (axe-core, conformance, pen test, production-readiness review) converts 'Deployable' to 'Production-ready.' Cedar/OPA export is the credibility extra — it lets your own security team review the authorization model in a standard policy language. Use this slide to make the engagement feel finite and estimable, not open-ended.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adoption path de-risks the decision: you are not asking the board to bet the institution on eight agents at once. You land with the four lowest-decision-risk, highest-visibility agents — Concierge, Educator Copilot, Document &amp; Accessibility, Service Desk — and prove the gateway, audit, and HITL gate on real users. Only after Phase 1 clears its gate do you add the higher-governance agents (Assessment, Student Success, Pathway Navigator) that touch learning outcomes directly. The single best first deployment is Agent 01, the Concierge: most visible to the most users, lowest risk, easiest to measure. Stress the phase gates: advancement is earned with evidence, not scheduled by date. That is the discipline that protects the institution and gives the board a clean off-ramp at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decisively. Two columns — Go and No-Go — so the board sees this is a conditional yes with clear criteria, not a hand-wave. GO if leadership can commit to: a funded SI engagement, owning the compliance program/IdP/reviewers, a phased pilot, budget for conformance + pen test, and validating Bedrock cost/accuracy. NO-GO or wait if any of the disqualifiers hold — especially expecting a turnkey product or expecting the vendor to take FERPA accountability. Then deliver the one-line recommendation verbatim and ask for the specific decision: approval to fund a Phase-1 pilot on Agents 01/03/07/08. If the board hesitates, the smallest viable yes is a single-agent (01 Concierge) pilot — keep that in your pocket as the fallback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slideLayout" Target="../slideLayouts/slideLayout1.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83A"/>
        </a:solidFill>
      </p:bgPr>
    </p:bg>
    <p:spTree>
      <p:nvGrpSpPr>
        <p:cNvPr id="1" name=""/>
        <p:cNvGrpSpPr/>
        <p:nvPr/>
      </p:nvGrpSpPr>
      <p:grpSpPr>
        <a:xfrm>
          <a:off x="0" y="0"/>
          <a:ext cx="0" cy="0"/>
          <a:chOff x="0" y="0"/>
          <a:chExt cx="0" cy="0"/>
        </a:xfrm>
      </p:grpSpPr>
      <p:sp>
        <p:nvSpPr>
          <p:cNvPr id="2" name="Shape 0"/>
          <p:cNvSpPr/>
          <p:nvPr/>
        </p:nvSpPr>
        <p:spPr>
          <a:xfrm>
            <a:off x="9509760" y="-1280160"/>
            <a:ext cx="4206240" cy="4206240"/>
          </a:xfrm>
          <a:prstGeom prst="ellipse">
            <a:avLst/>
          </a:prstGeom>
          <a:solidFill>
            <a:srgbClr val="232C57"/>
          </a:solidFill>
          <a:ln/>
        </p:spPr>
      </p:sp>
      <p:sp>
        <p:nvSpPr>
          <p:cNvPr id="3" name="Shape 1"/>
          <p:cNvSpPr/>
          <p:nvPr/>
        </p:nvSpPr>
        <p:spPr>
          <a:xfrm>
            <a:off x="10607040" y="4206240"/>
            <a:ext cx="3108960" cy="3108960"/>
          </a:xfrm>
          <a:prstGeom prst="ellipse">
            <a:avLst/>
          </a:prstGeom>
          <a:solidFill>
            <a:srgbClr val="1E2761"/>
          </a:solidFill>
          <a:ln/>
        </p:spPr>
      </p:sp>
      <p:sp>
        <p:nvSpPr>
          <p:cNvPr id="4" name="Shape 2"/>
          <p:cNvSpPr/>
          <p:nvPr/>
        </p:nvSpPr>
        <p:spPr>
          <a:xfrm>
            <a:off x="640080" y="603504"/>
            <a:ext cx="841248" cy="841248"/>
          </a:xfrm>
          <a:prstGeom prst="ellipse">
            <a:avLst/>
          </a:prstGeom>
          <a:solidFill>
            <a:srgbClr val="00A896"/>
          </a:solidFill>
          <a:ln/>
        </p:spPr>
      </p:sp>
      <p:pic>
        <p:nvPicPr>
          <p:cNvPr id="5" name="Image 0" descr="preencoded.png">    </p:cNvPr>
          <p:cNvPicPr>
            <a:picLocks noChangeAspect="1"/>
          </p:cNvPicPr>
          <p:nvPr/>
        </p:nvPicPr>
        <p:blipFill>
          <a:blip r:embed="rId1"/>
          <a:stretch>
            <a:fillRect/>
          </a:stretch>
        </p:blipFill>
        <p:spPr>
          <a:xfrm>
            <a:off x="858804" y="822228"/>
            <a:ext cx="403799" cy="403799"/>
          </a:xfrm>
          <a:prstGeom prst="rect">
            <a:avLst/>
          </a:prstGeom>
        </p:spPr>
      </p:pic>
      <p:sp>
        <p:nvSpPr>
          <p:cNvPr id="6" name="Text 3"/>
          <p:cNvSpPr/>
          <p:nvPr/>
        </p:nvSpPr>
        <p:spPr>
          <a:xfrm>
            <a:off x="1627632" y="676656"/>
            <a:ext cx="7315200" cy="365760"/>
          </a:xfrm>
          <a:prstGeom prst="rect">
            <a:avLst/>
          </a:prstGeom>
          <a:noFill/>
          <a:ln/>
        </p:spPr>
        <p:txBody>
          <a:bodyPr wrap="square" lIns="0" tIns="0" rIns="0" bIns="0" rtlCol="0" anchor="ctr"/>
          <a:lstStyle/>
          <a:p>
            <a:pPr indent="0" marL="0">
              <a:buNone/>
            </a:pPr>
            <a:r>
              <a:rPr lang="en-US" sz="1500" b="1" spc="300" kern="0" dirty="0">
                <a:solidFill>
                  <a:srgbClr val="7FE3D2"/>
                </a:solidFill>
                <a:latin typeface="Calibri" pitchFamily="34" charset="0"/>
                <a:ea typeface="Calibri" pitchFamily="34" charset="-122"/>
                <a:cs typeface="Calibri" pitchFamily="34" charset="-120"/>
              </a:rPr>
              <a:t>EDU AI AGENT SUITE</a:t>
            </a:r>
            <a:endParaRPr lang="en-US" sz="1500" dirty="0"/>
          </a:p>
        </p:txBody>
      </p:sp>
      <p:sp>
        <p:nvSpPr>
          <p:cNvPr id="7" name="Text 4"/>
          <p:cNvSpPr/>
          <p:nvPr/>
        </p:nvSpPr>
        <p:spPr>
          <a:xfrm>
            <a:off x="640080" y="1874520"/>
            <a:ext cx="8412480" cy="1828800"/>
          </a:xfrm>
          <a:prstGeom prst="rect">
            <a:avLst/>
          </a:prstGeom>
          <a:noFill/>
          <a:ln/>
        </p:spPr>
        <p:txBody>
          <a:bodyPr wrap="square" lIns="0" tIns="0" rIns="0" bIns="0" rtlCol="0" anchor="ctr"/>
          <a:lstStyle/>
          <a:p>
            <a:pPr indent="0" marL="0">
              <a:lnSpc>
                <a:spcPct val="98000"/>
              </a:lnSpc>
              <a:buNone/>
            </a:pPr>
            <a:r>
              <a:rPr lang="en-US" sz="5000" b="1" dirty="0">
                <a:solidFill>
                  <a:srgbClr val="FFFFFF"/>
                </a:solidFill>
                <a:latin typeface="Cambria" pitchFamily="34" charset="0"/>
                <a:ea typeface="Cambria" pitchFamily="34" charset="-122"/>
                <a:cs typeface="Cambria" pitchFamily="34" charset="-120"/>
              </a:rPr>
              <a:t>Infrastructure &amp;</a:t>
            </a:r>
            <a:endParaRPr lang="en-US" sz="5000" dirty="0"/>
          </a:p>
          <a:p>
            <a:pPr indent="0" marL="0">
              <a:lnSpc>
                <a:spcPct val="98000"/>
              </a:lnSpc>
              <a:buNone/>
            </a:pPr>
            <a:r>
              <a:rPr lang="en-US" sz="5000" b="1" dirty="0">
                <a:solidFill>
                  <a:srgbClr val="FFFFFF"/>
                </a:solidFill>
                <a:latin typeface="Cambria" pitchFamily="34" charset="0"/>
                <a:ea typeface="Cambria" pitchFamily="34" charset="-122"/>
                <a:cs typeface="Cambria" pitchFamily="34" charset="-120"/>
              </a:rPr>
              <a:t>Adoption Review</a:t>
            </a:r>
            <a:endParaRPr lang="en-US" sz="5000" dirty="0"/>
          </a:p>
        </p:txBody>
      </p:sp>
      <p:sp>
        <p:nvSpPr>
          <p:cNvPr id="8" name="Text 5"/>
          <p:cNvSpPr/>
          <p:nvPr/>
        </p:nvSpPr>
        <p:spPr>
          <a:xfrm>
            <a:off x="658368" y="3703320"/>
            <a:ext cx="9144000" cy="457200"/>
          </a:xfrm>
          <a:prstGeom prst="rect">
            <a:avLst/>
          </a:prstGeom>
          <a:noFill/>
          <a:ln/>
        </p:spPr>
        <p:txBody>
          <a:bodyPr wrap="square" lIns="0" tIns="0" rIns="0" bIns="0" rtlCol="0" anchor="ctr"/>
          <a:lstStyle/>
          <a:p>
            <a:pPr indent="0" marL="0">
              <a:buNone/>
            </a:pPr>
            <a:r>
              <a:rPr lang="en-US" sz="2100" i="1" dirty="0">
                <a:solidFill>
                  <a:srgbClr val="CADCFC"/>
                </a:solidFill>
                <a:latin typeface="Cambria" pitchFamily="34" charset="0"/>
                <a:ea typeface="Cambria" pitchFamily="34" charset="-122"/>
                <a:cs typeface="Cambria" pitchFamily="34" charset="-120"/>
              </a:rPr>
              <a:t>A CIO / Director of Infrastructure perspective</a:t>
            </a:r>
            <a:endParaRPr lang="en-US" sz="2100" dirty="0"/>
          </a:p>
        </p:txBody>
      </p:sp>
      <p:sp>
        <p:nvSpPr>
          <p:cNvPr id="9" name="Shape 6"/>
          <p:cNvSpPr/>
          <p:nvPr/>
        </p:nvSpPr>
        <p:spPr>
          <a:xfrm>
            <a:off x="640080" y="4709160"/>
            <a:ext cx="10881360" cy="1097280"/>
          </a:xfrm>
          <a:prstGeom prst="roundRect">
            <a:avLst>
              <a:gd name="adj" fmla="val 6667"/>
            </a:avLst>
          </a:prstGeom>
          <a:solidFill>
            <a:srgbClr val="232C57"/>
          </a:solidFill>
          <a:ln w="12700">
            <a:solidFill>
              <a:srgbClr val="00A896"/>
            </a:solidFill>
            <a:prstDash val="solid"/>
          </a:ln>
        </p:spPr>
      </p:sp>
      <p:sp>
        <p:nvSpPr>
          <p:cNvPr id="10" name="Text 7"/>
          <p:cNvSpPr/>
          <p:nvPr/>
        </p:nvSpPr>
        <p:spPr>
          <a:xfrm>
            <a:off x="914400" y="4882896"/>
            <a:ext cx="10332720" cy="768096"/>
          </a:xfrm>
          <a:prstGeom prst="rect">
            <a:avLst/>
          </a:prstGeom>
          <a:noFill/>
          <a:ln/>
        </p:spPr>
        <p:txBody>
          <a:bodyPr wrap="square" lIns="0" tIns="0" rIns="0" bIns="0" rtlCol="0" anchor="ctr"/>
          <a:lstStyle/>
          <a:p>
            <a:pPr indent="0" marL="0">
              <a:buNone/>
            </a:pPr>
            <a:r>
              <a:rPr lang="en-US" sz="1200" b="1" spc="100" kern="0" dirty="0">
                <a:solidFill>
                  <a:srgbClr val="7FE3D2"/>
                </a:solidFill>
                <a:latin typeface="Calibri" pitchFamily="34" charset="0"/>
                <a:ea typeface="Calibri" pitchFamily="34" charset="-122"/>
                <a:cs typeface="Calibri" pitchFamily="34" charset="-120"/>
              </a:rPr>
              <a:t>THE VERDICT, UP FRONT   </a:t>
            </a:r>
            <a:pPr indent="0" marL="0">
              <a:buNone/>
            </a:pPr>
            <a:r>
              <a:rPr lang="en-US" sz="1450" dirty="0">
                <a:solidFill>
                  <a:srgbClr val="FFFFFF"/>
                </a:solidFill>
                <a:latin typeface="Calibri" pitchFamily="34" charset="0"/>
                <a:ea typeface="Calibri" pitchFamily="34" charset="-122"/>
                <a:cs typeface="Calibri" pitchFamily="34" charset="-120"/>
              </a:rPr>
              <a:t>Adopt as a governed accelerator to compress an SI-led build — not as a turnkey, certified product.</a:t>
            </a:r>
            <a:endParaRPr lang="en-US" sz="1200" dirty="0"/>
          </a:p>
        </p:txBody>
      </p:sp>
      <p:sp>
        <p:nvSpPr>
          <p:cNvPr id="11" name="Text 8"/>
          <p:cNvSpPr/>
          <p:nvPr/>
        </p:nvSpPr>
        <p:spPr>
          <a:xfrm>
            <a:off x="658368" y="6053328"/>
            <a:ext cx="10789920" cy="365760"/>
          </a:xfrm>
          <a:prstGeom prst="rect">
            <a:avLst/>
          </a:prstGeom>
          <a:noFill/>
          <a:ln/>
        </p:spPr>
        <p:txBody>
          <a:bodyPr wrap="square" lIns="0" tIns="0" rIns="0" bIns="0" rtlCol="0" anchor="ctr"/>
          <a:lstStyle/>
          <a:p>
            <a:pPr indent="0" marL="0">
              <a:buNone/>
            </a:pPr>
            <a:r>
              <a:rPr lang="en-US" sz="1250" dirty="0">
                <a:solidFill>
                  <a:srgbClr val="5A6485"/>
                </a:solidFill>
                <a:latin typeface="Calibri" pitchFamily="34" charset="0"/>
                <a:ea typeface="Calibri" pitchFamily="34" charset="-122"/>
                <a:cs typeface="Calibri" pitchFamily="34" charset="-120"/>
              </a:rPr>
              <a:t>8 governed agents · AWS-native · FERPA / COPPA / IDEA / ADA Title II / NIST AI RMF</a:t>
            </a:r>
            <a:endParaRPr lang="en-US" sz="1250" dirty="0"/>
          </a:p>
        </p:txBody>
      </p:sp>
      <p:sp>
        <p:nvSpPr>
          <p:cNvPr id="12" name="TextBox 11"/>
          <p:cNvSpPr txBox="1"/>
          <p:nvPr/>
        </p:nvSpPr>
        <p:spPr>
          <a:xfrm>
            <a:off x="365760" y="6291072"/>
            <a:ext cx="11460480" cy="457200"/>
          </a:xfrm>
          <a:prstGeom prst="rect">
            <a:avLst/>
          </a:prstGeom>
          <a:noFill/>
        </p:spPr>
        <p:txBody>
          <a:bodyPr wrap="square" tIns="0" bIns="0">
            <a:spAutoFit/>
          </a:bodyPr>
          <a:lstStyle/>
          <a:p>
            <a:pPr algn="l"/>
            <a:r>
              <a:rPr sz="800" i="1">
                <a:solidFill>
                  <a:srgbClr val="879296"/>
                </a:solidFill>
              </a:rPr>
              <a:t>Reference accelerator — not an AWS service, not AWS-supported software, not a compliance certification, and not production-ready for regulated data without customer-specific engineering, testing, authorization, and operational ownership.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183A"/>
        </a:solidFill>
      </p:bgPr>
    </p:bg>
    <p:spTree>
      <p:nvGrpSpPr>
        <p:cNvPr id="1" name=""/>
        <p:cNvGrpSpPr/>
        <p:nvPr/>
      </p:nvGrpSpPr>
      <p:grpSpPr>
        <a:xfrm>
          <a:off x="0" y="0"/>
          <a:ext cx="0" cy="0"/>
          <a:chOff x="0" y="0"/>
          <a:chExt cx="0" cy="0"/>
        </a:xfrm>
      </p:grpSpPr>
      <p:sp>
        <p:nvSpPr>
          <p:cNvPr id="2" name="Text 0"/>
          <p:cNvSpPr/>
          <p:nvPr/>
        </p:nvSpPr>
        <p:spPr>
          <a:xfrm>
            <a:off x="640080" y="457200"/>
            <a:ext cx="9144000" cy="365760"/>
          </a:xfrm>
          <a:prstGeom prst="rect">
            <a:avLst/>
          </a:prstGeom>
          <a:noFill/>
          <a:ln/>
        </p:spPr>
        <p:txBody>
          <a:bodyPr wrap="square" lIns="0" tIns="0" rIns="0" bIns="0" rtlCol="0" anchor="ctr"/>
          <a:lstStyle/>
          <a:p>
            <a:pPr indent="0" marL="0">
              <a:buNone/>
            </a:pPr>
            <a:r>
              <a:rPr lang="en-US" sz="1300" b="1" spc="200" kern="0" dirty="0">
                <a:solidFill>
                  <a:srgbClr val="00A896"/>
                </a:solidFill>
                <a:latin typeface="Calibri" pitchFamily="34" charset="0"/>
                <a:ea typeface="Calibri" pitchFamily="34" charset="-122"/>
                <a:cs typeface="Calibri" pitchFamily="34" charset="-120"/>
              </a:rPr>
              <a:t>BOTTOM LINE UP FRONT</a:t>
            </a:r>
            <a:endParaRPr lang="en-US" sz="1300" dirty="0"/>
          </a:p>
        </p:txBody>
      </p:sp>
      <p:sp>
        <p:nvSpPr>
          <p:cNvPr id="3" name="Text 1"/>
          <p:cNvSpPr/>
          <p:nvPr/>
        </p:nvSpPr>
        <p:spPr>
          <a:xfrm>
            <a:off x="640080" y="786384"/>
            <a:ext cx="10972800" cy="73152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Adopt it as a governed accelerator — not a finished product</a:t>
            </a:r>
            <a:endParaRPr lang="en-US" sz="2900" dirty="0"/>
          </a:p>
        </p:txBody>
      </p:sp>
      <p:sp>
        <p:nvSpPr>
          <p:cNvPr id="4" name="Shape 2"/>
          <p:cNvSpPr/>
          <p:nvPr/>
        </p:nvSpPr>
        <p:spPr>
          <a:xfrm>
            <a:off x="640080" y="1783080"/>
            <a:ext cx="3529584" cy="2971800"/>
          </a:xfrm>
          <a:prstGeom prst="roundRect">
            <a:avLst>
              <a:gd name="adj" fmla="val 3077"/>
            </a:avLst>
          </a:prstGeom>
          <a:solidFill>
            <a:srgbClr val="232C57"/>
          </a:solidFill>
          <a:ln/>
          <a:effectLst>
            <a:outerShdw sx="100000" sy="100000" kx="0" ky="0" algn="bl" rotWithShape="0" blurRad="88900" dist="38100" dir="5400000">
              <a:srgbClr val="000000">
                <a:alpha val="16000"/>
              </a:srgbClr>
            </a:outerShdw>
          </a:effectLst>
        </p:spPr>
      </p:sp>
      <p:sp>
        <p:nvSpPr>
          <p:cNvPr id="5" name="Shape 3"/>
          <p:cNvSpPr/>
          <p:nvPr/>
        </p:nvSpPr>
        <p:spPr>
          <a:xfrm>
            <a:off x="914400" y="2075688"/>
            <a:ext cx="713232" cy="713232"/>
          </a:xfrm>
          <a:prstGeom prst="ellipse">
            <a:avLst/>
          </a:prstGeom>
          <a:solidFill>
            <a:srgbClr val="00A896"/>
          </a:solidFill>
          <a:ln/>
        </p:spPr>
      </p:sp>
      <p:pic>
        <p:nvPicPr>
          <p:cNvPr id="6" name="Image 0" descr="preencoded.png">    </p:cNvPr>
          <p:cNvPicPr>
            <a:picLocks noChangeAspect="1"/>
          </p:cNvPicPr>
          <p:nvPr/>
        </p:nvPicPr>
        <p:blipFill>
          <a:blip r:embed="rId1"/>
          <a:stretch>
            <a:fillRect/>
          </a:stretch>
        </p:blipFill>
        <p:spPr>
          <a:xfrm>
            <a:off x="1099840" y="2261128"/>
            <a:ext cx="342351" cy="342351"/>
          </a:xfrm>
          <a:prstGeom prst="rect">
            <a:avLst/>
          </a:prstGeom>
        </p:spPr>
      </p:pic>
      <p:sp>
        <p:nvSpPr>
          <p:cNvPr id="7" name="Text 4"/>
          <p:cNvSpPr/>
          <p:nvPr/>
        </p:nvSpPr>
        <p:spPr>
          <a:xfrm>
            <a:off x="914400" y="2898648"/>
            <a:ext cx="2980944" cy="45720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What you are buying</a:t>
            </a:r>
            <a:endParaRPr lang="en-US" sz="1650" dirty="0"/>
          </a:p>
        </p:txBody>
      </p:sp>
      <p:sp>
        <p:nvSpPr>
          <p:cNvPr id="8" name="Text 5"/>
          <p:cNvSpPr/>
          <p:nvPr/>
        </p:nvSpPr>
        <p:spPr>
          <a:xfrm>
            <a:off x="914400" y="3355848"/>
            <a:ext cx="2980944" cy="1234440"/>
          </a:xfrm>
          <a:prstGeom prst="rect">
            <a:avLst/>
          </a:prstGeom>
          <a:noFill/>
          <a:ln/>
        </p:spPr>
        <p:txBody>
          <a:bodyPr wrap="square" lIns="0" tIns="0" rIns="0" bIns="0" rtlCol="0" anchor="ctr"/>
          <a:lstStyle/>
          <a:p>
            <a:pPr indent="0" marL="0">
              <a:lnSpc>
                <a:spcPct val="104000"/>
              </a:lnSpc>
              <a:buNone/>
            </a:pPr>
            <a:r>
              <a:rPr lang="en-US" sz="1200" dirty="0">
                <a:solidFill>
                  <a:srgbClr val="CADCFC"/>
                </a:solidFill>
                <a:latin typeface="Calibri" pitchFamily="34" charset="0"/>
                <a:ea typeface="Calibri" pitchFamily="34" charset="-122"/>
                <a:cs typeface="Calibri" pitchFamily="34" charset="-120"/>
              </a:rPr>
              <a:t>A governance spine in code + tests, AWS deployment runbooks, and a six-layer reference architecture. It hands an SI a compliant, auditable starting point across 8 education workflows.</a:t>
            </a:r>
            <a:endParaRPr lang="en-US" sz="1200" dirty="0"/>
          </a:p>
        </p:txBody>
      </p:sp>
      <p:sp>
        <p:nvSpPr>
          <p:cNvPr id="9" name="Shape 6"/>
          <p:cNvSpPr/>
          <p:nvPr/>
        </p:nvSpPr>
        <p:spPr>
          <a:xfrm>
            <a:off x="4416552" y="1783080"/>
            <a:ext cx="3529584" cy="2971800"/>
          </a:xfrm>
          <a:prstGeom prst="roundRect">
            <a:avLst>
              <a:gd name="adj" fmla="val 3077"/>
            </a:avLst>
          </a:prstGeom>
          <a:solidFill>
            <a:srgbClr val="232C57"/>
          </a:solidFill>
          <a:ln/>
          <a:effectLst>
            <a:outerShdw sx="100000" sy="100000" kx="0" ky="0" algn="bl" rotWithShape="0" blurRad="88900" dist="38100" dir="5400000">
              <a:srgbClr val="000000">
                <a:alpha val="16000"/>
              </a:srgbClr>
            </a:outerShdw>
          </a:effectLst>
        </p:spPr>
      </p:sp>
      <p:sp>
        <p:nvSpPr>
          <p:cNvPr id="10" name="Shape 7"/>
          <p:cNvSpPr/>
          <p:nvPr/>
        </p:nvSpPr>
        <p:spPr>
          <a:xfrm>
            <a:off x="4690872" y="2075688"/>
            <a:ext cx="713232" cy="713232"/>
          </a:xfrm>
          <a:prstGeom prst="ellipse">
            <a:avLst/>
          </a:prstGeom>
          <a:solidFill>
            <a:srgbClr val="E8A33D"/>
          </a:solidFill>
          <a:ln/>
        </p:spPr>
      </p:sp>
      <p:pic>
        <p:nvPicPr>
          <p:cNvPr id="11" name="Image 1" descr="preencoded.png">    </p:cNvPr>
          <p:cNvPicPr>
            <a:picLocks noChangeAspect="1"/>
          </p:cNvPicPr>
          <p:nvPr/>
        </p:nvPicPr>
        <p:blipFill>
          <a:blip r:embed="rId2"/>
          <a:stretch>
            <a:fillRect/>
          </a:stretch>
        </p:blipFill>
        <p:spPr>
          <a:xfrm>
            <a:off x="4876312" y="2261128"/>
            <a:ext cx="342351" cy="342351"/>
          </a:xfrm>
          <a:prstGeom prst="rect">
            <a:avLst/>
          </a:prstGeom>
        </p:spPr>
      </p:pic>
      <p:sp>
        <p:nvSpPr>
          <p:cNvPr id="12" name="Text 8"/>
          <p:cNvSpPr/>
          <p:nvPr/>
        </p:nvSpPr>
        <p:spPr>
          <a:xfrm>
            <a:off x="4690872" y="2898648"/>
            <a:ext cx="2980944" cy="45720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What you still build</a:t>
            </a:r>
            <a:endParaRPr lang="en-US" sz="1650" dirty="0"/>
          </a:p>
        </p:txBody>
      </p:sp>
      <p:sp>
        <p:nvSpPr>
          <p:cNvPr id="13" name="Text 9"/>
          <p:cNvSpPr/>
          <p:nvPr/>
        </p:nvSpPr>
        <p:spPr>
          <a:xfrm>
            <a:off x="4690872" y="3355848"/>
            <a:ext cx="2980944" cy="1234440"/>
          </a:xfrm>
          <a:prstGeom prst="rect">
            <a:avLst/>
          </a:prstGeom>
          <a:noFill/>
          <a:ln/>
        </p:spPr>
        <p:txBody>
          <a:bodyPr wrap="square" lIns="0" tIns="0" rIns="0" bIns="0" rtlCol="0" anchor="ctr"/>
          <a:lstStyle/>
          <a:p>
            <a:pPr indent="0" marL="0">
              <a:lnSpc>
                <a:spcPct val="104000"/>
              </a:lnSpc>
              <a:buNone/>
            </a:pPr>
            <a:r>
              <a:rPr lang="en-US" sz="1200" dirty="0">
                <a:solidFill>
                  <a:srgbClr val="CADCFC"/>
                </a:solidFill>
                <a:latin typeface="Calibri" pitchFamily="34" charset="0"/>
                <a:ea typeface="Calibri" pitchFamily="34" charset="-122"/>
                <a:cs typeface="Calibri" pitchFamily="34" charset="-120"/>
              </a:rPr>
              <a:t>Edge &amp; observability IaC, live SIS/LMS/ERP/ITSM connectors, the reviewer UI, IdP federation, accessibility conformance, and a penetration test. This is an engagement, not an install.</a:t>
            </a:r>
            <a:endParaRPr lang="en-US" sz="1200" dirty="0"/>
          </a:p>
        </p:txBody>
      </p:sp>
      <p:sp>
        <p:nvSpPr>
          <p:cNvPr id="14" name="Shape 10"/>
          <p:cNvSpPr/>
          <p:nvPr/>
        </p:nvSpPr>
        <p:spPr>
          <a:xfrm>
            <a:off x="8193024" y="1783080"/>
            <a:ext cx="3529584" cy="2971800"/>
          </a:xfrm>
          <a:prstGeom prst="roundRect">
            <a:avLst>
              <a:gd name="adj" fmla="val 3077"/>
            </a:avLst>
          </a:prstGeom>
          <a:solidFill>
            <a:srgbClr val="232C57"/>
          </a:solidFill>
          <a:ln/>
          <a:effectLst>
            <a:outerShdw sx="100000" sy="100000" kx="0" ky="0" algn="bl" rotWithShape="0" blurRad="88900" dist="38100" dir="5400000">
              <a:srgbClr val="000000">
                <a:alpha val="16000"/>
              </a:srgbClr>
            </a:outerShdw>
          </a:effectLst>
        </p:spPr>
      </p:sp>
      <p:sp>
        <p:nvSpPr>
          <p:cNvPr id="15" name="Shape 11"/>
          <p:cNvSpPr/>
          <p:nvPr/>
        </p:nvSpPr>
        <p:spPr>
          <a:xfrm>
            <a:off x="8467344" y="2075688"/>
            <a:ext cx="713232" cy="713232"/>
          </a:xfrm>
          <a:prstGeom prst="ellipse">
            <a:avLst/>
          </a:prstGeom>
          <a:solidFill>
            <a:srgbClr val="CADCFC"/>
          </a:solidFill>
          <a:ln/>
        </p:spPr>
      </p:sp>
      <p:pic>
        <p:nvPicPr>
          <p:cNvPr id="16" name="Image 2" descr="preencoded.png">    </p:cNvPr>
          <p:cNvPicPr>
            <a:picLocks noChangeAspect="1"/>
          </p:cNvPicPr>
          <p:nvPr/>
        </p:nvPicPr>
        <p:blipFill>
          <a:blip r:embed="rId3"/>
          <a:stretch>
            <a:fillRect/>
          </a:stretch>
        </p:blipFill>
        <p:spPr>
          <a:xfrm>
            <a:off x="8652784" y="2261128"/>
            <a:ext cx="342351" cy="342351"/>
          </a:xfrm>
          <a:prstGeom prst="rect">
            <a:avLst/>
          </a:prstGeom>
        </p:spPr>
      </p:pic>
      <p:sp>
        <p:nvSpPr>
          <p:cNvPr id="17" name="Text 12"/>
          <p:cNvSpPr/>
          <p:nvPr/>
        </p:nvSpPr>
        <p:spPr>
          <a:xfrm>
            <a:off x="8467344" y="2898648"/>
            <a:ext cx="2980944" cy="457200"/>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Why that is the right buy</a:t>
            </a:r>
            <a:endParaRPr lang="en-US" sz="1650" dirty="0"/>
          </a:p>
        </p:txBody>
      </p:sp>
      <p:sp>
        <p:nvSpPr>
          <p:cNvPr id="18" name="Text 13"/>
          <p:cNvSpPr/>
          <p:nvPr/>
        </p:nvSpPr>
        <p:spPr>
          <a:xfrm>
            <a:off x="8467344" y="3355848"/>
            <a:ext cx="2980944" cy="1234440"/>
          </a:xfrm>
          <a:prstGeom prst="rect">
            <a:avLst/>
          </a:prstGeom>
          <a:noFill/>
          <a:ln/>
        </p:spPr>
        <p:txBody>
          <a:bodyPr wrap="square" lIns="0" tIns="0" rIns="0" bIns="0" rtlCol="0" anchor="ctr"/>
          <a:lstStyle/>
          <a:p>
            <a:pPr indent="0" marL="0">
              <a:lnSpc>
                <a:spcPct val="104000"/>
              </a:lnSpc>
              <a:buNone/>
            </a:pPr>
            <a:r>
              <a:rPr lang="en-US" sz="1200" dirty="0">
                <a:solidFill>
                  <a:srgbClr val="CADCFC"/>
                </a:solidFill>
                <a:latin typeface="Calibri" pitchFamily="34" charset="0"/>
                <a:ea typeface="Calibri" pitchFamily="34" charset="-122"/>
                <a:cs typeface="Calibri" pitchFamily="34" charset="-120"/>
              </a:rPr>
              <a:t>It moves the hard, slow, risky part — governed access, HITL, audit, PII masking — off your critical path. You compress months of SI build while keeping FERPA accountability where it belongs: with you.</a:t>
            </a:r>
            <a:endParaRPr lang="en-US" sz="1200" dirty="0"/>
          </a:p>
        </p:txBody>
      </p:sp>
      <p:sp>
        <p:nvSpPr>
          <p:cNvPr id="19" name="Shape 14"/>
          <p:cNvSpPr/>
          <p:nvPr/>
        </p:nvSpPr>
        <p:spPr>
          <a:xfrm>
            <a:off x="640080" y="5029200"/>
            <a:ext cx="10908792" cy="1170432"/>
          </a:xfrm>
          <a:prstGeom prst="roundRect">
            <a:avLst>
              <a:gd name="adj" fmla="val 6250"/>
            </a:avLst>
          </a:prstGeom>
          <a:solidFill>
            <a:srgbClr val="00A896"/>
          </a:solidFill>
          <a:ln/>
        </p:spPr>
      </p:sp>
      <p:sp>
        <p:nvSpPr>
          <p:cNvPr id="20" name="Text 15"/>
          <p:cNvSpPr/>
          <p:nvPr/>
        </p:nvSpPr>
        <p:spPr>
          <a:xfrm>
            <a:off x="960120" y="5138928"/>
            <a:ext cx="10241280" cy="950976"/>
          </a:xfrm>
          <a:prstGeom prst="rect">
            <a:avLst/>
          </a:prstGeom>
          <a:noFill/>
          <a:ln/>
        </p:spPr>
        <p:txBody>
          <a:bodyPr wrap="square" lIns="0" tIns="0" rIns="0" bIns="0" rtlCol="0" anchor="ctr"/>
          <a:lstStyle/>
          <a:p>
            <a:pPr indent="0" marL="0">
              <a:buNone/>
            </a:pPr>
            <a:r>
              <a:rPr lang="en-US" sz="1500" b="1" dirty="0">
                <a:solidFill>
                  <a:srgbClr val="12183A"/>
                </a:solidFill>
                <a:latin typeface="Calibri" pitchFamily="34" charset="0"/>
                <a:ea typeface="Calibri" pitchFamily="34" charset="-122"/>
                <a:cs typeface="Calibri" pitchFamily="34" charset="-120"/>
              </a:rPr>
              <a:t>Recommendation:  </a:t>
            </a:r>
            <a:pPr indent="0" marL="0">
              <a:buNone/>
            </a:pPr>
            <a:r>
              <a:rPr lang="en-US" sz="1350" dirty="0">
                <a:solidFill>
                  <a:srgbClr val="12183A"/>
                </a:solidFill>
                <a:latin typeface="Calibri" pitchFamily="34" charset="0"/>
                <a:ea typeface="Calibri" pitchFamily="34" charset="-122"/>
                <a:cs typeface="Calibri" pitchFamily="34" charset="-120"/>
              </a:rPr>
              <a:t>Approve a funded Phase-1 pilot on the lowest-decision-risk agents. Prove the gateway, audit, and HITL gate in production, then expand. Do not present this to the board as a product you can turn on next week.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10896"/>
            <a:ext cx="9601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WHAT IT ACTUALLY IS</a:t>
            </a:r>
            <a:endParaRPr lang="en-US" sz="1200" dirty="0"/>
          </a:p>
        </p:txBody>
      </p:sp>
      <p:sp>
        <p:nvSpPr>
          <p:cNvPr id="3" name="Text 1"/>
          <p:cNvSpPr/>
          <p:nvPr/>
        </p:nvSpPr>
        <p:spPr>
          <a:xfrm>
            <a:off x="548640" y="566928"/>
            <a:ext cx="1042416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The maturity ladder — positioned honestly</a:t>
            </a:r>
            <a:endParaRPr lang="en-US" sz="2700" dirty="0"/>
          </a:p>
        </p:txBody>
      </p:sp>
      <p:sp>
        <p:nvSpPr>
          <p:cNvPr id="4" name="Text 2"/>
          <p:cNvSpPr/>
          <p:nvPr/>
        </p:nvSpPr>
        <p:spPr>
          <a:xfrm>
            <a:off x="11350447" y="310896"/>
            <a:ext cx="457200" cy="310896"/>
          </a:xfrm>
          <a:prstGeom prst="rect">
            <a:avLst/>
          </a:prstGeom>
          <a:noFill/>
          <a:ln/>
        </p:spPr>
        <p:txBody>
          <a:bodyPr wrap="square" lIns="0" tIns="0" rIns="0" bIns="0" rtlCol="0" anchor="ctr"/>
          <a:lstStyle/>
          <a:p>
            <a:pPr algn="ctr" indent="0" marL="0">
              <a:buNone/>
            </a:pPr>
            <a:r>
              <a:rPr lang="en-US" sz="1200" b="1" dirty="0">
                <a:solidFill>
                  <a:srgbClr val="5A6485"/>
                </a:solidFill>
                <a:latin typeface="Calibri" pitchFamily="34" charset="0"/>
                <a:ea typeface="Calibri" pitchFamily="34" charset="-122"/>
                <a:cs typeface="Calibri" pitchFamily="34" charset="-120"/>
              </a:rPr>
              <a:t>3</a:t>
            </a:r>
            <a:endParaRPr lang="en-US" sz="1200" dirty="0"/>
          </a:p>
        </p:txBody>
      </p:sp>
      <p:sp>
        <p:nvSpPr>
          <p:cNvPr id="5" name="Shape 3"/>
          <p:cNvSpPr/>
          <p:nvPr/>
        </p:nvSpPr>
        <p:spPr>
          <a:xfrm>
            <a:off x="548640" y="1417320"/>
            <a:ext cx="5943600" cy="932688"/>
          </a:xfrm>
          <a:prstGeom prst="roundRect">
            <a:avLst>
              <a:gd name="adj" fmla="val 6863"/>
            </a:avLst>
          </a:prstGeom>
          <a:solidFill>
            <a:srgbClr val="FFFFFF"/>
          </a:solidFill>
          <a:ln w="15875">
            <a:solidFill>
              <a:srgbClr val="5A6485"/>
            </a:solidFill>
            <a:prstDash val="solid"/>
          </a:ln>
          <a:effectLst>
            <a:outerShdw sx="100000" sy="100000" kx="0" ky="0" algn="bl" rotWithShape="0" blurRad="63500" dist="25400" dir="5400000">
              <a:srgbClr val="000000">
                <a:alpha val="10000"/>
              </a:srgbClr>
            </a:outerShdw>
          </a:effectLst>
        </p:spPr>
      </p:sp>
      <p:sp>
        <p:nvSpPr>
          <p:cNvPr id="6" name="Shape 4"/>
          <p:cNvSpPr/>
          <p:nvPr/>
        </p:nvSpPr>
        <p:spPr>
          <a:xfrm>
            <a:off x="749808" y="1609344"/>
            <a:ext cx="566928" cy="566928"/>
          </a:xfrm>
          <a:prstGeom prst="ellipse">
            <a:avLst/>
          </a:prstGeom>
          <a:solidFill>
            <a:srgbClr val="5A6485"/>
          </a:solidFill>
          <a:ln/>
        </p:spPr>
      </p:sp>
      <p:sp>
        <p:nvSpPr>
          <p:cNvPr id="7" name="Text 5"/>
          <p:cNvSpPr/>
          <p:nvPr/>
        </p:nvSpPr>
        <p:spPr>
          <a:xfrm>
            <a:off x="749808" y="1609344"/>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1481328" y="1508760"/>
            <a:ext cx="4800600" cy="786384"/>
          </a:xfrm>
          <a:prstGeom prst="rect">
            <a:avLst/>
          </a:prstGeom>
          <a:noFill/>
          <a:ln/>
        </p:spPr>
        <p:txBody>
          <a:bodyPr wrap="square" lIns="0" tIns="0" rIns="0" bIns="0" rtlCol="0" anchor="ctr"/>
          <a:lstStyle/>
          <a:p>
            <a:pPr indent="0" marL="0">
              <a:lnSpc>
                <a:spcPct val="100000"/>
              </a:lnSpc>
              <a:buNone/>
            </a:pPr>
            <a:r>
              <a:rPr lang="en-US" sz="1500" b="1" dirty="0">
                <a:solidFill>
                  <a:srgbClr val="1E2761"/>
                </a:solidFill>
                <a:latin typeface="Calibri" pitchFamily="34" charset="0"/>
                <a:ea typeface="Calibri" pitchFamily="34" charset="-122"/>
                <a:cs typeface="Calibri" pitchFamily="34" charset="-120"/>
              </a:rPr>
              <a:t>Documented</a:t>
            </a:r>
            <a:endParaRPr lang="en-US" sz="1500" dirty="0"/>
          </a:p>
          <a:p>
            <a:pPr indent="0" marL="0">
              <a:lnSpc>
                <a:spcPct val="100000"/>
              </a:lnSpc>
              <a:buNone/>
            </a:pPr>
            <a:r>
              <a:rPr lang="en-US" sz="1100" dirty="0">
                <a:solidFill>
                  <a:srgbClr val="33384F"/>
                </a:solidFill>
                <a:latin typeface="Calibri" pitchFamily="34" charset="0"/>
                <a:ea typeface="Calibri" pitchFamily="34" charset="-122"/>
                <a:cs typeface="Calibri" pitchFamily="34" charset="-120"/>
              </a:rPr>
              <a:t>Architecture, workflow &amp; compliance design written and reviewed</a:t>
            </a:r>
            <a:endParaRPr lang="en-US" sz="1500" dirty="0"/>
          </a:p>
        </p:txBody>
      </p:sp>
      <p:sp>
        <p:nvSpPr>
          <p:cNvPr id="9" name="Shape 7"/>
          <p:cNvSpPr/>
          <p:nvPr/>
        </p:nvSpPr>
        <p:spPr>
          <a:xfrm>
            <a:off x="548640" y="2496312"/>
            <a:ext cx="5943600" cy="932688"/>
          </a:xfrm>
          <a:prstGeom prst="roundRect">
            <a:avLst>
              <a:gd name="adj" fmla="val 6863"/>
            </a:avLst>
          </a:prstGeom>
          <a:solidFill>
            <a:srgbClr val="FFFFFF"/>
          </a:solidFill>
          <a:ln w="15875">
            <a:solidFill>
              <a:srgbClr val="00A896"/>
            </a:solidFill>
            <a:prstDash val="solid"/>
          </a:ln>
          <a:effectLst>
            <a:outerShdw sx="100000" sy="100000" kx="0" ky="0" algn="bl" rotWithShape="0" blurRad="63500" dist="25400" dir="5400000">
              <a:srgbClr val="000000">
                <a:alpha val="10000"/>
              </a:srgbClr>
            </a:outerShdw>
          </a:effectLst>
        </p:spPr>
      </p:sp>
      <p:sp>
        <p:nvSpPr>
          <p:cNvPr id="10" name="Shape 8"/>
          <p:cNvSpPr/>
          <p:nvPr/>
        </p:nvSpPr>
        <p:spPr>
          <a:xfrm>
            <a:off x="749808" y="2688336"/>
            <a:ext cx="566928" cy="566928"/>
          </a:xfrm>
          <a:prstGeom prst="ellipse">
            <a:avLst/>
          </a:prstGeom>
          <a:solidFill>
            <a:srgbClr val="00A896"/>
          </a:solidFill>
          <a:ln/>
        </p:spPr>
      </p:sp>
      <p:sp>
        <p:nvSpPr>
          <p:cNvPr id="11" name="Text 9"/>
          <p:cNvSpPr/>
          <p:nvPr/>
        </p:nvSpPr>
        <p:spPr>
          <a:xfrm>
            <a:off x="749808" y="2688336"/>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481328" y="2587752"/>
            <a:ext cx="4800600" cy="786384"/>
          </a:xfrm>
          <a:prstGeom prst="rect">
            <a:avLst/>
          </a:prstGeom>
          <a:noFill/>
          <a:ln/>
        </p:spPr>
        <p:txBody>
          <a:bodyPr wrap="square" lIns="0" tIns="0" rIns="0" bIns="0" rtlCol="0" anchor="ctr"/>
          <a:lstStyle/>
          <a:p>
            <a:pPr indent="0" marL="0">
              <a:lnSpc>
                <a:spcPct val="100000"/>
              </a:lnSpc>
              <a:buNone/>
            </a:pPr>
            <a:r>
              <a:rPr lang="en-US" sz="1500" b="1" dirty="0">
                <a:solidFill>
                  <a:srgbClr val="1E2761"/>
                </a:solidFill>
                <a:latin typeface="Calibri" pitchFamily="34" charset="0"/>
                <a:ea typeface="Calibri" pitchFamily="34" charset="-122"/>
                <a:cs typeface="Calibri" pitchFamily="34" charset="-120"/>
              </a:rPr>
              <a:t>Demonstrated</a:t>
            </a:r>
            <a:endParaRPr lang="en-US" sz="1500" dirty="0"/>
          </a:p>
          <a:p>
            <a:pPr indent="0" marL="0">
              <a:lnSpc>
                <a:spcPct val="100000"/>
              </a:lnSpc>
              <a:buNone/>
            </a:pPr>
            <a:r>
              <a:rPr lang="en-US" sz="1100" dirty="0">
                <a:solidFill>
                  <a:srgbClr val="33384F"/>
                </a:solidFill>
                <a:latin typeface="Calibri" pitchFamily="34" charset="0"/>
                <a:ea typeface="Calibri" pitchFamily="34" charset="-122"/>
                <a:cs typeface="Calibri" pitchFamily="34" charset="-120"/>
              </a:rPr>
              <a:t>Runs end-to-end in demo mode — deterministic fixtures, no API key (80 tests green)</a:t>
            </a:r>
            <a:endParaRPr lang="en-US" sz="1500" dirty="0"/>
          </a:p>
        </p:txBody>
      </p:sp>
      <p:sp>
        <p:nvSpPr>
          <p:cNvPr id="13" name="Shape 11"/>
          <p:cNvSpPr/>
          <p:nvPr/>
        </p:nvSpPr>
        <p:spPr>
          <a:xfrm>
            <a:off x="548640" y="3575304"/>
            <a:ext cx="5943600" cy="932688"/>
          </a:xfrm>
          <a:prstGeom prst="roundRect">
            <a:avLst>
              <a:gd name="adj" fmla="val 6863"/>
            </a:avLst>
          </a:prstGeom>
          <a:solidFill>
            <a:srgbClr val="FFFFFF"/>
          </a:solidFill>
          <a:ln w="15875">
            <a:solidFill>
              <a:srgbClr val="1E2761"/>
            </a:solidFill>
            <a:prstDash val="solid"/>
          </a:ln>
          <a:effectLst>
            <a:outerShdw sx="100000" sy="100000" kx="0" ky="0" algn="bl" rotWithShape="0" blurRad="63500" dist="25400" dir="5400000">
              <a:srgbClr val="000000">
                <a:alpha val="10000"/>
              </a:srgbClr>
            </a:outerShdw>
          </a:effectLst>
        </p:spPr>
      </p:sp>
      <p:sp>
        <p:nvSpPr>
          <p:cNvPr id="14" name="Shape 12"/>
          <p:cNvSpPr/>
          <p:nvPr/>
        </p:nvSpPr>
        <p:spPr>
          <a:xfrm>
            <a:off x="749808" y="3767328"/>
            <a:ext cx="566928" cy="566928"/>
          </a:xfrm>
          <a:prstGeom prst="ellipse">
            <a:avLst/>
          </a:prstGeom>
          <a:solidFill>
            <a:srgbClr val="1E2761"/>
          </a:solidFill>
          <a:ln/>
        </p:spPr>
      </p:sp>
      <p:sp>
        <p:nvSpPr>
          <p:cNvPr id="15" name="Text 13"/>
          <p:cNvSpPr/>
          <p:nvPr/>
        </p:nvSpPr>
        <p:spPr>
          <a:xfrm>
            <a:off x="749808" y="376732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1481328" y="3666744"/>
            <a:ext cx="4800600" cy="786384"/>
          </a:xfrm>
          <a:prstGeom prst="rect">
            <a:avLst/>
          </a:prstGeom>
          <a:noFill/>
          <a:ln/>
        </p:spPr>
        <p:txBody>
          <a:bodyPr wrap="square" lIns="0" tIns="0" rIns="0" bIns="0" rtlCol="0" anchor="ctr"/>
          <a:lstStyle/>
          <a:p>
            <a:pPr indent="0" marL="0">
              <a:lnSpc>
                <a:spcPct val="100000"/>
              </a:lnSpc>
              <a:buNone/>
            </a:pPr>
            <a:r>
              <a:rPr lang="en-US" sz="1500" b="1" dirty="0">
                <a:solidFill>
                  <a:srgbClr val="1E2761"/>
                </a:solidFill>
                <a:latin typeface="Calibri" pitchFamily="34" charset="0"/>
                <a:ea typeface="Calibri" pitchFamily="34" charset="-122"/>
                <a:cs typeface="Calibri" pitchFamily="34" charset="-120"/>
              </a:rPr>
              <a:t>Deployable</a:t>
            </a:r>
            <a:endParaRPr lang="en-US" sz="1500" dirty="0"/>
          </a:p>
          <a:p>
            <a:pPr indent="0" marL="0">
              <a:lnSpc>
                <a:spcPct val="100000"/>
              </a:lnSpc>
              <a:buNone/>
            </a:pPr>
            <a:r>
              <a:rPr lang="en-US" sz="1100" dirty="0">
                <a:solidFill>
                  <a:srgbClr val="33384F"/>
                </a:solidFill>
                <a:latin typeface="Calibri" pitchFamily="34" charset="0"/>
                <a:ea typeface="Calibri" pitchFamily="34" charset="-122"/>
                <a:cs typeface="Calibri" pitchFamily="34" charset="-120"/>
              </a:rPr>
              <a:t>CloudFormation + Terraform + container contract pass CI; needs your AWS account + Bedrock</a:t>
            </a:r>
            <a:endParaRPr lang="en-US" sz="1500" dirty="0"/>
          </a:p>
        </p:txBody>
      </p:sp>
      <p:sp>
        <p:nvSpPr>
          <p:cNvPr id="17" name="Shape 15"/>
          <p:cNvSpPr/>
          <p:nvPr/>
        </p:nvSpPr>
        <p:spPr>
          <a:xfrm>
            <a:off x="548640" y="4654296"/>
            <a:ext cx="5943600" cy="932688"/>
          </a:xfrm>
          <a:prstGeom prst="roundRect">
            <a:avLst>
              <a:gd name="adj" fmla="val 6863"/>
            </a:avLst>
          </a:prstGeom>
          <a:solidFill>
            <a:srgbClr val="EEF2FB"/>
          </a:solidFill>
          <a:ln w="12700">
            <a:solidFill>
              <a:srgbClr val="D9E0EF"/>
            </a:solidFill>
            <a:prstDash val="solid"/>
          </a:ln>
        </p:spPr>
      </p:sp>
      <p:sp>
        <p:nvSpPr>
          <p:cNvPr id="18" name="Shape 16"/>
          <p:cNvSpPr/>
          <p:nvPr/>
        </p:nvSpPr>
        <p:spPr>
          <a:xfrm>
            <a:off x="749808" y="4846320"/>
            <a:ext cx="566928" cy="566928"/>
          </a:xfrm>
          <a:prstGeom prst="ellipse">
            <a:avLst/>
          </a:prstGeom>
          <a:solidFill>
            <a:srgbClr val="E8A33D"/>
          </a:solidFill>
          <a:ln/>
        </p:spPr>
      </p:sp>
      <p:sp>
        <p:nvSpPr>
          <p:cNvPr id="19" name="Text 17"/>
          <p:cNvSpPr/>
          <p:nvPr/>
        </p:nvSpPr>
        <p:spPr>
          <a:xfrm>
            <a:off x="749808" y="4846320"/>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0" name="Text 18"/>
          <p:cNvSpPr/>
          <p:nvPr/>
        </p:nvSpPr>
        <p:spPr>
          <a:xfrm>
            <a:off x="1481328" y="4745736"/>
            <a:ext cx="4800600" cy="786384"/>
          </a:xfrm>
          <a:prstGeom prst="rect">
            <a:avLst/>
          </a:prstGeom>
          <a:noFill/>
          <a:ln/>
        </p:spPr>
        <p:txBody>
          <a:bodyPr wrap="square" lIns="0" tIns="0" rIns="0" bIns="0" rtlCol="0" anchor="ctr"/>
          <a:lstStyle/>
          <a:p>
            <a:pPr indent="0" marL="0">
              <a:lnSpc>
                <a:spcPct val="100000"/>
              </a:lnSpc>
              <a:buNone/>
            </a:pPr>
            <a:r>
              <a:rPr lang="en-US" sz="1500" b="1" dirty="0">
                <a:solidFill>
                  <a:srgbClr val="5A6485"/>
                </a:solidFill>
                <a:latin typeface="Calibri" pitchFamily="34" charset="0"/>
                <a:ea typeface="Calibri" pitchFamily="34" charset="-122"/>
                <a:cs typeface="Calibri" pitchFamily="34" charset="-120"/>
              </a:rPr>
              <a:t>Production-ready</a:t>
            </a:r>
            <a:endParaRPr lang="en-US" sz="1500" dirty="0"/>
          </a:p>
          <a:p>
            <a:pPr indent="0" marL="0">
              <a:lnSpc>
                <a:spcPct val="100000"/>
              </a:lnSpc>
              <a:buNone/>
            </a:pPr>
            <a:r>
              <a:rPr lang="en-US" sz="1100" dirty="0">
                <a:solidFill>
                  <a:srgbClr val="33384F"/>
                </a:solidFill>
                <a:latin typeface="Calibri" pitchFamily="34" charset="0"/>
                <a:ea typeface="Calibri" pitchFamily="34" charset="-122"/>
                <a:cs typeface="Calibri" pitchFamily="34" charset="-120"/>
              </a:rPr>
              <a:t>Security review, IdP, live connectors, WCAG 2.2 AA conformance, pen test — the engagement</a:t>
            </a:r>
            <a:endParaRPr lang="en-US" sz="1500" dirty="0"/>
          </a:p>
        </p:txBody>
      </p:sp>
      <p:sp>
        <p:nvSpPr>
          <p:cNvPr id="21" name="Text 19"/>
          <p:cNvSpPr/>
          <p:nvPr/>
        </p:nvSpPr>
        <p:spPr>
          <a:xfrm>
            <a:off x="548640" y="5550408"/>
            <a:ext cx="5943600" cy="237744"/>
          </a:xfrm>
          <a:prstGeom prst="rect">
            <a:avLst/>
          </a:prstGeom>
          <a:noFill/>
          <a:ln/>
        </p:spPr>
        <p:txBody>
          <a:bodyPr wrap="square" lIns="0" tIns="0" rIns="0" bIns="0" rtlCol="0" anchor="ctr"/>
          <a:lstStyle/>
          <a:p>
            <a:pPr algn="r" indent="0" marL="0">
              <a:buNone/>
            </a:pPr>
            <a:r>
              <a:rPr lang="en-US" sz="950" b="1" i="1" dirty="0">
                <a:solidFill>
                  <a:srgbClr val="B5790F"/>
                </a:solidFill>
                <a:latin typeface="Calibri" pitchFamily="34" charset="0"/>
                <a:ea typeface="Calibri" pitchFamily="34" charset="-122"/>
                <a:cs typeface="Calibri" pitchFamily="34" charset="-120"/>
              </a:rPr>
              <a:t>BRIGHT LINE — the engagement starts here</a:t>
            </a:r>
            <a:endParaRPr lang="en-US" sz="950" dirty="0"/>
          </a:p>
        </p:txBody>
      </p:sp>
      <p:sp>
        <p:nvSpPr>
          <p:cNvPr id="22" name="Shape 20"/>
          <p:cNvSpPr/>
          <p:nvPr/>
        </p:nvSpPr>
        <p:spPr>
          <a:xfrm>
            <a:off x="6766560" y="1417320"/>
            <a:ext cx="4846320" cy="2212848"/>
          </a:xfrm>
          <a:prstGeom prst="roundRect">
            <a:avLst>
              <a:gd name="adj" fmla="val 3719"/>
            </a:avLst>
          </a:prstGeom>
          <a:solidFill>
            <a:srgbClr val="FFFFFF"/>
          </a:solidFill>
          <a:ln w="15875">
            <a:solidFill>
              <a:srgbClr val="00A896"/>
            </a:solidFill>
            <a:prstDash val="solid"/>
          </a:ln>
          <a:effectLst>
            <a:outerShdw sx="100000" sy="100000" kx="0" ky="0" algn="bl" rotWithShape="0" blurRad="63500" dist="25400" dir="5400000">
              <a:srgbClr val="000000">
                <a:alpha val="10000"/>
              </a:srgbClr>
            </a:outerShdw>
          </a:effectLst>
        </p:spPr>
      </p:sp>
      <p:sp>
        <p:nvSpPr>
          <p:cNvPr id="23" name="Shape 21"/>
          <p:cNvSpPr/>
          <p:nvPr/>
        </p:nvSpPr>
        <p:spPr>
          <a:xfrm>
            <a:off x="7004304" y="1627632"/>
            <a:ext cx="548640" cy="548640"/>
          </a:xfrm>
          <a:prstGeom prst="ellipse">
            <a:avLst/>
          </a:prstGeom>
          <a:solidFill>
            <a:srgbClr val="00A896"/>
          </a:solidFill>
          <a:ln/>
        </p:spPr>
      </p:sp>
      <p:pic>
        <p:nvPicPr>
          <p:cNvPr id="24" name="Image 0" descr="preencoded.png">    </p:cNvPr>
          <p:cNvPicPr>
            <a:picLocks noChangeAspect="1"/>
          </p:cNvPicPr>
          <p:nvPr/>
        </p:nvPicPr>
        <p:blipFill>
          <a:blip r:embed="rId1"/>
          <a:stretch>
            <a:fillRect/>
          </a:stretch>
        </p:blipFill>
        <p:spPr>
          <a:xfrm>
            <a:off x="7146950" y="1770278"/>
            <a:ext cx="263347" cy="263347"/>
          </a:xfrm>
          <a:prstGeom prst="rect">
            <a:avLst/>
          </a:prstGeom>
        </p:spPr>
      </p:pic>
      <p:sp>
        <p:nvSpPr>
          <p:cNvPr id="25" name="Text 22"/>
          <p:cNvSpPr/>
          <p:nvPr/>
        </p:nvSpPr>
        <p:spPr>
          <a:xfrm>
            <a:off x="7680960" y="1673352"/>
            <a:ext cx="374904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Real today</a:t>
            </a:r>
            <a:endParaRPr lang="en-US" sz="1600" dirty="0"/>
          </a:p>
        </p:txBody>
      </p:sp>
      <p:sp>
        <p:nvSpPr>
          <p:cNvPr id="26" name="Text 23"/>
          <p:cNvSpPr/>
          <p:nvPr/>
        </p:nvSpPr>
        <p:spPr>
          <a:xfrm>
            <a:off x="7022592" y="2212848"/>
            <a:ext cx="4343400" cy="1371600"/>
          </a:xfrm>
          <a:prstGeom prst="rect">
            <a:avLst/>
          </a:prstGeom>
          <a:noFill/>
          <a:ln/>
        </p:spPr>
        <p:txBody>
          <a:bodyPr wrap="square" lIns="0" tIns="0" rIns="0" bIns="0" rtlCol="0" anchor="ctr"/>
          <a:lstStyle/>
          <a:p>
            <a:pPr marL="342900" indent="-342900">
              <a:lnSpc>
                <a:spcPct val="98000"/>
              </a:lnSpc>
              <a:spcAft>
                <a:spcPts val="500"/>
              </a:spcAft>
              <a:buSzPct val="100000"/>
              <a:buChar char="•"/>
            </a:pPr>
            <a:r>
              <a:rPr lang="en-US" sz="1070" dirty="0">
                <a:solidFill>
                  <a:srgbClr val="33384F"/>
                </a:solidFill>
                <a:latin typeface="Calibri" pitchFamily="34" charset="0"/>
                <a:ea typeface="Calibri" pitchFamily="34" charset="-122"/>
                <a:cs typeface="Calibri" pitchFamily="34" charset="-120"/>
              </a:rPr>
              <a:t>Governance spine in code + 80 passing tests (gateway intersection, HITL, masking, red-team)</a:t>
            </a:r>
            <a:endParaRPr lang="en-US" sz="1070" dirty="0"/>
          </a:p>
          <a:p>
            <a:pPr marL="342900" indent="-342900">
              <a:lnSpc>
                <a:spcPct val="98000"/>
              </a:lnSpc>
              <a:spcAft>
                <a:spcPts val="500"/>
              </a:spcAft>
              <a:buSzPct val="100000"/>
              <a:buChar char="•"/>
            </a:pPr>
            <a:r>
              <a:rPr lang="en-US" sz="1070" dirty="0">
                <a:solidFill>
                  <a:srgbClr val="33384F"/>
                </a:solidFill>
                <a:latin typeface="Calibri" pitchFamily="34" charset="0"/>
                <a:ea typeface="Calibri" pitchFamily="34" charset="-122"/>
                <a:cs typeface="Calibri" pitchFamily="34" charset="-120"/>
              </a:rPr>
              <a:t>Empty-account-to-running deployment runbooks; 6 validated CloudFormation templates + Terraform</a:t>
            </a:r>
            <a:endParaRPr lang="en-US" sz="1070" dirty="0"/>
          </a:p>
          <a:p>
            <a:pPr marL="342900" indent="-342900">
              <a:lnSpc>
                <a:spcPct val="98000"/>
              </a:lnSpc>
              <a:spcAft>
                <a:spcPts val="500"/>
              </a:spcAft>
              <a:buSzPct val="100000"/>
              <a:buChar char="•"/>
            </a:pPr>
            <a:r>
              <a:rPr lang="en-US" sz="1070" dirty="0">
                <a:solidFill>
                  <a:srgbClr val="33384F"/>
                </a:solidFill>
                <a:latin typeface="Calibri" pitchFamily="34" charset="0"/>
                <a:ea typeface="Calibri" pitchFamily="34" charset="-122"/>
                <a:cs typeface="Calibri" pitchFamily="34" charset="-120"/>
              </a:rPr>
              <a:t>AWS-native reference path: AgentCore Runtime container + Step Functions / Lambda HITL</a:t>
            </a:r>
            <a:endParaRPr lang="en-US" sz="1070" dirty="0"/>
          </a:p>
        </p:txBody>
      </p:sp>
      <p:sp>
        <p:nvSpPr>
          <p:cNvPr id="27" name="Shape 24"/>
          <p:cNvSpPr/>
          <p:nvPr/>
        </p:nvSpPr>
        <p:spPr>
          <a:xfrm>
            <a:off x="6766560" y="3767328"/>
            <a:ext cx="4846320" cy="2212848"/>
          </a:xfrm>
          <a:prstGeom prst="roundRect">
            <a:avLst>
              <a:gd name="adj" fmla="val 3719"/>
            </a:avLst>
          </a:prstGeom>
          <a:solidFill>
            <a:srgbClr val="EEF2FB"/>
          </a:solidFill>
          <a:ln w="15875">
            <a:solidFill>
              <a:srgbClr val="E8A33D"/>
            </a:solidFill>
            <a:prstDash val="solid"/>
          </a:ln>
        </p:spPr>
      </p:sp>
      <p:sp>
        <p:nvSpPr>
          <p:cNvPr id="28" name="Shape 25"/>
          <p:cNvSpPr/>
          <p:nvPr/>
        </p:nvSpPr>
        <p:spPr>
          <a:xfrm>
            <a:off x="7004304" y="3977640"/>
            <a:ext cx="548640" cy="548640"/>
          </a:xfrm>
          <a:prstGeom prst="ellipse">
            <a:avLst/>
          </a:prstGeom>
          <a:solidFill>
            <a:srgbClr val="E8A33D"/>
          </a:solidFill>
          <a:ln/>
        </p:spPr>
      </p:sp>
      <p:pic>
        <p:nvPicPr>
          <p:cNvPr id="29" name="Image 1" descr="preencoded.png">    </p:cNvPr>
          <p:cNvPicPr>
            <a:picLocks noChangeAspect="1"/>
          </p:cNvPicPr>
          <p:nvPr/>
        </p:nvPicPr>
        <p:blipFill>
          <a:blip r:embed="rId2"/>
          <a:stretch>
            <a:fillRect/>
          </a:stretch>
        </p:blipFill>
        <p:spPr>
          <a:xfrm>
            <a:off x="7146950" y="4120286"/>
            <a:ext cx="263347" cy="263347"/>
          </a:xfrm>
          <a:prstGeom prst="rect">
            <a:avLst/>
          </a:prstGeom>
        </p:spPr>
      </p:pic>
      <p:sp>
        <p:nvSpPr>
          <p:cNvPr id="30" name="Text 26"/>
          <p:cNvSpPr/>
          <p:nvPr/>
        </p:nvSpPr>
        <p:spPr>
          <a:xfrm>
            <a:off x="7680960" y="4023360"/>
            <a:ext cx="3749040" cy="45720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A starting point, not finished</a:t>
            </a:r>
            <a:endParaRPr lang="en-US" sz="1600" dirty="0"/>
          </a:p>
        </p:txBody>
      </p:sp>
      <p:sp>
        <p:nvSpPr>
          <p:cNvPr id="31" name="Text 27"/>
          <p:cNvSpPr/>
          <p:nvPr/>
        </p:nvSpPr>
        <p:spPr>
          <a:xfrm>
            <a:off x="7022592" y="4572000"/>
            <a:ext cx="4343400" cy="1371600"/>
          </a:xfrm>
          <a:prstGeom prst="rect">
            <a:avLst/>
          </a:prstGeom>
          <a:noFill/>
          <a:ln/>
        </p:spPr>
        <p:txBody>
          <a:bodyPr wrap="square" lIns="0" tIns="0" rIns="0" bIns="0" rtlCol="0" anchor="ctr"/>
          <a:lstStyle/>
          <a:p>
            <a:pPr marL="342900" indent="-342900">
              <a:lnSpc>
                <a:spcPct val="98000"/>
              </a:lnSpc>
              <a:spcAft>
                <a:spcPts val="500"/>
              </a:spcAft>
              <a:buSzPct val="100000"/>
              <a:buChar char="•"/>
            </a:pPr>
            <a:r>
              <a:rPr lang="en-US" sz="1070" dirty="0">
                <a:solidFill>
                  <a:srgbClr val="33384F"/>
                </a:solidFill>
                <a:latin typeface="Calibri" pitchFamily="34" charset="0"/>
                <a:ea typeface="Calibri" pitchFamily="34" charset="-122"/>
                <a:cs typeface="Calibri" pitchFamily="34" charset="-120"/>
              </a:rPr>
              <a:t>Live connectors are stubs; agents are at Demonstrated depth, brought to Deployable per pass</a:t>
            </a:r>
            <a:endParaRPr lang="en-US" sz="1070" dirty="0"/>
          </a:p>
          <a:p>
            <a:pPr marL="342900" indent="-342900">
              <a:lnSpc>
                <a:spcPct val="98000"/>
              </a:lnSpc>
              <a:spcAft>
                <a:spcPts val="500"/>
              </a:spcAft>
              <a:buSzPct val="100000"/>
              <a:buChar char="•"/>
            </a:pPr>
            <a:r>
              <a:rPr lang="en-US" sz="1070" dirty="0">
                <a:solidFill>
                  <a:srgbClr val="33384F"/>
                </a:solidFill>
                <a:latin typeface="Calibri" pitchFamily="34" charset="0"/>
                <a:ea typeface="Calibri" pitchFamily="34" charset="-122"/>
                <a:cs typeface="Calibri" pitchFamily="34" charset="-120"/>
              </a:rPr>
              <a:t>AgentCore Gateway / Runtime register via customer-supplied custom-resource placeholders</a:t>
            </a:r>
            <a:endParaRPr lang="en-US" sz="1070" dirty="0"/>
          </a:p>
          <a:p>
            <a:pPr marL="342900" indent="-342900">
              <a:lnSpc>
                <a:spcPct val="98000"/>
              </a:lnSpc>
              <a:spcAft>
                <a:spcPts val="500"/>
              </a:spcAft>
              <a:buSzPct val="100000"/>
              <a:buChar char="•"/>
            </a:pPr>
            <a:r>
              <a:rPr lang="en-US" sz="1070" dirty="0">
                <a:solidFill>
                  <a:srgbClr val="33384F"/>
                </a:solidFill>
                <a:latin typeface="Calibri" pitchFamily="34" charset="0"/>
                <a:ea typeface="Calibri" pitchFamily="34" charset="-122"/>
                <a:cs typeface="Calibri" pitchFamily="34" charset="-120"/>
              </a:rPr>
              <a:t>No SOC 2 of its own, no 3rd-party cert, no conformance-tested production surface yet</a:t>
            </a:r>
            <a:endParaRPr lang="en-US" sz="1070" dirty="0"/>
          </a:p>
        </p:txBody>
      </p:sp>
      <p:sp>
        <p:nvSpPr>
          <p:cNvPr id="32" name="Text 28"/>
          <p:cNvSpPr/>
          <p:nvPr/>
        </p:nvSpPr>
        <p:spPr>
          <a:xfrm>
            <a:off x="548640" y="6528816"/>
            <a:ext cx="11064240" cy="256032"/>
          </a:xfrm>
          <a:prstGeom prst="rect">
            <a:avLst/>
          </a:prstGeom>
          <a:noFill/>
          <a:ln/>
        </p:spPr>
        <p:txBody>
          <a:bodyPr wrap="square" lIns="0" tIns="0" rIns="0" bIns="0" rtlCol="0" anchor="ctr"/>
          <a:lstStyle/>
          <a:p>
            <a:pPr indent="0" marL="0">
              <a:buNone/>
            </a:pPr>
            <a:r>
              <a:rPr lang="en-US" sz="850" dirty="0">
                <a:solidFill>
                  <a:srgbClr val="5A6485"/>
                </a:solidFill>
                <a:latin typeface="Calibri" pitchFamily="34" charset="0"/>
                <a:ea typeface="Calibri" pitchFamily="34" charset="-122"/>
                <a:cs typeface="Calibri" pitchFamily="34" charset="-120"/>
              </a:rPr>
              <a:t>EDU AI Agent Suite  ·  Infrastructure &amp; Adoption Review  ·  Governed accelerator, not a turnkey certified product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10896"/>
            <a:ext cx="9601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THE STRENGTH</a:t>
            </a:r>
            <a:endParaRPr lang="en-US" sz="1200" dirty="0"/>
          </a:p>
        </p:txBody>
      </p:sp>
      <p:sp>
        <p:nvSpPr>
          <p:cNvPr id="3" name="Text 1"/>
          <p:cNvSpPr/>
          <p:nvPr/>
        </p:nvSpPr>
        <p:spPr>
          <a:xfrm>
            <a:off x="548640" y="566928"/>
            <a:ext cx="1042416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Why a CISO or privacy officer can say yes</a:t>
            </a:r>
            <a:endParaRPr lang="en-US" sz="2700" dirty="0"/>
          </a:p>
        </p:txBody>
      </p:sp>
      <p:sp>
        <p:nvSpPr>
          <p:cNvPr id="4" name="Text 2"/>
          <p:cNvSpPr/>
          <p:nvPr/>
        </p:nvSpPr>
        <p:spPr>
          <a:xfrm>
            <a:off x="11350447" y="310896"/>
            <a:ext cx="457200" cy="310896"/>
          </a:xfrm>
          <a:prstGeom prst="rect">
            <a:avLst/>
          </a:prstGeom>
          <a:noFill/>
          <a:ln/>
        </p:spPr>
        <p:txBody>
          <a:bodyPr wrap="square" lIns="0" tIns="0" rIns="0" bIns="0" rtlCol="0" anchor="ctr"/>
          <a:lstStyle/>
          <a:p>
            <a:pPr algn="ctr" indent="0" marL="0">
              <a:buNone/>
            </a:pPr>
            <a:r>
              <a:rPr lang="en-US" sz="1200" b="1" dirty="0">
                <a:solidFill>
                  <a:srgbClr val="5A6485"/>
                </a:solidFill>
                <a:latin typeface="Calibri" pitchFamily="34" charset="0"/>
                <a:ea typeface="Calibri" pitchFamily="34" charset="-122"/>
                <a:cs typeface="Calibri" pitchFamily="34" charset="-120"/>
              </a:rPr>
              <a:t>4</a:t>
            </a:r>
            <a:endParaRPr lang="en-US" sz="1200" dirty="0"/>
          </a:p>
        </p:txBody>
      </p:sp>
      <p:sp>
        <p:nvSpPr>
          <p:cNvPr id="5" name="Text 3"/>
          <p:cNvSpPr/>
          <p:nvPr/>
        </p:nvSpPr>
        <p:spPr>
          <a:xfrm>
            <a:off x="548640" y="1234440"/>
            <a:ext cx="11064240" cy="365760"/>
          </a:xfrm>
          <a:prstGeom prst="rect">
            <a:avLst/>
          </a:prstGeom>
          <a:noFill/>
          <a:ln/>
        </p:spPr>
        <p:txBody>
          <a:bodyPr wrap="square" lIns="0" tIns="0" rIns="0" bIns="0" rtlCol="0" anchor="ctr"/>
          <a:lstStyle/>
          <a:p>
            <a:pPr indent="0" marL="0">
              <a:buNone/>
            </a:pPr>
            <a:r>
              <a:rPr lang="en-US" sz="1300" i="1" dirty="0">
                <a:solidFill>
                  <a:srgbClr val="5A6485"/>
                </a:solidFill>
                <a:latin typeface="Calibri" pitchFamily="34" charset="0"/>
                <a:ea typeface="Calibri" pitchFamily="34" charset="-122"/>
                <a:cs typeface="Calibri" pitchFamily="34" charset="-120"/>
              </a:rPr>
              <a:t>Governance-first: the controls are enforced in the gateway, outside the model — a prompt cannot turn them off.</a:t>
            </a:r>
            <a:endParaRPr lang="en-US" sz="1300" dirty="0"/>
          </a:p>
        </p:txBody>
      </p:sp>
      <p:sp>
        <p:nvSpPr>
          <p:cNvPr id="6" name="Shape 4"/>
          <p:cNvSpPr/>
          <p:nvPr/>
        </p:nvSpPr>
        <p:spPr>
          <a:xfrm>
            <a:off x="548640" y="1783080"/>
            <a:ext cx="3584448" cy="1481328"/>
          </a:xfrm>
          <a:prstGeom prst="roundRect">
            <a:avLst>
              <a:gd name="adj" fmla="val 4938"/>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7" name="Shape 5"/>
          <p:cNvSpPr/>
          <p:nvPr/>
        </p:nvSpPr>
        <p:spPr>
          <a:xfrm>
            <a:off x="768096" y="2002536"/>
            <a:ext cx="566928" cy="566928"/>
          </a:xfrm>
          <a:prstGeom prst="ellipse">
            <a:avLst/>
          </a:prstGeom>
          <a:solidFill>
            <a:srgbClr val="1E2761"/>
          </a:solidFill>
          <a:ln/>
        </p:spPr>
      </p:sp>
      <p:pic>
        <p:nvPicPr>
          <p:cNvPr id="8" name="Image 0" descr="preencoded.png">    </p:cNvPr>
          <p:cNvPicPr>
            <a:picLocks noChangeAspect="1"/>
          </p:cNvPicPr>
          <p:nvPr/>
        </p:nvPicPr>
        <p:blipFill>
          <a:blip r:embed="rId1"/>
          <a:stretch>
            <a:fillRect/>
          </a:stretch>
        </p:blipFill>
        <p:spPr>
          <a:xfrm>
            <a:off x="915497" y="2149937"/>
            <a:ext cx="272125" cy="272125"/>
          </a:xfrm>
          <a:prstGeom prst="rect">
            <a:avLst/>
          </a:prstGeom>
        </p:spPr>
      </p:pic>
      <p:sp>
        <p:nvSpPr>
          <p:cNvPr id="9" name="Text 6"/>
          <p:cNvSpPr/>
          <p:nvPr/>
        </p:nvSpPr>
        <p:spPr>
          <a:xfrm>
            <a:off x="1444752" y="1984248"/>
            <a:ext cx="2532888" cy="566928"/>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Deny-by-default gateway</a:t>
            </a:r>
            <a:endParaRPr lang="en-US" sz="1350" dirty="0"/>
          </a:p>
        </p:txBody>
      </p:sp>
      <p:sp>
        <p:nvSpPr>
          <p:cNvPr id="10" name="Text 7"/>
          <p:cNvSpPr/>
          <p:nvPr/>
        </p:nvSpPr>
        <p:spPr>
          <a:xfrm>
            <a:off x="768096" y="2569464"/>
            <a:ext cx="3172968" cy="603504"/>
          </a:xfrm>
          <a:prstGeom prst="rect">
            <a:avLst/>
          </a:prstGeom>
          <a:noFill/>
          <a:ln/>
        </p:spPr>
        <p:txBody>
          <a:bodyPr wrap="square" lIns="0" tIns="0" rIns="0" bIns="0" rtlCol="0" anchor="ctr"/>
          <a:lstStyle/>
          <a:p>
            <a:pPr indent="0" marL="0">
              <a:lnSpc>
                <a:spcPct val="98000"/>
              </a:lnSpc>
              <a:buNone/>
            </a:pPr>
            <a:r>
              <a:rPr lang="en-US" sz="1000" dirty="0">
                <a:solidFill>
                  <a:srgbClr val="33384F"/>
                </a:solidFill>
                <a:latin typeface="Calibri" pitchFamily="34" charset="0"/>
                <a:ea typeface="Calibri" pitchFamily="34" charset="-122"/>
                <a:cs typeface="Calibri" pitchFamily="34" charset="-120"/>
              </a:rPr>
              <a:t>permitted(tool) = agent-grant ∩ user-entitlement. An agent can never exceed the human it acts for. Denies on a missing subject.</a:t>
            </a:r>
            <a:endParaRPr lang="en-US" sz="1000" dirty="0"/>
          </a:p>
        </p:txBody>
      </p:sp>
      <p:sp>
        <p:nvSpPr>
          <p:cNvPr id="11" name="Shape 8"/>
          <p:cNvSpPr/>
          <p:nvPr/>
        </p:nvSpPr>
        <p:spPr>
          <a:xfrm>
            <a:off x="4297680" y="1783080"/>
            <a:ext cx="3584448" cy="1481328"/>
          </a:xfrm>
          <a:prstGeom prst="roundRect">
            <a:avLst>
              <a:gd name="adj" fmla="val 4938"/>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12" name="Shape 9"/>
          <p:cNvSpPr/>
          <p:nvPr/>
        </p:nvSpPr>
        <p:spPr>
          <a:xfrm>
            <a:off x="4517136" y="2002536"/>
            <a:ext cx="566928" cy="566928"/>
          </a:xfrm>
          <a:prstGeom prst="ellipse">
            <a:avLst/>
          </a:prstGeom>
          <a:solidFill>
            <a:srgbClr val="1E2761"/>
          </a:solidFill>
          <a:ln/>
        </p:spPr>
      </p:sp>
      <p:pic>
        <p:nvPicPr>
          <p:cNvPr id="13" name="Image 1" descr="preencoded.png">    </p:cNvPr>
          <p:cNvPicPr>
            <a:picLocks noChangeAspect="1"/>
          </p:cNvPicPr>
          <p:nvPr/>
        </p:nvPicPr>
        <p:blipFill>
          <a:blip r:embed="rId2"/>
          <a:stretch>
            <a:fillRect/>
          </a:stretch>
        </p:blipFill>
        <p:spPr>
          <a:xfrm>
            <a:off x="4664537" y="2149937"/>
            <a:ext cx="272125" cy="272125"/>
          </a:xfrm>
          <a:prstGeom prst="rect">
            <a:avLst/>
          </a:prstGeom>
        </p:spPr>
      </p:pic>
      <p:sp>
        <p:nvSpPr>
          <p:cNvPr id="14" name="Text 10"/>
          <p:cNvSpPr/>
          <p:nvPr/>
        </p:nvSpPr>
        <p:spPr>
          <a:xfrm>
            <a:off x="5193792" y="1984248"/>
            <a:ext cx="2532888" cy="566928"/>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Framework-enforced HITL</a:t>
            </a:r>
            <a:endParaRPr lang="en-US" sz="1350" dirty="0"/>
          </a:p>
        </p:txBody>
      </p:sp>
      <p:sp>
        <p:nvSpPr>
          <p:cNvPr id="15" name="Text 11"/>
          <p:cNvSpPr/>
          <p:nvPr/>
        </p:nvSpPr>
        <p:spPr>
          <a:xfrm>
            <a:off x="4517136" y="2569464"/>
            <a:ext cx="3172968" cy="603504"/>
          </a:xfrm>
          <a:prstGeom prst="rect">
            <a:avLst/>
          </a:prstGeom>
          <a:noFill/>
          <a:ln/>
        </p:spPr>
        <p:txBody>
          <a:bodyPr wrap="square" lIns="0" tIns="0" rIns="0" bIns="0" rtlCol="0" anchor="ctr"/>
          <a:lstStyle/>
          <a:p>
            <a:pPr indent="0" marL="0">
              <a:lnSpc>
                <a:spcPct val="98000"/>
              </a:lnSpc>
              <a:buNone/>
            </a:pPr>
            <a:r>
              <a:rPr lang="en-US" sz="1000" dirty="0">
                <a:solidFill>
                  <a:srgbClr val="33384F"/>
                </a:solidFill>
                <a:latin typeface="Calibri" pitchFamily="34" charset="0"/>
                <a:ea typeface="Calibri" pitchFamily="34" charset="-122"/>
                <a:cs typeface="Calibri" pitchFamily="34" charset="-120"/>
              </a:rPr>
              <a:t>Consequential actions block as PENDING_APPROVAL until a named, correctly-roled reviewer binds their identity. Fails closed on timeout.</a:t>
            </a:r>
            <a:endParaRPr lang="en-US" sz="1000" dirty="0"/>
          </a:p>
        </p:txBody>
      </p:sp>
      <p:sp>
        <p:nvSpPr>
          <p:cNvPr id="16" name="Shape 12"/>
          <p:cNvSpPr/>
          <p:nvPr/>
        </p:nvSpPr>
        <p:spPr>
          <a:xfrm>
            <a:off x="8046720" y="1783080"/>
            <a:ext cx="3584448" cy="1481328"/>
          </a:xfrm>
          <a:prstGeom prst="roundRect">
            <a:avLst>
              <a:gd name="adj" fmla="val 4938"/>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17" name="Shape 13"/>
          <p:cNvSpPr/>
          <p:nvPr/>
        </p:nvSpPr>
        <p:spPr>
          <a:xfrm>
            <a:off x="8266176" y="2002536"/>
            <a:ext cx="566928" cy="566928"/>
          </a:xfrm>
          <a:prstGeom prst="ellipse">
            <a:avLst/>
          </a:prstGeom>
          <a:solidFill>
            <a:srgbClr val="1E2761"/>
          </a:solidFill>
          <a:ln/>
        </p:spPr>
      </p:sp>
      <p:pic>
        <p:nvPicPr>
          <p:cNvPr id="18" name="Image 2" descr="preencoded.png">    </p:cNvPr>
          <p:cNvPicPr>
            <a:picLocks noChangeAspect="1"/>
          </p:cNvPicPr>
          <p:nvPr/>
        </p:nvPicPr>
        <p:blipFill>
          <a:blip r:embed="rId3"/>
          <a:stretch>
            <a:fillRect/>
          </a:stretch>
        </p:blipFill>
        <p:spPr>
          <a:xfrm>
            <a:off x="8413577" y="2149937"/>
            <a:ext cx="272125" cy="272125"/>
          </a:xfrm>
          <a:prstGeom prst="rect">
            <a:avLst/>
          </a:prstGeom>
        </p:spPr>
      </p:pic>
      <p:sp>
        <p:nvSpPr>
          <p:cNvPr id="19" name="Text 14"/>
          <p:cNvSpPr/>
          <p:nvPr/>
        </p:nvSpPr>
        <p:spPr>
          <a:xfrm>
            <a:off x="8942832" y="1984248"/>
            <a:ext cx="2532888" cy="566928"/>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Tamper-evident audit</a:t>
            </a:r>
            <a:endParaRPr lang="en-US" sz="1350" dirty="0"/>
          </a:p>
        </p:txBody>
      </p:sp>
      <p:sp>
        <p:nvSpPr>
          <p:cNvPr id="20" name="Text 15"/>
          <p:cNvSpPr/>
          <p:nvPr/>
        </p:nvSpPr>
        <p:spPr>
          <a:xfrm>
            <a:off x="8266176" y="2569464"/>
            <a:ext cx="3172968" cy="603504"/>
          </a:xfrm>
          <a:prstGeom prst="rect">
            <a:avLst/>
          </a:prstGeom>
          <a:noFill/>
          <a:ln/>
        </p:spPr>
        <p:txBody>
          <a:bodyPr wrap="square" lIns="0" tIns="0" rIns="0" bIns="0" rtlCol="0" anchor="ctr"/>
          <a:lstStyle/>
          <a:p>
            <a:pPr indent="0" marL="0">
              <a:lnSpc>
                <a:spcPct val="98000"/>
              </a:lnSpc>
              <a:buNone/>
            </a:pPr>
            <a:r>
              <a:rPr lang="en-US" sz="1000" dirty="0">
                <a:solidFill>
                  <a:srgbClr val="33384F"/>
                </a:solidFill>
                <a:latin typeface="Calibri" pitchFamily="34" charset="0"/>
                <a:ea typeface="Calibri" pitchFamily="34" charset="-122"/>
                <a:cs typeface="Calibri" pitchFamily="34" charset="-120"/>
              </a:rPr>
              <a:t>Append-only DynamoDB + S3 Object Lock WORM. Every ALLOW / DENY / PENDING / ERROR logged with lineage — FERPA disclosure recordkeeping.</a:t>
            </a:r>
            <a:endParaRPr lang="en-US" sz="1000" dirty="0"/>
          </a:p>
        </p:txBody>
      </p:sp>
      <p:sp>
        <p:nvSpPr>
          <p:cNvPr id="21" name="Shape 16"/>
          <p:cNvSpPr/>
          <p:nvPr/>
        </p:nvSpPr>
        <p:spPr>
          <a:xfrm>
            <a:off x="548640" y="3429000"/>
            <a:ext cx="3584448" cy="1481328"/>
          </a:xfrm>
          <a:prstGeom prst="roundRect">
            <a:avLst>
              <a:gd name="adj" fmla="val 4938"/>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22" name="Shape 17"/>
          <p:cNvSpPr/>
          <p:nvPr/>
        </p:nvSpPr>
        <p:spPr>
          <a:xfrm>
            <a:off x="768096" y="3648456"/>
            <a:ext cx="566928" cy="566928"/>
          </a:xfrm>
          <a:prstGeom prst="ellipse">
            <a:avLst/>
          </a:prstGeom>
          <a:solidFill>
            <a:srgbClr val="1E2761"/>
          </a:solidFill>
          <a:ln/>
        </p:spPr>
      </p:sp>
      <p:pic>
        <p:nvPicPr>
          <p:cNvPr id="23" name="Image 3" descr="preencoded.png">    </p:cNvPr>
          <p:cNvPicPr>
            <a:picLocks noChangeAspect="1"/>
          </p:cNvPicPr>
          <p:nvPr/>
        </p:nvPicPr>
        <p:blipFill>
          <a:blip r:embed="rId4"/>
          <a:stretch>
            <a:fillRect/>
          </a:stretch>
        </p:blipFill>
        <p:spPr>
          <a:xfrm>
            <a:off x="915497" y="3795857"/>
            <a:ext cx="272125" cy="272125"/>
          </a:xfrm>
          <a:prstGeom prst="rect">
            <a:avLst/>
          </a:prstGeom>
        </p:spPr>
      </p:pic>
      <p:sp>
        <p:nvSpPr>
          <p:cNvPr id="24" name="Text 18"/>
          <p:cNvSpPr/>
          <p:nvPr/>
        </p:nvSpPr>
        <p:spPr>
          <a:xfrm>
            <a:off x="1444752" y="3630168"/>
            <a:ext cx="2532888" cy="566928"/>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Student-PII masking</a:t>
            </a:r>
            <a:endParaRPr lang="en-US" sz="1350" dirty="0"/>
          </a:p>
        </p:txBody>
      </p:sp>
      <p:sp>
        <p:nvSpPr>
          <p:cNvPr id="25" name="Text 19"/>
          <p:cNvSpPr/>
          <p:nvPr/>
        </p:nvSpPr>
        <p:spPr>
          <a:xfrm>
            <a:off x="768096" y="4215384"/>
            <a:ext cx="3172968" cy="603504"/>
          </a:xfrm>
          <a:prstGeom prst="rect">
            <a:avLst/>
          </a:prstGeom>
          <a:noFill/>
          <a:ln/>
        </p:spPr>
        <p:txBody>
          <a:bodyPr wrap="square" lIns="0" tIns="0" rIns="0" bIns="0" rtlCol="0" anchor="ctr"/>
          <a:lstStyle/>
          <a:p>
            <a:pPr indent="0" marL="0">
              <a:lnSpc>
                <a:spcPct val="98000"/>
              </a:lnSpc>
              <a:buNone/>
            </a:pPr>
            <a:r>
              <a:rPr lang="en-US" sz="1000" dirty="0">
                <a:solidFill>
                  <a:srgbClr val="33384F"/>
                </a:solidFill>
                <a:latin typeface="Calibri" pitchFamily="34" charset="0"/>
                <a:ea typeface="Calibri" pitchFamily="34" charset="-122"/>
                <a:cs typeface="Calibri" pitchFamily="34" charset="-120"/>
              </a:rPr>
              <a:t>FERPA/COPPA identifiers replaced with stable pseudonyms before any prompt or audit record. Stateless, runs before every call.</a:t>
            </a:r>
            <a:endParaRPr lang="en-US" sz="1000" dirty="0"/>
          </a:p>
        </p:txBody>
      </p:sp>
      <p:sp>
        <p:nvSpPr>
          <p:cNvPr id="26" name="Shape 20"/>
          <p:cNvSpPr/>
          <p:nvPr/>
        </p:nvSpPr>
        <p:spPr>
          <a:xfrm>
            <a:off x="4297680" y="3429000"/>
            <a:ext cx="3584448" cy="1481328"/>
          </a:xfrm>
          <a:prstGeom prst="roundRect">
            <a:avLst>
              <a:gd name="adj" fmla="val 4938"/>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27" name="Shape 21"/>
          <p:cNvSpPr/>
          <p:nvPr/>
        </p:nvSpPr>
        <p:spPr>
          <a:xfrm>
            <a:off x="4517136" y="3648456"/>
            <a:ext cx="566928" cy="566928"/>
          </a:xfrm>
          <a:prstGeom prst="ellipse">
            <a:avLst/>
          </a:prstGeom>
          <a:solidFill>
            <a:srgbClr val="1E2761"/>
          </a:solidFill>
          <a:ln/>
        </p:spPr>
      </p:sp>
      <p:pic>
        <p:nvPicPr>
          <p:cNvPr id="28" name="Image 4" descr="preencoded.png">    </p:cNvPr>
          <p:cNvPicPr>
            <a:picLocks noChangeAspect="1"/>
          </p:cNvPicPr>
          <p:nvPr/>
        </p:nvPicPr>
        <p:blipFill>
          <a:blip r:embed="rId5"/>
          <a:stretch>
            <a:fillRect/>
          </a:stretch>
        </p:blipFill>
        <p:spPr>
          <a:xfrm>
            <a:off x="4664537" y="3795857"/>
            <a:ext cx="272125" cy="272125"/>
          </a:xfrm>
          <a:prstGeom prst="rect">
            <a:avLst/>
          </a:prstGeom>
        </p:spPr>
      </p:pic>
      <p:sp>
        <p:nvSpPr>
          <p:cNvPr id="29" name="Text 22"/>
          <p:cNvSpPr/>
          <p:nvPr/>
        </p:nvSpPr>
        <p:spPr>
          <a:xfrm>
            <a:off x="5193792" y="3630168"/>
            <a:ext cx="2532888" cy="566928"/>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Accessibility pre-flight</a:t>
            </a:r>
            <a:endParaRPr lang="en-US" sz="1350" dirty="0"/>
          </a:p>
        </p:txBody>
      </p:sp>
      <p:sp>
        <p:nvSpPr>
          <p:cNvPr id="30" name="Text 23"/>
          <p:cNvSpPr/>
          <p:nvPr/>
        </p:nvSpPr>
        <p:spPr>
          <a:xfrm>
            <a:off x="4517136" y="4215384"/>
            <a:ext cx="3172968" cy="603504"/>
          </a:xfrm>
          <a:prstGeom prst="rect">
            <a:avLst/>
          </a:prstGeom>
          <a:noFill/>
          <a:ln/>
        </p:spPr>
        <p:txBody>
          <a:bodyPr wrap="square" lIns="0" tIns="0" rIns="0" bIns="0" rtlCol="0" anchor="ctr"/>
          <a:lstStyle/>
          <a:p>
            <a:pPr indent="0" marL="0">
              <a:lnSpc>
                <a:spcPct val="98000"/>
              </a:lnSpc>
              <a:buNone/>
            </a:pPr>
            <a:r>
              <a:rPr lang="en-US" sz="1000" dirty="0">
                <a:solidFill>
                  <a:srgbClr val="33384F"/>
                </a:solidFill>
                <a:latin typeface="Calibri" pitchFamily="34" charset="0"/>
                <a:ea typeface="Calibri" pitchFamily="34" charset="-122"/>
                <a:cs typeface="Calibri" pitchFamily="34" charset="-120"/>
              </a:rPr>
              <a:t>Alt-text, heading order, link purpose, plain-language grade checks on generated content; Agent 07 produces accessible formats.</a:t>
            </a:r>
            <a:endParaRPr lang="en-US" sz="1000" dirty="0"/>
          </a:p>
        </p:txBody>
      </p:sp>
      <p:sp>
        <p:nvSpPr>
          <p:cNvPr id="31" name="Shape 24"/>
          <p:cNvSpPr/>
          <p:nvPr/>
        </p:nvSpPr>
        <p:spPr>
          <a:xfrm>
            <a:off x="8046720" y="3429000"/>
            <a:ext cx="3584448" cy="1481328"/>
          </a:xfrm>
          <a:prstGeom prst="roundRect">
            <a:avLst>
              <a:gd name="adj" fmla="val 4938"/>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32" name="Shape 25"/>
          <p:cNvSpPr/>
          <p:nvPr/>
        </p:nvSpPr>
        <p:spPr>
          <a:xfrm>
            <a:off x="8266176" y="3648456"/>
            <a:ext cx="566928" cy="566928"/>
          </a:xfrm>
          <a:prstGeom prst="ellipse">
            <a:avLst/>
          </a:prstGeom>
          <a:solidFill>
            <a:srgbClr val="1E2761"/>
          </a:solidFill>
          <a:ln/>
        </p:spPr>
      </p:sp>
      <p:pic>
        <p:nvPicPr>
          <p:cNvPr id="33" name="Image 5" descr="preencoded.png">    </p:cNvPr>
          <p:cNvPicPr>
            <a:picLocks noChangeAspect="1"/>
          </p:cNvPicPr>
          <p:nvPr/>
        </p:nvPicPr>
        <p:blipFill>
          <a:blip r:embed="rId6"/>
          <a:stretch>
            <a:fillRect/>
          </a:stretch>
        </p:blipFill>
        <p:spPr>
          <a:xfrm>
            <a:off x="8413577" y="3795857"/>
            <a:ext cx="272125" cy="272125"/>
          </a:xfrm>
          <a:prstGeom prst="rect">
            <a:avLst/>
          </a:prstGeom>
        </p:spPr>
      </p:pic>
      <p:sp>
        <p:nvSpPr>
          <p:cNvPr id="34" name="Text 26"/>
          <p:cNvSpPr/>
          <p:nvPr/>
        </p:nvSpPr>
        <p:spPr>
          <a:xfrm>
            <a:off x="8942832" y="3630168"/>
            <a:ext cx="2532888" cy="566928"/>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Four-fifths fairness screen</a:t>
            </a:r>
            <a:endParaRPr lang="en-US" sz="1350" dirty="0"/>
          </a:p>
        </p:txBody>
      </p:sp>
      <p:sp>
        <p:nvSpPr>
          <p:cNvPr id="35" name="Text 27"/>
          <p:cNvSpPr/>
          <p:nvPr/>
        </p:nvSpPr>
        <p:spPr>
          <a:xfrm>
            <a:off x="8266176" y="4215384"/>
            <a:ext cx="3172968" cy="603504"/>
          </a:xfrm>
          <a:prstGeom prst="rect">
            <a:avLst/>
          </a:prstGeom>
          <a:noFill/>
          <a:ln/>
        </p:spPr>
        <p:txBody>
          <a:bodyPr wrap="square" lIns="0" tIns="0" rIns="0" bIns="0" rtlCol="0" anchor="ctr"/>
          <a:lstStyle/>
          <a:p>
            <a:pPr indent="0" marL="0">
              <a:lnSpc>
                <a:spcPct val="98000"/>
              </a:lnSpc>
              <a:buNone/>
            </a:pPr>
            <a:r>
              <a:rPr lang="en-US" sz="1000" dirty="0">
                <a:solidFill>
                  <a:srgbClr val="33384F"/>
                </a:solidFill>
                <a:latin typeface="Calibri" pitchFamily="34" charset="0"/>
                <a:ea typeface="Calibri" pitchFamily="34" charset="-122"/>
                <a:cs typeface="Calibri" pitchFamily="34" charset="-120"/>
              </a:rPr>
              <a:t>Disparate-impact + representativeness check on any flag/rank workflow; outcomes routed to human equity review — no automated adverse action.</a:t>
            </a:r>
            <a:endParaRPr lang="en-US" sz="1000" dirty="0"/>
          </a:p>
        </p:txBody>
      </p:sp>
      <p:sp>
        <p:nvSpPr>
          <p:cNvPr id="36" name="Shape 28"/>
          <p:cNvSpPr/>
          <p:nvPr/>
        </p:nvSpPr>
        <p:spPr>
          <a:xfrm>
            <a:off x="548640" y="5138928"/>
            <a:ext cx="11091672" cy="1078992"/>
          </a:xfrm>
          <a:prstGeom prst="roundRect">
            <a:avLst>
              <a:gd name="adj" fmla="val 5932"/>
            </a:avLst>
          </a:prstGeom>
          <a:solidFill>
            <a:srgbClr val="1E2761"/>
          </a:solidFill>
          <a:ln/>
        </p:spPr>
      </p:sp>
      <p:sp>
        <p:nvSpPr>
          <p:cNvPr id="37" name="Shape 29"/>
          <p:cNvSpPr/>
          <p:nvPr/>
        </p:nvSpPr>
        <p:spPr>
          <a:xfrm>
            <a:off x="749808" y="5340096"/>
            <a:ext cx="676656" cy="676656"/>
          </a:xfrm>
          <a:prstGeom prst="ellipse">
            <a:avLst/>
          </a:prstGeom>
          <a:solidFill>
            <a:srgbClr val="00A896"/>
          </a:solidFill>
          <a:ln/>
        </p:spPr>
      </p:sp>
      <p:pic>
        <p:nvPicPr>
          <p:cNvPr id="38" name="Image 6" descr="preencoded.png">    </p:cNvPr>
          <p:cNvPicPr>
            <a:picLocks noChangeAspect="1"/>
          </p:cNvPicPr>
          <p:nvPr/>
        </p:nvPicPr>
        <p:blipFill>
          <a:blip r:embed="rId7"/>
          <a:stretch>
            <a:fillRect/>
          </a:stretch>
        </p:blipFill>
        <p:spPr>
          <a:xfrm>
            <a:off x="925739" y="5516027"/>
            <a:ext cx="324795" cy="324795"/>
          </a:xfrm>
          <a:prstGeom prst="rect">
            <a:avLst/>
          </a:prstGeom>
        </p:spPr>
      </p:pic>
      <p:sp>
        <p:nvSpPr>
          <p:cNvPr id="39" name="Text 30"/>
          <p:cNvSpPr/>
          <p:nvPr/>
        </p:nvSpPr>
        <p:spPr>
          <a:xfrm>
            <a:off x="1554480" y="5248656"/>
            <a:ext cx="9921240" cy="868680"/>
          </a:xfrm>
          <a:prstGeom prst="rect">
            <a:avLst/>
          </a:prstGeom>
          <a:noFill/>
          <a:ln/>
        </p:spPr>
        <p:txBody>
          <a:bodyPr wrap="square" lIns="0" tIns="0" rIns="0" bIns="0" rtlCol="0" anchor="ctr"/>
          <a:lstStyle/>
          <a:p>
            <a:pPr indent="0" marL="0">
              <a:lnSpc>
                <a:spcPct val="98000"/>
              </a:lnSpc>
              <a:buNone/>
            </a:pPr>
            <a:r>
              <a:rPr lang="en-US" sz="1200" b="1" dirty="0">
                <a:solidFill>
                  <a:srgbClr val="7FE3D2"/>
                </a:solidFill>
                <a:latin typeface="Calibri" pitchFamily="34" charset="0"/>
                <a:ea typeface="Calibri" pitchFamily="34" charset="-122"/>
                <a:cs typeface="Calibri" pitchFamily="34" charset="-120"/>
              </a:rPr>
              <a:t>Mapped to the EDU regulatory stack:  </a:t>
            </a:r>
            <a:pPr indent="0" marL="0">
              <a:lnSpc>
                <a:spcPct val="98000"/>
              </a:lnSpc>
              <a:buNone/>
            </a:pPr>
            <a:r>
              <a:rPr lang="en-US" sz="1150" dirty="0">
                <a:solidFill>
                  <a:srgbClr val="FFFFFF"/>
                </a:solidFill>
                <a:latin typeface="Calibri" pitchFamily="34" charset="0"/>
                <a:ea typeface="Calibri" pitchFamily="34" charset="-122"/>
                <a:cs typeface="Calibri" pitchFamily="34" charset="-120"/>
              </a:rPr>
              <a:t>FERPA · COPPA · PPRA · IDEA / Section 504 · ADA Title II / 508 / WCAG 2.2 AA · GLBA · Title VI/OCR · NIST AI RMF 1.0. The bright line — grades, admissions, discipline, financial aid, IEP eligibility, placement — is never decided by the agent.</a:t>
            </a:r>
            <a:endParaRPr lang="en-US" sz="1200" dirty="0"/>
          </a:p>
        </p:txBody>
      </p:sp>
      <p:sp>
        <p:nvSpPr>
          <p:cNvPr id="40" name="Text 31"/>
          <p:cNvSpPr/>
          <p:nvPr/>
        </p:nvSpPr>
        <p:spPr>
          <a:xfrm>
            <a:off x="548640" y="6528816"/>
            <a:ext cx="11064240" cy="256032"/>
          </a:xfrm>
          <a:prstGeom prst="rect">
            <a:avLst/>
          </a:prstGeom>
          <a:noFill/>
          <a:ln/>
        </p:spPr>
        <p:txBody>
          <a:bodyPr wrap="square" lIns="0" tIns="0" rIns="0" bIns="0" rtlCol="0" anchor="ctr"/>
          <a:lstStyle/>
          <a:p>
            <a:pPr indent="0" marL="0">
              <a:buNone/>
            </a:pPr>
            <a:r>
              <a:rPr lang="en-US" sz="850" dirty="0">
                <a:solidFill>
                  <a:srgbClr val="5A6485"/>
                </a:solidFill>
                <a:latin typeface="Calibri" pitchFamily="34" charset="0"/>
                <a:ea typeface="Calibri" pitchFamily="34" charset="-122"/>
                <a:cs typeface="Calibri" pitchFamily="34" charset="-120"/>
              </a:rPr>
              <a:t>EDU AI Agent Suite  ·  Infrastructure &amp; Adoption Review  ·  Governed accelerator, not a turnkey certified product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10896"/>
            <a:ext cx="9601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THE HONEST PART</a:t>
            </a:r>
            <a:endParaRPr lang="en-US" sz="1200" dirty="0"/>
          </a:p>
        </p:txBody>
      </p:sp>
      <p:sp>
        <p:nvSpPr>
          <p:cNvPr id="3" name="Text 1"/>
          <p:cNvSpPr/>
          <p:nvPr/>
        </p:nvSpPr>
        <p:spPr>
          <a:xfrm>
            <a:off x="548640" y="566928"/>
            <a:ext cx="1042416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Where it falls short — open risks today</a:t>
            </a:r>
            <a:endParaRPr lang="en-US" sz="2700" dirty="0"/>
          </a:p>
        </p:txBody>
      </p:sp>
      <p:sp>
        <p:nvSpPr>
          <p:cNvPr id="4" name="Text 2"/>
          <p:cNvSpPr/>
          <p:nvPr/>
        </p:nvSpPr>
        <p:spPr>
          <a:xfrm>
            <a:off x="11350447" y="310896"/>
            <a:ext cx="457200" cy="310896"/>
          </a:xfrm>
          <a:prstGeom prst="rect">
            <a:avLst/>
          </a:prstGeom>
          <a:noFill/>
          <a:ln/>
        </p:spPr>
        <p:txBody>
          <a:bodyPr wrap="square" lIns="0" tIns="0" rIns="0" bIns="0" rtlCol="0" anchor="ctr"/>
          <a:lstStyle/>
          <a:p>
            <a:pPr algn="ctr" indent="0" marL="0">
              <a:buNone/>
            </a:pPr>
            <a:r>
              <a:rPr lang="en-US" sz="1200" b="1" dirty="0">
                <a:solidFill>
                  <a:srgbClr val="5A6485"/>
                </a:solidFill>
                <a:latin typeface="Calibri" pitchFamily="34" charset="0"/>
                <a:ea typeface="Calibri" pitchFamily="34" charset="-122"/>
                <a:cs typeface="Calibri" pitchFamily="34" charset="-120"/>
              </a:rPr>
              <a:t>5</a:t>
            </a:r>
            <a:endParaRPr lang="en-US" sz="1200" dirty="0"/>
          </a:p>
        </p:txBody>
      </p:sp>
      <p:sp>
        <p:nvSpPr>
          <p:cNvPr id="5" name="Text 3"/>
          <p:cNvSpPr/>
          <p:nvPr/>
        </p:nvSpPr>
        <p:spPr>
          <a:xfrm>
            <a:off x="548640" y="1234440"/>
            <a:ext cx="11064240" cy="365760"/>
          </a:xfrm>
          <a:prstGeom prst="rect">
            <a:avLst/>
          </a:prstGeom>
          <a:noFill/>
          <a:ln/>
        </p:spPr>
        <p:txBody>
          <a:bodyPr wrap="square" lIns="0" tIns="0" rIns="0" bIns="0" rtlCol="0" anchor="ctr"/>
          <a:lstStyle/>
          <a:p>
            <a:pPr indent="0" marL="0">
              <a:buNone/>
            </a:pPr>
            <a:r>
              <a:rPr lang="en-US" sz="1300" i="1" dirty="0">
                <a:solidFill>
                  <a:srgbClr val="5A6485"/>
                </a:solidFill>
                <a:latin typeface="Calibri" pitchFamily="34" charset="0"/>
                <a:ea typeface="Calibri" pitchFamily="34" charset="-122"/>
                <a:cs typeface="Calibri" pitchFamily="34" charset="-120"/>
              </a:rPr>
              <a:t>Drawn directly from the deployment reference's own “gaps / what you must add” callouts. None are hidden; all are scoped.</a:t>
            </a:r>
            <a:endParaRPr lang="en-US" sz="1300" dirty="0"/>
          </a:p>
        </p:txBody>
      </p:sp>
      <p:sp>
        <p:nvSpPr>
          <p:cNvPr id="6" name="Shape 4"/>
          <p:cNvSpPr/>
          <p:nvPr/>
        </p:nvSpPr>
        <p:spPr>
          <a:xfrm>
            <a:off x="548640" y="1755648"/>
            <a:ext cx="5413248" cy="1024128"/>
          </a:xfrm>
          <a:prstGeom prst="roundRect">
            <a:avLst>
              <a:gd name="adj" fmla="val 6250"/>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7" name="Shape 5"/>
          <p:cNvSpPr/>
          <p:nvPr/>
        </p:nvSpPr>
        <p:spPr>
          <a:xfrm>
            <a:off x="713232" y="1938528"/>
            <a:ext cx="713232" cy="310896"/>
          </a:xfrm>
          <a:prstGeom prst="roundRect">
            <a:avLst>
              <a:gd name="adj" fmla="val 14706"/>
            </a:avLst>
          </a:prstGeom>
          <a:solidFill>
            <a:srgbClr val="C2543B"/>
          </a:solidFill>
          <a:ln/>
        </p:spPr>
      </p:sp>
      <p:sp>
        <p:nvSpPr>
          <p:cNvPr id="8" name="Text 6"/>
          <p:cNvSpPr/>
          <p:nvPr/>
        </p:nvSpPr>
        <p:spPr>
          <a:xfrm>
            <a:off x="713232" y="1938528"/>
            <a:ext cx="713232"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GAP</a:t>
            </a:r>
            <a:endParaRPr lang="en-US" sz="900" dirty="0"/>
          </a:p>
        </p:txBody>
      </p:sp>
      <p:sp>
        <p:nvSpPr>
          <p:cNvPr id="9" name="Text 7"/>
          <p:cNvSpPr/>
          <p:nvPr/>
        </p:nvSpPr>
        <p:spPr>
          <a:xfrm>
            <a:off x="1517904" y="1883664"/>
            <a:ext cx="4315968" cy="310896"/>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Edge layer not in IaC</a:t>
            </a:r>
            <a:endParaRPr lang="en-US" sz="1300" dirty="0"/>
          </a:p>
        </p:txBody>
      </p:sp>
      <p:sp>
        <p:nvSpPr>
          <p:cNvPr id="10" name="Text 8"/>
          <p:cNvSpPr/>
          <p:nvPr/>
        </p:nvSpPr>
        <p:spPr>
          <a:xfrm>
            <a:off x="1517904" y="2185416"/>
            <a:ext cx="4297680" cy="530352"/>
          </a:xfrm>
          <a:prstGeom prst="rect">
            <a:avLst/>
          </a:prstGeom>
          <a:noFill/>
          <a:ln/>
        </p:spPr>
        <p:txBody>
          <a:bodyPr wrap="square" lIns="0" tIns="0" rIns="0" bIns="0" rtlCol="0" anchor="ctr"/>
          <a:lstStyle/>
          <a:p>
            <a:pPr indent="0" marL="0">
              <a:lnSpc>
                <a:spcPct val="96000"/>
              </a:lnSpc>
              <a:buNone/>
            </a:pPr>
            <a:r>
              <a:rPr lang="en-US" sz="980" dirty="0">
                <a:solidFill>
                  <a:srgbClr val="33384F"/>
                </a:solidFill>
                <a:latin typeface="Calibri" pitchFamily="34" charset="0"/>
                <a:ea typeface="Calibri" pitchFamily="34" charset="-122"/>
                <a:cs typeface="Calibri" pitchFamily="34" charset="-120"/>
              </a:rPr>
              <a:t>No CloudFront / WAF / ACM / Route 53 template. The production public front door is a customer build.</a:t>
            </a:r>
            <a:endParaRPr lang="en-US" sz="980" dirty="0"/>
          </a:p>
        </p:txBody>
      </p:sp>
      <p:sp>
        <p:nvSpPr>
          <p:cNvPr id="11" name="Shape 9"/>
          <p:cNvSpPr/>
          <p:nvPr/>
        </p:nvSpPr>
        <p:spPr>
          <a:xfrm>
            <a:off x="6217920" y="1755648"/>
            <a:ext cx="5413248" cy="1024128"/>
          </a:xfrm>
          <a:prstGeom prst="roundRect">
            <a:avLst>
              <a:gd name="adj" fmla="val 6250"/>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12" name="Shape 10"/>
          <p:cNvSpPr/>
          <p:nvPr/>
        </p:nvSpPr>
        <p:spPr>
          <a:xfrm>
            <a:off x="6382512" y="1938528"/>
            <a:ext cx="713232" cy="310896"/>
          </a:xfrm>
          <a:prstGeom prst="roundRect">
            <a:avLst>
              <a:gd name="adj" fmla="val 14706"/>
            </a:avLst>
          </a:prstGeom>
          <a:solidFill>
            <a:srgbClr val="C2543B"/>
          </a:solidFill>
          <a:ln/>
        </p:spPr>
      </p:sp>
      <p:sp>
        <p:nvSpPr>
          <p:cNvPr id="13" name="Text 11"/>
          <p:cNvSpPr/>
          <p:nvPr/>
        </p:nvSpPr>
        <p:spPr>
          <a:xfrm>
            <a:off x="6382512" y="1938528"/>
            <a:ext cx="713232"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GAP</a:t>
            </a:r>
            <a:endParaRPr lang="en-US" sz="900" dirty="0"/>
          </a:p>
        </p:txBody>
      </p:sp>
      <p:sp>
        <p:nvSpPr>
          <p:cNvPr id="14" name="Text 12"/>
          <p:cNvSpPr/>
          <p:nvPr/>
        </p:nvSpPr>
        <p:spPr>
          <a:xfrm>
            <a:off x="7187184" y="1883664"/>
            <a:ext cx="4315968" cy="310896"/>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Observability is thin</a:t>
            </a:r>
            <a:endParaRPr lang="en-US" sz="1300" dirty="0"/>
          </a:p>
        </p:txBody>
      </p:sp>
      <p:sp>
        <p:nvSpPr>
          <p:cNvPr id="15" name="Text 13"/>
          <p:cNvSpPr/>
          <p:nvPr/>
        </p:nvSpPr>
        <p:spPr>
          <a:xfrm>
            <a:off x="7187184" y="2185416"/>
            <a:ext cx="4297680" cy="530352"/>
          </a:xfrm>
          <a:prstGeom prst="rect">
            <a:avLst/>
          </a:prstGeom>
          <a:noFill/>
          <a:ln/>
        </p:spPr>
        <p:txBody>
          <a:bodyPr wrap="square" lIns="0" tIns="0" rIns="0" bIns="0" rtlCol="0" anchor="ctr"/>
          <a:lstStyle/>
          <a:p>
            <a:pPr indent="0" marL="0">
              <a:lnSpc>
                <a:spcPct val="96000"/>
              </a:lnSpc>
              <a:buNone/>
            </a:pPr>
            <a:r>
              <a:rPr lang="en-US" sz="980" dirty="0">
                <a:solidFill>
                  <a:srgbClr val="33384F"/>
                </a:solidFill>
                <a:latin typeface="Calibri" pitchFamily="34" charset="0"/>
                <a:ea typeface="Calibri" pitchFamily="34" charset="-122"/>
                <a:cs typeface="Calibri" pitchFamily="34" charset="-120"/>
              </a:rPr>
              <a:t>No CloudWatch alarm/dashboard template ships. Runbooks assume alarms you must author. CloudTrail is manual.</a:t>
            </a:r>
            <a:endParaRPr lang="en-US" sz="980" dirty="0"/>
          </a:p>
        </p:txBody>
      </p:sp>
      <p:sp>
        <p:nvSpPr>
          <p:cNvPr id="16" name="Shape 14"/>
          <p:cNvSpPr/>
          <p:nvPr/>
        </p:nvSpPr>
        <p:spPr>
          <a:xfrm>
            <a:off x="548640" y="2944368"/>
            <a:ext cx="5413248" cy="1024128"/>
          </a:xfrm>
          <a:prstGeom prst="roundRect">
            <a:avLst>
              <a:gd name="adj" fmla="val 6250"/>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17" name="Shape 15"/>
          <p:cNvSpPr/>
          <p:nvPr/>
        </p:nvSpPr>
        <p:spPr>
          <a:xfrm>
            <a:off x="713232" y="3127248"/>
            <a:ext cx="713232" cy="310896"/>
          </a:xfrm>
          <a:prstGeom prst="roundRect">
            <a:avLst>
              <a:gd name="adj" fmla="val 14706"/>
            </a:avLst>
          </a:prstGeom>
          <a:solidFill>
            <a:srgbClr val="E8A33D"/>
          </a:solidFill>
          <a:ln/>
        </p:spPr>
      </p:sp>
      <p:sp>
        <p:nvSpPr>
          <p:cNvPr id="18" name="Text 16"/>
          <p:cNvSpPr/>
          <p:nvPr/>
        </p:nvSpPr>
        <p:spPr>
          <a:xfrm>
            <a:off x="713232" y="3127248"/>
            <a:ext cx="713232"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a:t>
            </a:r>
            <a:endParaRPr lang="en-US" sz="900" dirty="0"/>
          </a:p>
        </p:txBody>
      </p:sp>
      <p:sp>
        <p:nvSpPr>
          <p:cNvPr id="19" name="Text 17"/>
          <p:cNvSpPr/>
          <p:nvPr/>
        </p:nvSpPr>
        <p:spPr>
          <a:xfrm>
            <a:off x="1517904" y="3072384"/>
            <a:ext cx="4315968" cy="310896"/>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VPC endpoints incomplete</a:t>
            </a:r>
            <a:endParaRPr lang="en-US" sz="1300" dirty="0"/>
          </a:p>
        </p:txBody>
      </p:sp>
      <p:sp>
        <p:nvSpPr>
          <p:cNvPr id="20" name="Text 18"/>
          <p:cNvSpPr/>
          <p:nvPr/>
        </p:nvSpPr>
        <p:spPr>
          <a:xfrm>
            <a:off x="1517904" y="3374136"/>
            <a:ext cx="4297680" cy="530352"/>
          </a:xfrm>
          <a:prstGeom prst="rect">
            <a:avLst/>
          </a:prstGeom>
          <a:noFill/>
          <a:ln/>
        </p:spPr>
        <p:txBody>
          <a:bodyPr wrap="square" lIns="0" tIns="0" rIns="0" bIns="0" rtlCol="0" anchor="ctr"/>
          <a:lstStyle/>
          <a:p>
            <a:pPr indent="0" marL="0">
              <a:lnSpc>
                <a:spcPct val="96000"/>
              </a:lnSpc>
              <a:buNone/>
            </a:pPr>
            <a:r>
              <a:rPr lang="en-US" sz="980" dirty="0">
                <a:solidFill>
                  <a:srgbClr val="33384F"/>
                </a:solidFill>
                <a:latin typeface="Calibri" pitchFamily="34" charset="0"/>
                <a:ea typeface="Calibri" pitchFamily="34" charset="-122"/>
                <a:cs typeface="Calibri" pitchFamily="34" charset="-120"/>
              </a:rPr>
              <a:t>Secrets Manager / KMS / Logs egress via NAT today; single NAT is reference-only. Add endpoints + NAT-per-AZ.</a:t>
            </a:r>
            <a:endParaRPr lang="en-US" sz="980" dirty="0"/>
          </a:p>
        </p:txBody>
      </p:sp>
      <p:sp>
        <p:nvSpPr>
          <p:cNvPr id="21" name="Shape 19"/>
          <p:cNvSpPr/>
          <p:nvPr/>
        </p:nvSpPr>
        <p:spPr>
          <a:xfrm>
            <a:off x="6217920" y="2944368"/>
            <a:ext cx="5413248" cy="1024128"/>
          </a:xfrm>
          <a:prstGeom prst="roundRect">
            <a:avLst>
              <a:gd name="adj" fmla="val 6250"/>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22" name="Shape 20"/>
          <p:cNvSpPr/>
          <p:nvPr/>
        </p:nvSpPr>
        <p:spPr>
          <a:xfrm>
            <a:off x="6382512" y="3127248"/>
            <a:ext cx="713232" cy="310896"/>
          </a:xfrm>
          <a:prstGeom prst="roundRect">
            <a:avLst>
              <a:gd name="adj" fmla="val 14706"/>
            </a:avLst>
          </a:prstGeom>
          <a:solidFill>
            <a:srgbClr val="E8A33D"/>
          </a:solidFill>
          <a:ln/>
        </p:spPr>
      </p:sp>
      <p:sp>
        <p:nvSpPr>
          <p:cNvPr id="23" name="Text 21"/>
          <p:cNvSpPr/>
          <p:nvPr/>
        </p:nvSpPr>
        <p:spPr>
          <a:xfrm>
            <a:off x="6382512" y="3127248"/>
            <a:ext cx="713232"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a:t>
            </a:r>
            <a:endParaRPr lang="en-US" sz="900" dirty="0"/>
          </a:p>
        </p:txBody>
      </p:sp>
      <p:sp>
        <p:nvSpPr>
          <p:cNvPr id="24" name="Text 22"/>
          <p:cNvSpPr/>
          <p:nvPr/>
        </p:nvSpPr>
        <p:spPr>
          <a:xfrm>
            <a:off x="7187184" y="3072384"/>
            <a:ext cx="4315968" cy="310896"/>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AgentCore = placeholders</a:t>
            </a:r>
            <a:endParaRPr lang="en-US" sz="1300" dirty="0"/>
          </a:p>
        </p:txBody>
      </p:sp>
      <p:sp>
        <p:nvSpPr>
          <p:cNvPr id="25" name="Text 23"/>
          <p:cNvSpPr/>
          <p:nvPr/>
        </p:nvSpPr>
        <p:spPr>
          <a:xfrm>
            <a:off x="7187184" y="3374136"/>
            <a:ext cx="4297680" cy="530352"/>
          </a:xfrm>
          <a:prstGeom prst="rect">
            <a:avLst/>
          </a:prstGeom>
          <a:noFill/>
          <a:ln/>
        </p:spPr>
        <p:txBody>
          <a:bodyPr wrap="square" lIns="0" tIns="0" rIns="0" bIns="0" rtlCol="0" anchor="ctr"/>
          <a:lstStyle/>
          <a:p>
            <a:pPr indent="0" marL="0">
              <a:lnSpc>
                <a:spcPct val="96000"/>
              </a:lnSpc>
              <a:buNone/>
            </a:pPr>
            <a:r>
              <a:rPr lang="en-US" sz="980" dirty="0">
                <a:solidFill>
                  <a:srgbClr val="33384F"/>
                </a:solidFill>
                <a:latin typeface="Calibri" pitchFamily="34" charset="0"/>
                <a:ea typeface="Calibri" pitchFamily="34" charset="-122"/>
                <a:cs typeface="Calibri" pitchFamily="34" charset="-120"/>
              </a:rPr>
              <a:t>Gateway &amp; Runtime register via customer-supplied custom-resource Lambdas; blank token writes SSM placeholders only.</a:t>
            </a:r>
            <a:endParaRPr lang="en-US" sz="980" dirty="0"/>
          </a:p>
        </p:txBody>
      </p:sp>
      <p:sp>
        <p:nvSpPr>
          <p:cNvPr id="26" name="Shape 24"/>
          <p:cNvSpPr/>
          <p:nvPr/>
        </p:nvSpPr>
        <p:spPr>
          <a:xfrm>
            <a:off x="548640" y="4133088"/>
            <a:ext cx="5413248" cy="1024128"/>
          </a:xfrm>
          <a:prstGeom prst="roundRect">
            <a:avLst>
              <a:gd name="adj" fmla="val 6250"/>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27" name="Shape 25"/>
          <p:cNvSpPr/>
          <p:nvPr/>
        </p:nvSpPr>
        <p:spPr>
          <a:xfrm>
            <a:off x="713232" y="4315968"/>
            <a:ext cx="713232" cy="310896"/>
          </a:xfrm>
          <a:prstGeom prst="roundRect">
            <a:avLst>
              <a:gd name="adj" fmla="val 14706"/>
            </a:avLst>
          </a:prstGeom>
          <a:solidFill>
            <a:srgbClr val="E8A33D"/>
          </a:solidFill>
          <a:ln/>
        </p:spPr>
      </p:sp>
      <p:sp>
        <p:nvSpPr>
          <p:cNvPr id="28" name="Text 26"/>
          <p:cNvSpPr/>
          <p:nvPr/>
        </p:nvSpPr>
        <p:spPr>
          <a:xfrm>
            <a:off x="713232" y="4315968"/>
            <a:ext cx="713232"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PART</a:t>
            </a:r>
            <a:endParaRPr lang="en-US" sz="900" dirty="0"/>
          </a:p>
        </p:txBody>
      </p:sp>
      <p:sp>
        <p:nvSpPr>
          <p:cNvPr id="29" name="Text 27"/>
          <p:cNvSpPr/>
          <p:nvPr/>
        </p:nvSpPr>
        <p:spPr>
          <a:xfrm>
            <a:off x="1517904" y="4261104"/>
            <a:ext cx="4315968" cy="310896"/>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Connector secrets manual</a:t>
            </a:r>
            <a:endParaRPr lang="en-US" sz="1300" dirty="0"/>
          </a:p>
        </p:txBody>
      </p:sp>
      <p:sp>
        <p:nvSpPr>
          <p:cNvPr id="30" name="Text 28"/>
          <p:cNvSpPr/>
          <p:nvPr/>
        </p:nvSpPr>
        <p:spPr>
          <a:xfrm>
            <a:off x="1517904" y="4562856"/>
            <a:ext cx="4297680" cy="530352"/>
          </a:xfrm>
          <a:prstGeom prst="rect">
            <a:avLst/>
          </a:prstGeom>
          <a:noFill/>
          <a:ln/>
        </p:spPr>
        <p:txBody>
          <a:bodyPr wrap="square" lIns="0" tIns="0" rIns="0" bIns="0" rtlCol="0" anchor="ctr"/>
          <a:lstStyle/>
          <a:p>
            <a:pPr indent="0" marL="0">
              <a:lnSpc>
                <a:spcPct val="96000"/>
              </a:lnSpc>
              <a:buNone/>
            </a:pPr>
            <a:r>
              <a:rPr lang="en-US" sz="980" dirty="0">
                <a:solidFill>
                  <a:srgbClr val="33384F"/>
                </a:solidFill>
                <a:latin typeface="Calibri" pitchFamily="34" charset="0"/>
                <a:ea typeface="Calibri" pitchFamily="34" charset="-122"/>
                <a:cs typeface="Calibri" pitchFamily="34" charset="-120"/>
              </a:rPr>
              <a:t>Secrets Manager entries are created by hand, not IaC. Target specs cover only sis/lms/crm/itsm.</a:t>
            </a:r>
            <a:endParaRPr lang="en-US" sz="980" dirty="0"/>
          </a:p>
        </p:txBody>
      </p:sp>
      <p:sp>
        <p:nvSpPr>
          <p:cNvPr id="31" name="Shape 29"/>
          <p:cNvSpPr/>
          <p:nvPr/>
        </p:nvSpPr>
        <p:spPr>
          <a:xfrm>
            <a:off x="6217920" y="4133088"/>
            <a:ext cx="5413248" cy="1024128"/>
          </a:xfrm>
          <a:prstGeom prst="roundRect">
            <a:avLst>
              <a:gd name="adj" fmla="val 6250"/>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32" name="Shape 30"/>
          <p:cNvSpPr/>
          <p:nvPr/>
        </p:nvSpPr>
        <p:spPr>
          <a:xfrm>
            <a:off x="6382512" y="4315968"/>
            <a:ext cx="713232" cy="310896"/>
          </a:xfrm>
          <a:prstGeom prst="roundRect">
            <a:avLst>
              <a:gd name="adj" fmla="val 14706"/>
            </a:avLst>
          </a:prstGeom>
          <a:solidFill>
            <a:srgbClr val="1E2761"/>
          </a:solidFill>
          <a:ln/>
        </p:spPr>
      </p:sp>
      <p:sp>
        <p:nvSpPr>
          <p:cNvPr id="33" name="Text 31"/>
          <p:cNvSpPr/>
          <p:nvPr/>
        </p:nvSpPr>
        <p:spPr>
          <a:xfrm>
            <a:off x="6382512" y="4315968"/>
            <a:ext cx="713232"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STUB</a:t>
            </a:r>
            <a:endParaRPr lang="en-US" sz="900" dirty="0"/>
          </a:p>
        </p:txBody>
      </p:sp>
      <p:sp>
        <p:nvSpPr>
          <p:cNvPr id="34" name="Text 32"/>
          <p:cNvSpPr/>
          <p:nvPr/>
        </p:nvSpPr>
        <p:spPr>
          <a:xfrm>
            <a:off x="7187184" y="4261104"/>
            <a:ext cx="4315968" cy="310896"/>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Live connectors are stubs</a:t>
            </a:r>
            <a:endParaRPr lang="en-US" sz="1300" dirty="0"/>
          </a:p>
        </p:txBody>
      </p:sp>
      <p:sp>
        <p:nvSpPr>
          <p:cNvPr id="35" name="Text 33"/>
          <p:cNvSpPr/>
          <p:nvPr/>
        </p:nvSpPr>
        <p:spPr>
          <a:xfrm>
            <a:off x="7187184" y="4562856"/>
            <a:ext cx="4297680" cy="530352"/>
          </a:xfrm>
          <a:prstGeom prst="rect">
            <a:avLst/>
          </a:prstGeom>
          <a:noFill/>
          <a:ln/>
        </p:spPr>
        <p:txBody>
          <a:bodyPr wrap="square" lIns="0" tIns="0" rIns="0" bIns="0" rtlCol="0" anchor="ctr"/>
          <a:lstStyle/>
          <a:p>
            <a:pPr indent="0" marL="0">
              <a:lnSpc>
                <a:spcPct val="96000"/>
              </a:lnSpc>
              <a:buNone/>
            </a:pPr>
            <a:r>
              <a:rPr lang="en-US" sz="980" dirty="0">
                <a:solidFill>
                  <a:srgbClr val="33384F"/>
                </a:solidFill>
                <a:latin typeface="Calibri" pitchFamily="34" charset="0"/>
                <a:ea typeface="Calibri" pitchFamily="34" charset="-122"/>
                <a:cs typeface="Calibri" pitchFamily="34" charset="-120"/>
              </a:rPr>
              <a:t>SIS / LMS / ERP / ITSM run on fixtures; live validation against PowerSchool, Banner, Canvas, ServiceNow is yours.</a:t>
            </a:r>
            <a:endParaRPr lang="en-US" sz="980" dirty="0"/>
          </a:p>
        </p:txBody>
      </p:sp>
      <p:sp>
        <p:nvSpPr>
          <p:cNvPr id="36" name="Shape 34"/>
          <p:cNvSpPr/>
          <p:nvPr/>
        </p:nvSpPr>
        <p:spPr>
          <a:xfrm>
            <a:off x="548640" y="5321808"/>
            <a:ext cx="5413248" cy="1024128"/>
          </a:xfrm>
          <a:prstGeom prst="roundRect">
            <a:avLst>
              <a:gd name="adj" fmla="val 6250"/>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37" name="Shape 35"/>
          <p:cNvSpPr/>
          <p:nvPr/>
        </p:nvSpPr>
        <p:spPr>
          <a:xfrm>
            <a:off x="713232" y="5504688"/>
            <a:ext cx="713232" cy="310896"/>
          </a:xfrm>
          <a:prstGeom prst="roundRect">
            <a:avLst>
              <a:gd name="adj" fmla="val 14706"/>
            </a:avLst>
          </a:prstGeom>
          <a:solidFill>
            <a:srgbClr val="1E2761"/>
          </a:solidFill>
          <a:ln/>
        </p:spPr>
      </p:sp>
      <p:sp>
        <p:nvSpPr>
          <p:cNvPr id="38" name="Text 36"/>
          <p:cNvSpPr/>
          <p:nvPr/>
        </p:nvSpPr>
        <p:spPr>
          <a:xfrm>
            <a:off x="713232" y="5504688"/>
            <a:ext cx="713232"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BUILD</a:t>
            </a:r>
            <a:endParaRPr lang="en-US" sz="900" dirty="0"/>
          </a:p>
        </p:txBody>
      </p:sp>
      <p:sp>
        <p:nvSpPr>
          <p:cNvPr id="39" name="Text 37"/>
          <p:cNvSpPr/>
          <p:nvPr/>
        </p:nvSpPr>
        <p:spPr>
          <a:xfrm>
            <a:off x="1517904" y="5449824"/>
            <a:ext cx="4315968" cy="310896"/>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Reviewer UI is your build</a:t>
            </a:r>
            <a:endParaRPr lang="en-US" sz="1300" dirty="0"/>
          </a:p>
        </p:txBody>
      </p:sp>
      <p:sp>
        <p:nvSpPr>
          <p:cNvPr id="40" name="Text 38"/>
          <p:cNvSpPr/>
          <p:nvPr/>
        </p:nvSpPr>
        <p:spPr>
          <a:xfrm>
            <a:off x="1517904" y="5751576"/>
            <a:ext cx="4297680" cy="530352"/>
          </a:xfrm>
          <a:prstGeom prst="rect">
            <a:avLst/>
          </a:prstGeom>
          <a:noFill/>
          <a:ln/>
        </p:spPr>
        <p:txBody>
          <a:bodyPr wrap="square" lIns="0" tIns="0" rIns="0" bIns="0" rtlCol="0" anchor="ctr"/>
          <a:lstStyle/>
          <a:p>
            <a:pPr indent="0" marL="0">
              <a:lnSpc>
                <a:spcPct val="96000"/>
              </a:lnSpc>
              <a:buNone/>
            </a:pPr>
            <a:r>
              <a:rPr lang="en-US" sz="980" dirty="0">
                <a:solidFill>
                  <a:srgbClr val="33384F"/>
                </a:solidFill>
                <a:latin typeface="Calibri" pitchFamily="34" charset="0"/>
                <a:ea typeface="Calibri" pitchFamily="34" charset="-122"/>
                <a:cs typeface="Calibri" pitchFamily="34" charset="-120"/>
              </a:rPr>
              <a:t>The HITL gate + queue ship; the screen a reviewer uses to approve/reject is a customer/SI build.</a:t>
            </a:r>
            <a:endParaRPr lang="en-US" sz="980" dirty="0"/>
          </a:p>
        </p:txBody>
      </p:sp>
      <p:sp>
        <p:nvSpPr>
          <p:cNvPr id="41" name="Shape 39"/>
          <p:cNvSpPr/>
          <p:nvPr/>
        </p:nvSpPr>
        <p:spPr>
          <a:xfrm>
            <a:off x="6217920" y="5321808"/>
            <a:ext cx="5413248" cy="1024128"/>
          </a:xfrm>
          <a:prstGeom prst="roundRect">
            <a:avLst>
              <a:gd name="adj" fmla="val 6250"/>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42" name="Shape 40"/>
          <p:cNvSpPr/>
          <p:nvPr/>
        </p:nvSpPr>
        <p:spPr>
          <a:xfrm>
            <a:off x="6382512" y="5504688"/>
            <a:ext cx="713232" cy="310896"/>
          </a:xfrm>
          <a:prstGeom prst="roundRect">
            <a:avLst>
              <a:gd name="adj" fmla="val 14706"/>
            </a:avLst>
          </a:prstGeom>
          <a:solidFill>
            <a:srgbClr val="067A6E"/>
          </a:solidFill>
          <a:ln/>
        </p:spPr>
      </p:sp>
      <p:sp>
        <p:nvSpPr>
          <p:cNvPr id="43" name="Text 41"/>
          <p:cNvSpPr/>
          <p:nvPr/>
        </p:nvSpPr>
        <p:spPr>
          <a:xfrm>
            <a:off x="6382512" y="5504688"/>
            <a:ext cx="713232"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RISK</a:t>
            </a:r>
            <a:endParaRPr lang="en-US" sz="900" dirty="0"/>
          </a:p>
        </p:txBody>
      </p:sp>
      <p:sp>
        <p:nvSpPr>
          <p:cNvPr id="44" name="Text 42"/>
          <p:cNvSpPr/>
          <p:nvPr/>
        </p:nvSpPr>
        <p:spPr>
          <a:xfrm>
            <a:off x="7187184" y="5449824"/>
            <a:ext cx="4315968" cy="310896"/>
          </a:xfrm>
          <a:prstGeom prst="rect">
            <a:avLst/>
          </a:prstGeom>
          <a:noFill/>
          <a:ln/>
        </p:spPr>
        <p:txBody>
          <a:bodyPr wrap="square" lIns="0" tIns="0" rIns="0" bIns="0" rtlCol="0" anchor="ctr"/>
          <a:lstStyle/>
          <a:p>
            <a:pPr indent="0" marL="0">
              <a:buNone/>
            </a:pPr>
            <a:r>
              <a:rPr lang="en-US" sz="1300" b="1" dirty="0">
                <a:solidFill>
                  <a:srgbClr val="1E2761"/>
                </a:solidFill>
                <a:latin typeface="Cambria" pitchFamily="34" charset="0"/>
                <a:ea typeface="Cambria" pitchFamily="34" charset="-122"/>
                <a:cs typeface="Cambria" pitchFamily="34" charset="-120"/>
              </a:rPr>
              <a:t>No cert · cost · accuracy</a:t>
            </a:r>
            <a:endParaRPr lang="en-US" sz="1300" dirty="0"/>
          </a:p>
        </p:txBody>
      </p:sp>
      <p:sp>
        <p:nvSpPr>
          <p:cNvPr id="45" name="Text 43"/>
          <p:cNvSpPr/>
          <p:nvPr/>
        </p:nvSpPr>
        <p:spPr>
          <a:xfrm>
            <a:off x="7187184" y="5751576"/>
            <a:ext cx="4297680" cy="530352"/>
          </a:xfrm>
          <a:prstGeom prst="rect">
            <a:avLst/>
          </a:prstGeom>
          <a:noFill/>
          <a:ln/>
        </p:spPr>
        <p:txBody>
          <a:bodyPr wrap="square" lIns="0" tIns="0" rIns="0" bIns="0" rtlCol="0" anchor="ctr"/>
          <a:lstStyle/>
          <a:p>
            <a:pPr indent="0" marL="0">
              <a:lnSpc>
                <a:spcPct val="96000"/>
              </a:lnSpc>
              <a:buNone/>
            </a:pPr>
            <a:r>
              <a:rPr lang="en-US" sz="980" dirty="0">
                <a:solidFill>
                  <a:srgbClr val="33384F"/>
                </a:solidFill>
                <a:latin typeface="Calibri" pitchFamily="34" charset="0"/>
                <a:ea typeface="Calibri" pitchFamily="34" charset="-122"/>
                <a:cs typeface="Calibri" pitchFamily="34" charset="-120"/>
              </a:rPr>
              <a:t>No SOC 2 / 3rd-party cert. Bedrock model cost &amp; accuracy must be validated. KB ingestion IaC is a stub.</a:t>
            </a:r>
            <a:endParaRPr lang="en-US" sz="980" dirty="0"/>
          </a:p>
        </p:txBody>
      </p:sp>
      <p:sp>
        <p:nvSpPr>
          <p:cNvPr id="46" name="Text 44"/>
          <p:cNvSpPr/>
          <p:nvPr/>
        </p:nvSpPr>
        <p:spPr>
          <a:xfrm>
            <a:off x="548640" y="6528816"/>
            <a:ext cx="11064240" cy="256032"/>
          </a:xfrm>
          <a:prstGeom prst="rect">
            <a:avLst/>
          </a:prstGeom>
          <a:noFill/>
          <a:ln/>
        </p:spPr>
        <p:txBody>
          <a:bodyPr wrap="square" lIns="0" tIns="0" rIns="0" bIns="0" rtlCol="0" anchor="ctr"/>
          <a:lstStyle/>
          <a:p>
            <a:pPr indent="0" marL="0">
              <a:buNone/>
            </a:pPr>
            <a:r>
              <a:rPr lang="en-US" sz="850" dirty="0">
                <a:solidFill>
                  <a:srgbClr val="5A6485"/>
                </a:solidFill>
                <a:latin typeface="Calibri" pitchFamily="34" charset="0"/>
                <a:ea typeface="Calibri" pitchFamily="34" charset="-122"/>
                <a:cs typeface="Calibri" pitchFamily="34" charset="-120"/>
              </a:rPr>
              <a:t>EDU AI Agent Suite  ·  Infrastructure &amp; Adoption Review  ·  Governed accelerator, not a turnkey certified product</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10896"/>
            <a:ext cx="9601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DUE DILIGENCE</a:t>
            </a:r>
            <a:endParaRPr lang="en-US" sz="1200" dirty="0"/>
          </a:p>
        </p:txBody>
      </p:sp>
      <p:sp>
        <p:nvSpPr>
          <p:cNvPr id="3" name="Text 1"/>
          <p:cNvSpPr/>
          <p:nvPr/>
        </p:nvSpPr>
        <p:spPr>
          <a:xfrm>
            <a:off x="548640" y="566928"/>
            <a:ext cx="1042416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The questions to answer before you adopt</a:t>
            </a:r>
            <a:endParaRPr lang="en-US" sz="2700" dirty="0"/>
          </a:p>
        </p:txBody>
      </p:sp>
      <p:sp>
        <p:nvSpPr>
          <p:cNvPr id="4" name="Text 2"/>
          <p:cNvSpPr/>
          <p:nvPr/>
        </p:nvSpPr>
        <p:spPr>
          <a:xfrm>
            <a:off x="11350447" y="310896"/>
            <a:ext cx="457200" cy="310896"/>
          </a:xfrm>
          <a:prstGeom prst="rect">
            <a:avLst/>
          </a:prstGeom>
          <a:noFill/>
          <a:ln/>
        </p:spPr>
        <p:txBody>
          <a:bodyPr wrap="square" lIns="0" tIns="0" rIns="0" bIns="0" rtlCol="0" anchor="ctr"/>
          <a:lstStyle/>
          <a:p>
            <a:pPr algn="ctr" indent="0" marL="0">
              <a:buNone/>
            </a:pPr>
            <a:r>
              <a:rPr lang="en-US" sz="1200" b="1" dirty="0">
                <a:solidFill>
                  <a:srgbClr val="5A6485"/>
                </a:solidFill>
                <a:latin typeface="Calibri" pitchFamily="34" charset="0"/>
                <a:ea typeface="Calibri" pitchFamily="34" charset="-122"/>
                <a:cs typeface="Calibri" pitchFamily="34" charset="-120"/>
              </a:rPr>
              <a:t>6</a:t>
            </a:r>
            <a:endParaRPr lang="en-US" sz="1200" dirty="0"/>
          </a:p>
        </p:txBody>
      </p:sp>
      <p:sp>
        <p:nvSpPr>
          <p:cNvPr id="5" name="Shape 3"/>
          <p:cNvSpPr/>
          <p:nvPr/>
        </p:nvSpPr>
        <p:spPr>
          <a:xfrm>
            <a:off x="548640" y="1371600"/>
            <a:ext cx="5413248" cy="1033272"/>
          </a:xfrm>
          <a:prstGeom prst="roundRect">
            <a:avLst>
              <a:gd name="adj" fmla="val 6195"/>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6" name="Shape 4"/>
          <p:cNvSpPr/>
          <p:nvPr/>
        </p:nvSpPr>
        <p:spPr>
          <a:xfrm>
            <a:off x="731520" y="1609344"/>
            <a:ext cx="548640" cy="548640"/>
          </a:xfrm>
          <a:prstGeom prst="ellipse">
            <a:avLst/>
          </a:prstGeom>
          <a:solidFill>
            <a:srgbClr val="00A896"/>
          </a:solidFill>
          <a:ln/>
        </p:spPr>
      </p:sp>
      <p:pic>
        <p:nvPicPr>
          <p:cNvPr id="7" name="Image 0" descr="preencoded.png">    </p:cNvPr>
          <p:cNvPicPr>
            <a:picLocks noChangeAspect="1"/>
          </p:cNvPicPr>
          <p:nvPr/>
        </p:nvPicPr>
        <p:blipFill>
          <a:blip r:embed="rId1"/>
          <a:stretch>
            <a:fillRect/>
          </a:stretch>
        </p:blipFill>
        <p:spPr>
          <a:xfrm>
            <a:off x="874166" y="1751990"/>
            <a:ext cx="263347" cy="263347"/>
          </a:xfrm>
          <a:prstGeom prst="rect">
            <a:avLst/>
          </a:prstGeom>
        </p:spPr>
      </p:pic>
      <p:sp>
        <p:nvSpPr>
          <p:cNvPr id="8" name="Text 5"/>
          <p:cNvSpPr/>
          <p:nvPr/>
        </p:nvSpPr>
        <p:spPr>
          <a:xfrm>
            <a:off x="1417320" y="1490472"/>
            <a:ext cx="4407408" cy="329184"/>
          </a:xfrm>
          <a:prstGeom prst="rect">
            <a:avLst/>
          </a:prstGeom>
          <a:noFill/>
          <a:ln/>
        </p:spPr>
        <p:txBody>
          <a:bodyPr wrap="square" lIns="0" tIns="0" rIns="0" bIns="0"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Data residency &amp; FERPA terms</a:t>
            </a:r>
            <a:endParaRPr lang="en-US" sz="1250" dirty="0"/>
          </a:p>
        </p:txBody>
      </p:sp>
      <p:sp>
        <p:nvSpPr>
          <p:cNvPr id="9" name="Text 6"/>
          <p:cNvSpPr/>
          <p:nvPr/>
        </p:nvSpPr>
        <p:spPr>
          <a:xfrm>
            <a:off x="1417320" y="1801368"/>
            <a:ext cx="4389120" cy="548640"/>
          </a:xfrm>
          <a:prstGeom prst="rect">
            <a:avLst/>
          </a:prstGeom>
          <a:noFill/>
          <a:ln/>
        </p:spPr>
        <p:txBody>
          <a:bodyPr wrap="square" lIns="0" tIns="0" rIns="0" bIns="0" rtlCol="0" anchor="ctr"/>
          <a:lstStyle/>
          <a:p>
            <a:pPr indent="0" marL="0">
              <a:lnSpc>
                <a:spcPct val="95000"/>
              </a:lnSpc>
              <a:buNone/>
            </a:pPr>
            <a:r>
              <a:rPr lang="en-US" sz="970" dirty="0">
                <a:solidFill>
                  <a:srgbClr val="33384F"/>
                </a:solidFill>
                <a:latin typeface="Calibri" pitchFamily="34" charset="0"/>
                <a:ea typeface="Calibri" pitchFamily="34" charset="-122"/>
                <a:cs typeface="Calibri" pitchFamily="34" charset="-120"/>
              </a:rPr>
              <a:t>Which region? Does it meet state data-localization law? Are the FERPA “school official / direct control” terms in the vendor agreement?</a:t>
            </a:r>
            <a:endParaRPr lang="en-US" sz="970" dirty="0"/>
          </a:p>
        </p:txBody>
      </p:sp>
      <p:sp>
        <p:nvSpPr>
          <p:cNvPr id="10" name="Shape 7"/>
          <p:cNvSpPr/>
          <p:nvPr/>
        </p:nvSpPr>
        <p:spPr>
          <a:xfrm>
            <a:off x="6217920" y="1371600"/>
            <a:ext cx="5413248" cy="1033272"/>
          </a:xfrm>
          <a:prstGeom prst="roundRect">
            <a:avLst>
              <a:gd name="adj" fmla="val 6195"/>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11" name="Shape 8"/>
          <p:cNvSpPr/>
          <p:nvPr/>
        </p:nvSpPr>
        <p:spPr>
          <a:xfrm>
            <a:off x="6400800" y="1609344"/>
            <a:ext cx="548640" cy="548640"/>
          </a:xfrm>
          <a:prstGeom prst="ellipse">
            <a:avLst/>
          </a:prstGeom>
          <a:solidFill>
            <a:srgbClr val="00A896"/>
          </a:solidFill>
          <a:ln/>
        </p:spPr>
      </p:sp>
      <p:pic>
        <p:nvPicPr>
          <p:cNvPr id="12" name="Image 1" descr="preencoded.png">    </p:cNvPr>
          <p:cNvPicPr>
            <a:picLocks noChangeAspect="1"/>
          </p:cNvPicPr>
          <p:nvPr/>
        </p:nvPicPr>
        <p:blipFill>
          <a:blip r:embed="rId2"/>
          <a:stretch>
            <a:fillRect/>
          </a:stretch>
        </p:blipFill>
        <p:spPr>
          <a:xfrm>
            <a:off x="6543446" y="1751990"/>
            <a:ext cx="263347" cy="263347"/>
          </a:xfrm>
          <a:prstGeom prst="rect">
            <a:avLst/>
          </a:prstGeom>
        </p:spPr>
      </p:pic>
      <p:sp>
        <p:nvSpPr>
          <p:cNvPr id="13" name="Text 9"/>
          <p:cNvSpPr/>
          <p:nvPr/>
        </p:nvSpPr>
        <p:spPr>
          <a:xfrm>
            <a:off x="7086600" y="1490472"/>
            <a:ext cx="4407408" cy="329184"/>
          </a:xfrm>
          <a:prstGeom prst="rect">
            <a:avLst/>
          </a:prstGeom>
          <a:noFill/>
          <a:ln/>
        </p:spPr>
        <p:txBody>
          <a:bodyPr wrap="square" lIns="0" tIns="0" rIns="0" bIns="0"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DPA / BAA in place</a:t>
            </a:r>
            <a:endParaRPr lang="en-US" sz="1250" dirty="0"/>
          </a:p>
        </p:txBody>
      </p:sp>
      <p:sp>
        <p:nvSpPr>
          <p:cNvPr id="14" name="Text 10"/>
          <p:cNvSpPr/>
          <p:nvPr/>
        </p:nvSpPr>
        <p:spPr>
          <a:xfrm>
            <a:off x="7086600" y="1801368"/>
            <a:ext cx="4389120" cy="548640"/>
          </a:xfrm>
          <a:prstGeom prst="rect">
            <a:avLst/>
          </a:prstGeom>
          <a:noFill/>
          <a:ln/>
        </p:spPr>
        <p:txBody>
          <a:bodyPr wrap="square" lIns="0" tIns="0" rIns="0" bIns="0" rtlCol="0" anchor="ctr"/>
          <a:lstStyle/>
          <a:p>
            <a:pPr indent="0" marL="0">
              <a:lnSpc>
                <a:spcPct val="95000"/>
              </a:lnSpc>
              <a:buNone/>
            </a:pPr>
            <a:r>
              <a:rPr lang="en-US" sz="970" dirty="0">
                <a:solidFill>
                  <a:srgbClr val="33384F"/>
                </a:solidFill>
                <a:latin typeface="Calibri" pitchFamily="34" charset="0"/>
                <a:ea typeface="Calibri" pitchFamily="34" charset="-122"/>
                <a:cs typeface="Calibri" pitchFamily="34" charset="-120"/>
              </a:rPr>
              <a:t>Data-processing agreement executed; vendor TPRM questionnaire signed off before any live student record is touched.</a:t>
            </a:r>
            <a:endParaRPr lang="en-US" sz="970" dirty="0"/>
          </a:p>
        </p:txBody>
      </p:sp>
      <p:sp>
        <p:nvSpPr>
          <p:cNvPr id="15" name="Shape 11"/>
          <p:cNvSpPr/>
          <p:nvPr/>
        </p:nvSpPr>
        <p:spPr>
          <a:xfrm>
            <a:off x="548640" y="2551176"/>
            <a:ext cx="5413248" cy="1033272"/>
          </a:xfrm>
          <a:prstGeom prst="roundRect">
            <a:avLst>
              <a:gd name="adj" fmla="val 6195"/>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16" name="Shape 12"/>
          <p:cNvSpPr/>
          <p:nvPr/>
        </p:nvSpPr>
        <p:spPr>
          <a:xfrm>
            <a:off x="731520" y="2788920"/>
            <a:ext cx="548640" cy="548640"/>
          </a:xfrm>
          <a:prstGeom prst="ellipse">
            <a:avLst/>
          </a:prstGeom>
          <a:solidFill>
            <a:srgbClr val="00A896"/>
          </a:solidFill>
          <a:ln/>
        </p:spPr>
      </p:sp>
      <p:pic>
        <p:nvPicPr>
          <p:cNvPr id="17" name="Image 2" descr="preencoded.png">    </p:cNvPr>
          <p:cNvPicPr>
            <a:picLocks noChangeAspect="1"/>
          </p:cNvPicPr>
          <p:nvPr/>
        </p:nvPicPr>
        <p:blipFill>
          <a:blip r:embed="rId3"/>
          <a:stretch>
            <a:fillRect/>
          </a:stretch>
        </p:blipFill>
        <p:spPr>
          <a:xfrm>
            <a:off x="874166" y="2931566"/>
            <a:ext cx="263347" cy="263347"/>
          </a:xfrm>
          <a:prstGeom prst="rect">
            <a:avLst/>
          </a:prstGeom>
        </p:spPr>
      </p:pic>
      <p:sp>
        <p:nvSpPr>
          <p:cNvPr id="18" name="Text 13"/>
          <p:cNvSpPr/>
          <p:nvPr/>
        </p:nvSpPr>
        <p:spPr>
          <a:xfrm>
            <a:off x="1417320" y="2670048"/>
            <a:ext cx="4407408" cy="329184"/>
          </a:xfrm>
          <a:prstGeom prst="rect">
            <a:avLst/>
          </a:prstGeom>
          <a:noFill/>
          <a:ln/>
        </p:spPr>
        <p:txBody>
          <a:bodyPr wrap="square" lIns="0" tIns="0" rIns="0" bIns="0"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IdP federation</a:t>
            </a:r>
            <a:endParaRPr lang="en-US" sz="1250" dirty="0"/>
          </a:p>
        </p:txBody>
      </p:sp>
      <p:sp>
        <p:nvSpPr>
          <p:cNvPr id="19" name="Text 14"/>
          <p:cNvSpPr/>
          <p:nvPr/>
        </p:nvSpPr>
        <p:spPr>
          <a:xfrm>
            <a:off x="1417320" y="2980944"/>
            <a:ext cx="4389120" cy="548640"/>
          </a:xfrm>
          <a:prstGeom prst="rect">
            <a:avLst/>
          </a:prstGeom>
          <a:noFill/>
          <a:ln/>
        </p:spPr>
        <p:txBody>
          <a:bodyPr wrap="square" lIns="0" tIns="0" rIns="0" bIns="0" rtlCol="0" anchor="ctr"/>
          <a:lstStyle/>
          <a:p>
            <a:pPr indent="0" marL="0">
              <a:lnSpc>
                <a:spcPct val="95000"/>
              </a:lnSpc>
              <a:buNone/>
            </a:pPr>
            <a:r>
              <a:rPr lang="en-US" sz="970" dirty="0">
                <a:solidFill>
                  <a:srgbClr val="33384F"/>
                </a:solidFill>
                <a:latin typeface="Calibri" pitchFamily="34" charset="0"/>
                <a:ea typeface="Calibri" pitchFamily="34" charset="-122"/>
                <a:cs typeface="Calibri" pitchFamily="34" charset="-120"/>
              </a:rPr>
              <a:t>Can your IdP (Okta / Entra / Google) express guardian relationships and age-of-majority? Cognito ↔ IdP claim mapping is the most common readiness gap.</a:t>
            </a:r>
            <a:endParaRPr lang="en-US" sz="970" dirty="0"/>
          </a:p>
        </p:txBody>
      </p:sp>
      <p:sp>
        <p:nvSpPr>
          <p:cNvPr id="20" name="Shape 15"/>
          <p:cNvSpPr/>
          <p:nvPr/>
        </p:nvSpPr>
        <p:spPr>
          <a:xfrm>
            <a:off x="6217920" y="2551176"/>
            <a:ext cx="5413248" cy="1033272"/>
          </a:xfrm>
          <a:prstGeom prst="roundRect">
            <a:avLst>
              <a:gd name="adj" fmla="val 6195"/>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21" name="Shape 16"/>
          <p:cNvSpPr/>
          <p:nvPr/>
        </p:nvSpPr>
        <p:spPr>
          <a:xfrm>
            <a:off x="6400800" y="2788920"/>
            <a:ext cx="548640" cy="548640"/>
          </a:xfrm>
          <a:prstGeom prst="ellipse">
            <a:avLst/>
          </a:prstGeom>
          <a:solidFill>
            <a:srgbClr val="00A896"/>
          </a:solidFill>
          <a:ln/>
        </p:spPr>
      </p:sp>
      <p:pic>
        <p:nvPicPr>
          <p:cNvPr id="22" name="Image 3" descr="preencoded.png">    </p:cNvPr>
          <p:cNvPicPr>
            <a:picLocks noChangeAspect="1"/>
          </p:cNvPicPr>
          <p:nvPr/>
        </p:nvPicPr>
        <p:blipFill>
          <a:blip r:embed="rId4"/>
          <a:stretch>
            <a:fillRect/>
          </a:stretch>
        </p:blipFill>
        <p:spPr>
          <a:xfrm>
            <a:off x="6543446" y="2931566"/>
            <a:ext cx="263347" cy="263347"/>
          </a:xfrm>
          <a:prstGeom prst="rect">
            <a:avLst/>
          </a:prstGeom>
        </p:spPr>
      </p:pic>
      <p:sp>
        <p:nvSpPr>
          <p:cNvPr id="23" name="Text 17"/>
          <p:cNvSpPr/>
          <p:nvPr/>
        </p:nvSpPr>
        <p:spPr>
          <a:xfrm>
            <a:off x="7086600" y="2670048"/>
            <a:ext cx="4407408" cy="329184"/>
          </a:xfrm>
          <a:prstGeom prst="rect">
            <a:avLst/>
          </a:prstGeom>
          <a:noFill/>
          <a:ln/>
        </p:spPr>
        <p:txBody>
          <a:bodyPr wrap="square" lIns="0" tIns="0" rIns="0" bIns="0"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Accessibility conformance</a:t>
            </a:r>
            <a:endParaRPr lang="en-US" sz="1250" dirty="0"/>
          </a:p>
        </p:txBody>
      </p:sp>
      <p:sp>
        <p:nvSpPr>
          <p:cNvPr id="24" name="Text 18"/>
          <p:cNvSpPr/>
          <p:nvPr/>
        </p:nvSpPr>
        <p:spPr>
          <a:xfrm>
            <a:off x="7086600" y="2980944"/>
            <a:ext cx="4389120" cy="548640"/>
          </a:xfrm>
          <a:prstGeom prst="rect">
            <a:avLst/>
          </a:prstGeom>
          <a:noFill/>
          <a:ln/>
        </p:spPr>
        <p:txBody>
          <a:bodyPr wrap="square" lIns="0" tIns="0" rIns="0" bIns="0" rtlCol="0" anchor="ctr"/>
          <a:lstStyle/>
          <a:p>
            <a:pPr indent="0" marL="0">
              <a:lnSpc>
                <a:spcPct val="95000"/>
              </a:lnSpc>
              <a:buNone/>
            </a:pPr>
            <a:r>
              <a:rPr lang="en-US" sz="970" dirty="0">
                <a:solidFill>
                  <a:srgbClr val="33384F"/>
                </a:solidFill>
                <a:latin typeface="Calibri" pitchFamily="34" charset="0"/>
                <a:ea typeface="Calibri" pitchFamily="34" charset="-122"/>
                <a:cs typeface="Calibri" pitchFamily="34" charset="-120"/>
              </a:rPr>
              <a:t>Who signs the WCAG 2.2 AA VPAT? Plan against the 2026/2027 ADA Title II web &amp; content deadlines.</a:t>
            </a:r>
            <a:endParaRPr lang="en-US" sz="970" dirty="0"/>
          </a:p>
        </p:txBody>
      </p:sp>
      <p:sp>
        <p:nvSpPr>
          <p:cNvPr id="25" name="Shape 19"/>
          <p:cNvSpPr/>
          <p:nvPr/>
        </p:nvSpPr>
        <p:spPr>
          <a:xfrm>
            <a:off x="548640" y="3730752"/>
            <a:ext cx="5413248" cy="1033272"/>
          </a:xfrm>
          <a:prstGeom prst="roundRect">
            <a:avLst>
              <a:gd name="adj" fmla="val 6195"/>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26" name="Shape 20"/>
          <p:cNvSpPr/>
          <p:nvPr/>
        </p:nvSpPr>
        <p:spPr>
          <a:xfrm>
            <a:off x="731520" y="3968496"/>
            <a:ext cx="548640" cy="548640"/>
          </a:xfrm>
          <a:prstGeom prst="ellipse">
            <a:avLst/>
          </a:prstGeom>
          <a:solidFill>
            <a:srgbClr val="00A896"/>
          </a:solidFill>
          <a:ln/>
        </p:spPr>
      </p:sp>
      <p:pic>
        <p:nvPicPr>
          <p:cNvPr id="27" name="Image 4" descr="preencoded.png">    </p:cNvPr>
          <p:cNvPicPr>
            <a:picLocks noChangeAspect="1"/>
          </p:cNvPicPr>
          <p:nvPr/>
        </p:nvPicPr>
        <p:blipFill>
          <a:blip r:embed="rId5"/>
          <a:stretch>
            <a:fillRect/>
          </a:stretch>
        </p:blipFill>
        <p:spPr>
          <a:xfrm>
            <a:off x="874166" y="4111142"/>
            <a:ext cx="263347" cy="263347"/>
          </a:xfrm>
          <a:prstGeom prst="rect">
            <a:avLst/>
          </a:prstGeom>
        </p:spPr>
      </p:pic>
      <p:sp>
        <p:nvSpPr>
          <p:cNvPr id="28" name="Text 21"/>
          <p:cNvSpPr/>
          <p:nvPr/>
        </p:nvSpPr>
        <p:spPr>
          <a:xfrm>
            <a:off x="1417320" y="3849624"/>
            <a:ext cx="4407408" cy="329184"/>
          </a:xfrm>
          <a:prstGeom prst="rect">
            <a:avLst/>
          </a:prstGeom>
          <a:noFill/>
          <a:ln/>
        </p:spPr>
        <p:txBody>
          <a:bodyPr wrap="square" lIns="0" tIns="0" rIns="0" bIns="0"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Penetration test</a:t>
            </a:r>
            <a:endParaRPr lang="en-US" sz="1250" dirty="0"/>
          </a:p>
        </p:txBody>
      </p:sp>
      <p:sp>
        <p:nvSpPr>
          <p:cNvPr id="29" name="Text 22"/>
          <p:cNvSpPr/>
          <p:nvPr/>
        </p:nvSpPr>
        <p:spPr>
          <a:xfrm>
            <a:off x="1417320" y="4160520"/>
            <a:ext cx="4389120" cy="548640"/>
          </a:xfrm>
          <a:prstGeom prst="rect">
            <a:avLst/>
          </a:prstGeom>
          <a:noFill/>
          <a:ln/>
        </p:spPr>
        <p:txBody>
          <a:bodyPr wrap="square" lIns="0" tIns="0" rIns="0" bIns="0" rtlCol="0" anchor="ctr"/>
          <a:lstStyle/>
          <a:p>
            <a:pPr indent="0" marL="0">
              <a:lnSpc>
                <a:spcPct val="95000"/>
              </a:lnSpc>
              <a:buNone/>
            </a:pPr>
            <a:r>
              <a:rPr lang="en-US" sz="970" dirty="0">
                <a:solidFill>
                  <a:srgbClr val="33384F"/>
                </a:solidFill>
                <a:latin typeface="Calibri" pitchFamily="34" charset="0"/>
                <a:ea typeface="Calibri" pitchFamily="34" charset="-122"/>
                <a:cs typeface="Calibri" pitchFamily="34" charset="-120"/>
              </a:rPr>
              <a:t>Independent pen test of the deployed surface is a production-readiness gate — budget and schedule it before go-live.</a:t>
            </a:r>
            <a:endParaRPr lang="en-US" sz="970" dirty="0"/>
          </a:p>
        </p:txBody>
      </p:sp>
      <p:sp>
        <p:nvSpPr>
          <p:cNvPr id="30" name="Shape 23"/>
          <p:cNvSpPr/>
          <p:nvPr/>
        </p:nvSpPr>
        <p:spPr>
          <a:xfrm>
            <a:off x="6217920" y="3730752"/>
            <a:ext cx="5413248" cy="1033272"/>
          </a:xfrm>
          <a:prstGeom prst="roundRect">
            <a:avLst>
              <a:gd name="adj" fmla="val 6195"/>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31" name="Shape 24"/>
          <p:cNvSpPr/>
          <p:nvPr/>
        </p:nvSpPr>
        <p:spPr>
          <a:xfrm>
            <a:off x="6400800" y="3968496"/>
            <a:ext cx="548640" cy="548640"/>
          </a:xfrm>
          <a:prstGeom prst="ellipse">
            <a:avLst/>
          </a:prstGeom>
          <a:solidFill>
            <a:srgbClr val="00A896"/>
          </a:solidFill>
          <a:ln/>
        </p:spPr>
      </p:sp>
      <p:pic>
        <p:nvPicPr>
          <p:cNvPr id="32" name="Image 5" descr="preencoded.png">    </p:cNvPr>
          <p:cNvPicPr>
            <a:picLocks noChangeAspect="1"/>
          </p:cNvPicPr>
          <p:nvPr/>
        </p:nvPicPr>
        <p:blipFill>
          <a:blip r:embed="rId6"/>
          <a:stretch>
            <a:fillRect/>
          </a:stretch>
        </p:blipFill>
        <p:spPr>
          <a:xfrm>
            <a:off x="6543446" y="4111142"/>
            <a:ext cx="263347" cy="263347"/>
          </a:xfrm>
          <a:prstGeom prst="rect">
            <a:avLst/>
          </a:prstGeom>
        </p:spPr>
      </p:pic>
      <p:sp>
        <p:nvSpPr>
          <p:cNvPr id="33" name="Text 25"/>
          <p:cNvSpPr/>
          <p:nvPr/>
        </p:nvSpPr>
        <p:spPr>
          <a:xfrm>
            <a:off x="7086600" y="3849624"/>
            <a:ext cx="4407408" cy="329184"/>
          </a:xfrm>
          <a:prstGeom prst="rect">
            <a:avLst/>
          </a:prstGeom>
          <a:noFill/>
          <a:ln/>
        </p:spPr>
        <p:txBody>
          <a:bodyPr wrap="square" lIns="0" tIns="0" rIns="0" bIns="0"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Total cost of ownership</a:t>
            </a:r>
            <a:endParaRPr lang="en-US" sz="1250" dirty="0"/>
          </a:p>
        </p:txBody>
      </p:sp>
      <p:sp>
        <p:nvSpPr>
          <p:cNvPr id="34" name="Text 26"/>
          <p:cNvSpPr/>
          <p:nvPr/>
        </p:nvSpPr>
        <p:spPr>
          <a:xfrm>
            <a:off x="7086600" y="4160520"/>
            <a:ext cx="4389120" cy="548640"/>
          </a:xfrm>
          <a:prstGeom prst="rect">
            <a:avLst/>
          </a:prstGeom>
          <a:noFill/>
          <a:ln/>
        </p:spPr>
        <p:txBody>
          <a:bodyPr wrap="square" lIns="0" tIns="0" rIns="0" bIns="0" rtlCol="0" anchor="ctr"/>
          <a:lstStyle/>
          <a:p>
            <a:pPr indent="0" marL="0">
              <a:lnSpc>
                <a:spcPct val="95000"/>
              </a:lnSpc>
              <a:buNone/>
            </a:pPr>
            <a:r>
              <a:rPr lang="en-US" sz="970" dirty="0">
                <a:solidFill>
                  <a:srgbClr val="33384F"/>
                </a:solidFill>
                <a:latin typeface="Calibri" pitchFamily="34" charset="0"/>
                <a:ea typeface="Calibri" pitchFamily="34" charset="-122"/>
                <a:cs typeface="Calibri" pitchFamily="34" charset="-120"/>
              </a:rPr>
              <a:t>Bedrock inference + infra + SI delivery. Model the run-rate, not just the build; set Budgets + Cost Anomaly Detection on Bedrock.</a:t>
            </a:r>
            <a:endParaRPr lang="en-US" sz="970" dirty="0"/>
          </a:p>
        </p:txBody>
      </p:sp>
      <p:sp>
        <p:nvSpPr>
          <p:cNvPr id="35" name="Shape 27"/>
          <p:cNvSpPr/>
          <p:nvPr/>
        </p:nvSpPr>
        <p:spPr>
          <a:xfrm>
            <a:off x="548640" y="4910328"/>
            <a:ext cx="5413248" cy="1033272"/>
          </a:xfrm>
          <a:prstGeom prst="roundRect">
            <a:avLst>
              <a:gd name="adj" fmla="val 6195"/>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36" name="Shape 28"/>
          <p:cNvSpPr/>
          <p:nvPr/>
        </p:nvSpPr>
        <p:spPr>
          <a:xfrm>
            <a:off x="731520" y="5148072"/>
            <a:ext cx="548640" cy="548640"/>
          </a:xfrm>
          <a:prstGeom prst="ellipse">
            <a:avLst/>
          </a:prstGeom>
          <a:solidFill>
            <a:srgbClr val="00A896"/>
          </a:solidFill>
          <a:ln/>
        </p:spPr>
      </p:sp>
      <p:pic>
        <p:nvPicPr>
          <p:cNvPr id="37" name="Image 6" descr="preencoded.png">    </p:cNvPr>
          <p:cNvPicPr>
            <a:picLocks noChangeAspect="1"/>
          </p:cNvPicPr>
          <p:nvPr/>
        </p:nvPicPr>
        <p:blipFill>
          <a:blip r:embed="rId7"/>
          <a:stretch>
            <a:fillRect/>
          </a:stretch>
        </p:blipFill>
        <p:spPr>
          <a:xfrm>
            <a:off x="874166" y="5290718"/>
            <a:ext cx="263347" cy="263347"/>
          </a:xfrm>
          <a:prstGeom prst="rect">
            <a:avLst/>
          </a:prstGeom>
        </p:spPr>
      </p:pic>
      <p:sp>
        <p:nvSpPr>
          <p:cNvPr id="38" name="Text 29"/>
          <p:cNvSpPr/>
          <p:nvPr/>
        </p:nvSpPr>
        <p:spPr>
          <a:xfrm>
            <a:off x="1417320" y="5029200"/>
            <a:ext cx="4407408" cy="329184"/>
          </a:xfrm>
          <a:prstGeom prst="rect">
            <a:avLst/>
          </a:prstGeom>
          <a:noFill/>
          <a:ln/>
        </p:spPr>
        <p:txBody>
          <a:bodyPr wrap="square" lIns="0" tIns="0" rIns="0" bIns="0"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Support &amp; maintenance model</a:t>
            </a:r>
            <a:endParaRPr lang="en-US" sz="1250" dirty="0"/>
          </a:p>
        </p:txBody>
      </p:sp>
      <p:sp>
        <p:nvSpPr>
          <p:cNvPr id="39" name="Text 30"/>
          <p:cNvSpPr/>
          <p:nvPr/>
        </p:nvSpPr>
        <p:spPr>
          <a:xfrm>
            <a:off x="1417320" y="5340096"/>
            <a:ext cx="4389120" cy="548640"/>
          </a:xfrm>
          <a:prstGeom prst="rect">
            <a:avLst/>
          </a:prstGeom>
          <a:noFill/>
          <a:ln/>
        </p:spPr>
        <p:txBody>
          <a:bodyPr wrap="square" lIns="0" tIns="0" rIns="0" bIns="0" rtlCol="0" anchor="ctr"/>
          <a:lstStyle/>
          <a:p>
            <a:pPr indent="0" marL="0">
              <a:lnSpc>
                <a:spcPct val="95000"/>
              </a:lnSpc>
              <a:buNone/>
            </a:pPr>
            <a:r>
              <a:rPr lang="en-US" sz="970" dirty="0">
                <a:solidFill>
                  <a:srgbClr val="33384F"/>
                </a:solidFill>
                <a:latin typeface="Calibri" pitchFamily="34" charset="0"/>
                <a:ea typeface="Calibri" pitchFamily="34" charset="-122"/>
                <a:cs typeface="Calibri" pitchFamily="34" charset="-120"/>
              </a:rPr>
              <a:t>Who owns prompt/model change control, patching, and the managed-service SLA after the SI hands off?</a:t>
            </a:r>
            <a:endParaRPr lang="en-US" sz="970" dirty="0"/>
          </a:p>
        </p:txBody>
      </p:sp>
      <p:sp>
        <p:nvSpPr>
          <p:cNvPr id="40" name="Shape 31"/>
          <p:cNvSpPr/>
          <p:nvPr/>
        </p:nvSpPr>
        <p:spPr>
          <a:xfrm>
            <a:off x="6217920" y="4910328"/>
            <a:ext cx="5413248" cy="1033272"/>
          </a:xfrm>
          <a:prstGeom prst="roundRect">
            <a:avLst>
              <a:gd name="adj" fmla="val 6195"/>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41" name="Shape 32"/>
          <p:cNvSpPr/>
          <p:nvPr/>
        </p:nvSpPr>
        <p:spPr>
          <a:xfrm>
            <a:off x="6400800" y="5148072"/>
            <a:ext cx="548640" cy="548640"/>
          </a:xfrm>
          <a:prstGeom prst="ellipse">
            <a:avLst/>
          </a:prstGeom>
          <a:solidFill>
            <a:srgbClr val="00A896"/>
          </a:solidFill>
          <a:ln/>
        </p:spPr>
      </p:sp>
      <p:pic>
        <p:nvPicPr>
          <p:cNvPr id="42" name="Image 7" descr="preencoded.png">    </p:cNvPr>
          <p:cNvPicPr>
            <a:picLocks noChangeAspect="1"/>
          </p:cNvPicPr>
          <p:nvPr/>
        </p:nvPicPr>
        <p:blipFill>
          <a:blip r:embed="rId8"/>
          <a:stretch>
            <a:fillRect/>
          </a:stretch>
        </p:blipFill>
        <p:spPr>
          <a:xfrm>
            <a:off x="6543446" y="5290718"/>
            <a:ext cx="263347" cy="263347"/>
          </a:xfrm>
          <a:prstGeom prst="rect">
            <a:avLst/>
          </a:prstGeom>
        </p:spPr>
      </p:pic>
      <p:sp>
        <p:nvSpPr>
          <p:cNvPr id="43" name="Text 33"/>
          <p:cNvSpPr/>
          <p:nvPr/>
        </p:nvSpPr>
        <p:spPr>
          <a:xfrm>
            <a:off x="7086600" y="5029200"/>
            <a:ext cx="4407408" cy="329184"/>
          </a:xfrm>
          <a:prstGeom prst="rect">
            <a:avLst/>
          </a:prstGeom>
          <a:noFill/>
          <a:ln/>
        </p:spPr>
        <p:txBody>
          <a:bodyPr wrap="square" lIns="0" tIns="0" rIns="0" bIns="0"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Model-drift monitoring</a:t>
            </a:r>
            <a:endParaRPr lang="en-US" sz="1250" dirty="0"/>
          </a:p>
        </p:txBody>
      </p:sp>
      <p:sp>
        <p:nvSpPr>
          <p:cNvPr id="44" name="Text 34"/>
          <p:cNvSpPr/>
          <p:nvPr/>
        </p:nvSpPr>
        <p:spPr>
          <a:xfrm>
            <a:off x="7086600" y="5340096"/>
            <a:ext cx="4389120" cy="548640"/>
          </a:xfrm>
          <a:prstGeom prst="rect">
            <a:avLst/>
          </a:prstGeom>
          <a:noFill/>
          <a:ln/>
        </p:spPr>
        <p:txBody>
          <a:bodyPr wrap="square" lIns="0" tIns="0" rIns="0" bIns="0" rtlCol="0" anchor="ctr"/>
          <a:lstStyle/>
          <a:p>
            <a:pPr indent="0" marL="0">
              <a:lnSpc>
                <a:spcPct val="95000"/>
              </a:lnSpc>
              <a:buNone/>
            </a:pPr>
            <a:r>
              <a:rPr lang="en-US" sz="970" dirty="0">
                <a:solidFill>
                  <a:srgbClr val="33384F"/>
                </a:solidFill>
                <a:latin typeface="Calibri" pitchFamily="34" charset="0"/>
                <a:ea typeface="Calibri" pitchFamily="34" charset="-122"/>
                <a:cs typeface="Calibri" pitchFamily="34" charset="-120"/>
              </a:rPr>
              <a:t>Who watches grounding-failure rate, Guardrail block rate, and eval regression once it is live, and on what cadence?</a:t>
            </a:r>
            <a:endParaRPr lang="en-US" sz="970" dirty="0"/>
          </a:p>
        </p:txBody>
      </p:sp>
      <p:sp>
        <p:nvSpPr>
          <p:cNvPr id="45" name="Text 35"/>
          <p:cNvSpPr/>
          <p:nvPr/>
        </p:nvSpPr>
        <p:spPr>
          <a:xfrm>
            <a:off x="548640" y="6528816"/>
            <a:ext cx="11064240" cy="256032"/>
          </a:xfrm>
          <a:prstGeom prst="rect">
            <a:avLst/>
          </a:prstGeom>
          <a:noFill/>
          <a:ln/>
        </p:spPr>
        <p:txBody>
          <a:bodyPr wrap="square" lIns="0" tIns="0" rIns="0" bIns="0" rtlCol="0" anchor="ctr"/>
          <a:lstStyle/>
          <a:p>
            <a:pPr indent="0" marL="0">
              <a:buNone/>
            </a:pPr>
            <a:r>
              <a:rPr lang="en-US" sz="850" dirty="0">
                <a:solidFill>
                  <a:srgbClr val="5A6485"/>
                </a:solidFill>
                <a:latin typeface="Calibri" pitchFamily="34" charset="0"/>
                <a:ea typeface="Calibri" pitchFamily="34" charset="-122"/>
                <a:cs typeface="Calibri" pitchFamily="34" charset="-120"/>
              </a:rPr>
              <a:t>EDU AI Agent Suite  ·  Infrastructure &amp; Adoption Review  ·  Governed accelerator, not a turnkey certified product</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10896"/>
            <a:ext cx="9601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RESPONSIBILITY MATRIX  ·  PART 1 OF 3</a:t>
            </a:r>
            <a:endParaRPr lang="en-US" sz="1200" dirty="0"/>
          </a:p>
        </p:txBody>
      </p:sp>
      <p:sp>
        <p:nvSpPr>
          <p:cNvPr id="3" name="Text 1"/>
          <p:cNvSpPr/>
          <p:nvPr/>
        </p:nvSpPr>
        <p:spPr>
          <a:xfrm>
            <a:off x="548640" y="566928"/>
            <a:ext cx="1042416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Who owns what — platform, identity, security, data</a:t>
            </a:r>
            <a:endParaRPr lang="en-US" sz="2700" dirty="0"/>
          </a:p>
        </p:txBody>
      </p:sp>
      <p:sp>
        <p:nvSpPr>
          <p:cNvPr id="4" name="Text 2"/>
          <p:cNvSpPr/>
          <p:nvPr/>
        </p:nvSpPr>
        <p:spPr>
          <a:xfrm>
            <a:off x="11350447" y="310896"/>
            <a:ext cx="457200" cy="310896"/>
          </a:xfrm>
          <a:prstGeom prst="rect">
            <a:avLst/>
          </a:prstGeom>
          <a:noFill/>
          <a:ln/>
        </p:spPr>
        <p:txBody>
          <a:bodyPr wrap="square" lIns="0" tIns="0" rIns="0" bIns="0" rtlCol="0" anchor="ctr"/>
          <a:lstStyle/>
          <a:p>
            <a:pPr algn="ctr" indent="0" marL="0">
              <a:buNone/>
            </a:pPr>
            <a:r>
              <a:rPr lang="en-US" sz="1200" b="1" dirty="0">
                <a:solidFill>
                  <a:srgbClr val="5A6485"/>
                </a:solidFill>
                <a:latin typeface="Calibri" pitchFamily="34" charset="0"/>
                <a:ea typeface="Calibri" pitchFamily="34" charset="-122"/>
                <a:cs typeface="Calibri" pitchFamily="34" charset="-120"/>
              </a:rPr>
              <a:t>7</a:t>
            </a:r>
            <a:endParaRPr lang="en-US" sz="1200" dirty="0"/>
          </a:p>
        </p:txBody>
      </p:sp>
      <p:sp>
        <p:nvSpPr>
          <p:cNvPr id="5" name="Text 3"/>
          <p:cNvSpPr/>
          <p:nvPr/>
        </p:nvSpPr>
        <p:spPr>
          <a:xfrm>
            <a:off x="6035040" y="365760"/>
            <a:ext cx="4937760" cy="274320"/>
          </a:xfrm>
          <a:prstGeom prst="rect">
            <a:avLst/>
          </a:prstGeom>
          <a:noFill/>
          <a:ln/>
        </p:spPr>
        <p:txBody>
          <a:bodyPr wrap="square" lIns="0" tIns="0" rIns="0" bIns="0" rtlCol="0" anchor="ctr"/>
          <a:lstStyle/>
          <a:p>
            <a:pPr algn="r" indent="0" marL="0">
              <a:buNone/>
            </a:pPr>
            <a:r>
              <a:rPr lang="en-US" sz="900" i="1" dirty="0">
                <a:solidFill>
                  <a:srgbClr val="5A6485"/>
                </a:solidFill>
                <a:latin typeface="Calibri" pitchFamily="34" charset="0"/>
                <a:ea typeface="Calibri" pitchFamily="34" charset="-122"/>
                <a:cs typeface="Calibri" pitchFamily="34" charset="-120"/>
              </a:rPr>
              <a:t>R/A = Responsible / Accountable   ·   C/I = Consulted / Informed</a:t>
            </a:r>
            <a:endParaRPr lang="en-US" sz="900" dirty="0"/>
          </a:p>
        </p:txBody>
      </p:sp>
      <p:sp>
        <p:nvSpPr>
          <p:cNvPr id="6" name="Shape 4"/>
          <p:cNvSpPr/>
          <p:nvPr/>
        </p:nvSpPr>
        <p:spPr>
          <a:xfrm>
            <a:off x="548640" y="1243584"/>
            <a:ext cx="182880" cy="182880"/>
          </a:xfrm>
          <a:prstGeom prst="ellipse">
            <a:avLst/>
          </a:prstGeom>
          <a:solidFill>
            <a:srgbClr val="00A896"/>
          </a:solidFill>
          <a:ln/>
        </p:spPr>
      </p:sp>
      <p:sp>
        <p:nvSpPr>
          <p:cNvPr id="7" name="Text 5"/>
          <p:cNvSpPr/>
          <p:nvPr/>
        </p:nvSpPr>
        <p:spPr>
          <a:xfrm>
            <a:off x="786384" y="1170432"/>
            <a:ext cx="2788920" cy="310896"/>
          </a:xfrm>
          <a:prstGeom prst="rect">
            <a:avLst/>
          </a:prstGeom>
          <a:noFill/>
          <a:ln/>
        </p:spPr>
        <p:txBody>
          <a:bodyPr wrap="square" lIns="0" tIns="0" rIns="0" bIns="0" rtlCol="0" anchor="ctr"/>
          <a:lstStyle/>
          <a:p>
            <a:pPr indent="0" marL="0">
              <a:buNone/>
            </a:pPr>
            <a:r>
              <a:rPr lang="en-US" sz="950" dirty="0">
                <a:solidFill>
                  <a:srgbClr val="33384F"/>
                </a:solidFill>
                <a:latin typeface="Calibri" pitchFamily="34" charset="0"/>
                <a:ea typeface="Calibri" pitchFamily="34" charset="-122"/>
                <a:cs typeface="Calibri" pitchFamily="34" charset="-120"/>
              </a:rPr>
              <a:t>Developer / SI — deploys &amp; maintains</a:t>
            </a:r>
            <a:endParaRPr lang="en-US" sz="950" dirty="0"/>
          </a:p>
        </p:txBody>
      </p:sp>
      <p:sp>
        <p:nvSpPr>
          <p:cNvPr id="8" name="Shape 6"/>
          <p:cNvSpPr/>
          <p:nvPr/>
        </p:nvSpPr>
        <p:spPr>
          <a:xfrm>
            <a:off x="3657600" y="1243584"/>
            <a:ext cx="182880" cy="182880"/>
          </a:xfrm>
          <a:prstGeom prst="ellipse">
            <a:avLst/>
          </a:prstGeom>
          <a:solidFill>
            <a:srgbClr val="1E2761"/>
          </a:solidFill>
          <a:ln/>
        </p:spPr>
      </p:sp>
      <p:sp>
        <p:nvSpPr>
          <p:cNvPr id="9" name="Text 7"/>
          <p:cNvSpPr/>
          <p:nvPr/>
        </p:nvSpPr>
        <p:spPr>
          <a:xfrm>
            <a:off x="3895344" y="1170432"/>
            <a:ext cx="3337560" cy="310896"/>
          </a:xfrm>
          <a:prstGeom prst="rect">
            <a:avLst/>
          </a:prstGeom>
          <a:noFill/>
          <a:ln/>
        </p:spPr>
        <p:txBody>
          <a:bodyPr wrap="square" lIns="0" tIns="0" rIns="0" bIns="0" rtlCol="0" anchor="ctr"/>
          <a:lstStyle/>
          <a:p>
            <a:pPr indent="0" marL="0">
              <a:buNone/>
            </a:pPr>
            <a:r>
              <a:rPr lang="en-US" sz="950" dirty="0">
                <a:solidFill>
                  <a:srgbClr val="33384F"/>
                </a:solidFill>
                <a:latin typeface="Calibri" pitchFamily="34" charset="0"/>
                <a:ea typeface="Calibri" pitchFamily="34" charset="-122"/>
                <a:cs typeface="Calibri" pitchFamily="34" charset="-120"/>
              </a:rPr>
              <a:t>Customer — institution IT / security / leadership</a:t>
            </a:r>
            <a:endParaRPr lang="en-US" sz="950" dirty="0"/>
          </a:p>
        </p:txBody>
      </p:sp>
      <p:sp>
        <p:nvSpPr>
          <p:cNvPr id="10" name="Shape 8"/>
          <p:cNvSpPr/>
          <p:nvPr/>
        </p:nvSpPr>
        <p:spPr>
          <a:xfrm>
            <a:off x="7315200" y="1243584"/>
            <a:ext cx="182880" cy="182880"/>
          </a:xfrm>
          <a:prstGeom prst="ellipse">
            <a:avLst/>
          </a:prstGeom>
          <a:solidFill>
            <a:srgbClr val="5A6485"/>
          </a:solidFill>
          <a:ln/>
        </p:spPr>
      </p:sp>
      <p:sp>
        <p:nvSpPr>
          <p:cNvPr id="11" name="Text 9"/>
          <p:cNvSpPr/>
          <p:nvPr/>
        </p:nvSpPr>
        <p:spPr>
          <a:xfrm>
            <a:off x="7552944" y="1170432"/>
            <a:ext cx="2651760" cy="310896"/>
          </a:xfrm>
          <a:prstGeom prst="rect">
            <a:avLst/>
          </a:prstGeom>
          <a:noFill/>
          <a:ln/>
        </p:spPr>
        <p:txBody>
          <a:bodyPr wrap="square" lIns="0" tIns="0" rIns="0" bIns="0" rtlCol="0" anchor="ctr"/>
          <a:lstStyle/>
          <a:p>
            <a:pPr indent="0" marL="0">
              <a:buNone/>
            </a:pPr>
            <a:r>
              <a:rPr lang="en-US" sz="950" dirty="0">
                <a:solidFill>
                  <a:srgbClr val="33384F"/>
                </a:solidFill>
                <a:latin typeface="Calibri" pitchFamily="34" charset="0"/>
                <a:ea typeface="Calibri" pitchFamily="34" charset="-122"/>
                <a:cs typeface="Calibri" pitchFamily="34" charset="-120"/>
              </a:rPr>
              <a:t>User — staff operating the agents</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591056"/>
          <a:ext cx="11091672" cy="914400"/>
        </p:xfrm>
        <a:graphic>
          <a:graphicData uri="http://schemas.openxmlformats.org/drawingml/2006/table">
            <a:tbl>
              <a:tblPr/>
              <a:tblGrid>
                <a:gridCol w="4507992"/>
                <a:gridCol w="1828800"/>
                <a:gridCol w="2926080"/>
                <a:gridCol w="1828800"/>
              </a:tblGrid>
              <a:tr h="27432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Responsibility domain</a:t>
                      </a:r>
                      <a:endParaRPr lang="en-US" sz="11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User</a:t>
                      </a:r>
                      <a:endParaRPr lang="en-US" sz="11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A648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Customer (institution)</a:t>
                      </a:r>
                      <a:endParaRPr lang="en-US" sz="11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Developer / SI</a:t>
                      </a:r>
                      <a:endParaRPr lang="en-US" sz="11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A896"/>
                    </a:solidFill>
                  </a:tcPr>
                </a:tc>
              </a:tr>
              <a:tr h="274320">
                <a:tc>
                  <a:txBody>
                    <a:bodyPr/>
                    <a:lstStyle/>
                    <a:p>
                      <a:pPr algn="l" indent="0" marL="0">
                        <a:buNone/>
                      </a:pPr>
                      <a:r>
                        <a:rPr lang="en-US" sz="1000" b="1" dirty="0">
                          <a:solidFill>
                            <a:srgbClr val="1E2761"/>
                          </a:solidFill>
                          <a:latin typeface="Calibri" pitchFamily="34" charset="0"/>
                          <a:ea typeface="Calibri" pitchFamily="34" charset="-122"/>
                          <a:cs typeface="Calibri" pitchFamily="34" charset="-120"/>
                        </a:rPr>
                        <a:t>Platform &amp; infrastructure — accounts, network, KMS, edge</a:t>
                      </a:r>
                      <a:endParaRPr lang="en-US" sz="10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C/I</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A896"/>
                    </a:solidFill>
                  </a:tcPr>
                </a:tc>
              </a:tr>
              <a:tr h="274320">
                <a:tc>
                  <a:txBody>
                    <a:bodyPr/>
                    <a:lstStyle/>
                    <a:p>
                      <a:pPr algn="l" indent="0" marL="0">
                        <a:buNone/>
                      </a:pPr>
                      <a:r>
                        <a:rPr lang="en-US" sz="1000" b="1" dirty="0">
                          <a:solidFill>
                            <a:srgbClr val="1E2761"/>
                          </a:solidFill>
                          <a:latin typeface="Calibri" pitchFamily="34" charset="0"/>
                          <a:ea typeface="Calibri" pitchFamily="34" charset="-122"/>
                          <a:cs typeface="Calibri" pitchFamily="34" charset="-120"/>
                        </a:rPr>
                        <a:t>Identity &amp; access — IdP, Cognito federation, IAM roles</a:t>
                      </a:r>
                      <a:endParaRPr lang="en-US" sz="10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2FB"/>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2F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C/I</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2FB"/>
                    </a:solidFill>
                  </a:tcPr>
                </a:tc>
              </a:tr>
              <a:tr h="274320">
                <a:tc>
                  <a:txBody>
                    <a:bodyPr/>
                    <a:lstStyle/>
                    <a:p>
                      <a:pPr algn="l" indent="0" marL="0">
                        <a:buNone/>
                      </a:pPr>
                      <a:r>
                        <a:rPr lang="en-US" sz="1000" b="1" dirty="0">
                          <a:solidFill>
                            <a:srgbClr val="1E2761"/>
                          </a:solidFill>
                          <a:latin typeface="Calibri" pitchFamily="34" charset="0"/>
                          <a:ea typeface="Calibri" pitchFamily="34" charset="-122"/>
                          <a:cs typeface="Calibri" pitchFamily="34" charset="-120"/>
                        </a:rPr>
                        <a:t>Security &amp; compliance — FERPA/COPPA program, audits, pen test</a:t>
                      </a:r>
                      <a:endParaRPr lang="en-US" sz="10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C/I</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C/I</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E2761"/>
                          </a:solidFill>
                          <a:latin typeface="Calibri" pitchFamily="34" charset="0"/>
                          <a:ea typeface="Calibri" pitchFamily="34" charset="-122"/>
                          <a:cs typeface="Calibri" pitchFamily="34" charset="-120"/>
                        </a:rPr>
                        <a:t>Connectors &amp; data — SIS/LMS/ERP integration, data quality, KB content</a:t>
                      </a:r>
                      <a:endParaRPr lang="en-US" sz="10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2FB"/>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2F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A896"/>
                    </a:solidFill>
                  </a:tcPr>
                </a:tc>
              </a:tr>
            </a:tbl>
          </a:graphicData>
        </a:graphic>
      </p:graphicFrame>
      <p:sp>
        <p:nvSpPr>
          <p:cNvPr id="13" name="Text 10"/>
          <p:cNvSpPr/>
          <p:nvPr/>
        </p:nvSpPr>
        <p:spPr>
          <a:xfrm>
            <a:off x="548640" y="6528816"/>
            <a:ext cx="11064240" cy="256032"/>
          </a:xfrm>
          <a:prstGeom prst="rect">
            <a:avLst/>
          </a:prstGeom>
          <a:noFill/>
          <a:ln/>
        </p:spPr>
        <p:txBody>
          <a:bodyPr wrap="square" lIns="0" tIns="0" rIns="0" bIns="0" rtlCol="0" anchor="ctr"/>
          <a:lstStyle/>
          <a:p>
            <a:pPr indent="0" marL="0">
              <a:buNone/>
            </a:pPr>
            <a:r>
              <a:rPr lang="en-US" sz="850" dirty="0">
                <a:solidFill>
                  <a:srgbClr val="5A6485"/>
                </a:solidFill>
                <a:latin typeface="Calibri" pitchFamily="34" charset="0"/>
                <a:ea typeface="Calibri" pitchFamily="34" charset="-122"/>
                <a:cs typeface="Calibri" pitchFamily="34" charset="-120"/>
              </a:rPr>
              <a:t>EDU AI Agent Suite  ·  Infrastructure &amp; Adoption Review  ·  Governed accelerator, not a turnkey certified product</a:t>
            </a:r>
            <a:endParaRPr lang="en-US" sz="850" dirty="0"/>
          </a:p>
        </p:txBody>
      </p:sp>
      <p:sp>
        <p:nvSpPr>
          <p:cNvPr id="14" name="Text 11"/>
          <p:cNvSpPr/>
          <p:nvPr/>
        </p:nvSpPr>
        <p:spPr>
          <a:xfrm>
            <a:off x="548640" y="3310128"/>
            <a:ext cx="11091672" cy="457200"/>
          </a:xfrm>
          <a:prstGeom prst="rect">
            <a:avLst/>
          </a:prstGeom>
          <a:noFill/>
          <a:ln/>
        </p:spPr>
        <p:txBody>
          <a:bodyPr wrap="square" lIns="0" tIns="0" rIns="0" bIns="0" rtlCol="0" anchor="ctr"/>
          <a:lstStyle/>
          <a:p>
            <a:pPr indent="0" marL="0">
              <a:buNone/>
            </a:pPr>
            <a:r>
              <a:rPr lang="en-US" sz="1050" i="1" dirty="0">
                <a:solidFill>
                  <a:srgbClr val="5A6485"/>
                </a:solidFill>
                <a:latin typeface="Calibri" pitchFamily="34" charset="0"/>
                <a:ea typeface="Calibri" pitchFamily="34" charset="-122"/>
                <a:cs typeface="Calibri" pitchFamily="34" charset="-120"/>
              </a:rPr>
              <a:t>Where two parties show R/A, the control only holds if both act — e.g. the SI builds the connector; the institution provides credentials, approves scopes, and validates against the live system.</a:t>
            </a:r>
            <a:endParaRPr lang="en-US" sz="1050" dirty="0"/>
          </a:p>
        </p:txBody>
      </p:sp>
      <p:sp>
        <p:nvSpPr>
          <p:cNvPr id="15" name="Shape 12"/>
          <p:cNvSpPr/>
          <p:nvPr/>
        </p:nvSpPr>
        <p:spPr>
          <a:xfrm>
            <a:off x="548640" y="3822192"/>
            <a:ext cx="3584448" cy="2331720"/>
          </a:xfrm>
          <a:prstGeom prst="roundRect">
            <a:avLst>
              <a:gd name="adj" fmla="val 3137"/>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16" name="Shape 13"/>
          <p:cNvSpPr/>
          <p:nvPr/>
        </p:nvSpPr>
        <p:spPr>
          <a:xfrm>
            <a:off x="768096" y="4041648"/>
            <a:ext cx="548640" cy="548640"/>
          </a:xfrm>
          <a:prstGeom prst="ellipse">
            <a:avLst/>
          </a:prstGeom>
          <a:solidFill>
            <a:srgbClr val="1E2761"/>
          </a:solidFill>
          <a:ln/>
        </p:spPr>
      </p:sp>
      <p:pic>
        <p:nvPicPr>
          <p:cNvPr id="17" name="Image 0" descr="preencoded.png">    </p:cNvPr>
          <p:cNvPicPr>
            <a:picLocks noChangeAspect="1"/>
          </p:cNvPicPr>
          <p:nvPr/>
        </p:nvPicPr>
        <p:blipFill>
          <a:blip r:embed="rId1"/>
          <a:stretch>
            <a:fillRect/>
          </a:stretch>
        </p:blipFill>
        <p:spPr>
          <a:xfrm>
            <a:off x="910742" y="4184294"/>
            <a:ext cx="263347" cy="263347"/>
          </a:xfrm>
          <a:prstGeom prst="rect">
            <a:avLst/>
          </a:prstGeom>
        </p:spPr>
      </p:pic>
      <p:sp>
        <p:nvSpPr>
          <p:cNvPr id="18" name="Text 14"/>
          <p:cNvSpPr/>
          <p:nvPr/>
        </p:nvSpPr>
        <p:spPr>
          <a:xfrm>
            <a:off x="1426464" y="4059936"/>
            <a:ext cx="2578608" cy="50292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Platform &amp; infra</a:t>
            </a:r>
            <a:endParaRPr lang="en-US" sz="1350" dirty="0"/>
          </a:p>
        </p:txBody>
      </p:sp>
      <p:sp>
        <p:nvSpPr>
          <p:cNvPr id="19" name="Text 15"/>
          <p:cNvSpPr/>
          <p:nvPr/>
        </p:nvSpPr>
        <p:spPr>
          <a:xfrm>
            <a:off x="786384" y="4663440"/>
            <a:ext cx="3127248" cy="1325880"/>
          </a:xfrm>
          <a:prstGeom prst="rect">
            <a:avLst/>
          </a:prstGeom>
          <a:noFill/>
          <a:ln/>
        </p:spPr>
        <p:txBody>
          <a:bodyPr wrap="square" lIns="0" tIns="0" rIns="0" bIns="0" rtlCol="0" anchor="ctr"/>
          <a:lstStyle/>
          <a:p>
            <a:pPr indent="0" marL="0">
              <a:lnSpc>
                <a:spcPct val="100000"/>
              </a:lnSpc>
              <a:buNone/>
            </a:pPr>
            <a:r>
              <a:rPr lang="en-US" sz="980" dirty="0">
                <a:solidFill>
                  <a:srgbClr val="33384F"/>
                </a:solidFill>
                <a:latin typeface="Calibri" pitchFamily="34" charset="0"/>
                <a:ea typeface="Calibri" pitchFamily="34" charset="-122"/>
                <a:cs typeface="Calibri" pitchFamily="34" charset="-120"/>
              </a:rPr>
              <a:t>SI designs &amp; deploys the VPC, KMS, and data plane per the templates; your cloud team approves network &amp; key policy and owns the CMK. The edge layer is an SI build (not in IaC yet).</a:t>
            </a:r>
            <a:endParaRPr lang="en-US" sz="980" dirty="0"/>
          </a:p>
        </p:txBody>
      </p:sp>
      <p:sp>
        <p:nvSpPr>
          <p:cNvPr id="20" name="Shape 16"/>
          <p:cNvSpPr/>
          <p:nvPr/>
        </p:nvSpPr>
        <p:spPr>
          <a:xfrm>
            <a:off x="4297680" y="3822192"/>
            <a:ext cx="3584448" cy="2331720"/>
          </a:xfrm>
          <a:prstGeom prst="roundRect">
            <a:avLst>
              <a:gd name="adj" fmla="val 3137"/>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21" name="Shape 17"/>
          <p:cNvSpPr/>
          <p:nvPr/>
        </p:nvSpPr>
        <p:spPr>
          <a:xfrm>
            <a:off x="4517136" y="4041648"/>
            <a:ext cx="548640" cy="548640"/>
          </a:xfrm>
          <a:prstGeom prst="ellipse">
            <a:avLst/>
          </a:prstGeom>
          <a:solidFill>
            <a:srgbClr val="1E2761"/>
          </a:solidFill>
          <a:ln/>
        </p:spPr>
      </p:sp>
      <p:pic>
        <p:nvPicPr>
          <p:cNvPr id="22" name="Image 1" descr="preencoded.png">    </p:cNvPr>
          <p:cNvPicPr>
            <a:picLocks noChangeAspect="1"/>
          </p:cNvPicPr>
          <p:nvPr/>
        </p:nvPicPr>
        <p:blipFill>
          <a:blip r:embed="rId2"/>
          <a:stretch>
            <a:fillRect/>
          </a:stretch>
        </p:blipFill>
        <p:spPr>
          <a:xfrm>
            <a:off x="4659782" y="4184294"/>
            <a:ext cx="263347" cy="263347"/>
          </a:xfrm>
          <a:prstGeom prst="rect">
            <a:avLst/>
          </a:prstGeom>
        </p:spPr>
      </p:pic>
      <p:sp>
        <p:nvSpPr>
          <p:cNvPr id="23" name="Text 18"/>
          <p:cNvSpPr/>
          <p:nvPr/>
        </p:nvSpPr>
        <p:spPr>
          <a:xfrm>
            <a:off x="5175504" y="4059936"/>
            <a:ext cx="2578608" cy="50292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Identity &amp; access</a:t>
            </a:r>
            <a:endParaRPr lang="en-US" sz="1350" dirty="0"/>
          </a:p>
        </p:txBody>
      </p:sp>
      <p:sp>
        <p:nvSpPr>
          <p:cNvPr id="24" name="Text 19"/>
          <p:cNvSpPr/>
          <p:nvPr/>
        </p:nvSpPr>
        <p:spPr>
          <a:xfrm>
            <a:off x="4535424" y="4663440"/>
            <a:ext cx="3127248" cy="1325880"/>
          </a:xfrm>
          <a:prstGeom prst="rect">
            <a:avLst/>
          </a:prstGeom>
          <a:noFill/>
          <a:ln/>
        </p:spPr>
        <p:txBody>
          <a:bodyPr wrap="square" lIns="0" tIns="0" rIns="0" bIns="0" rtlCol="0" anchor="ctr"/>
          <a:lstStyle/>
          <a:p>
            <a:pPr indent="0" marL="0">
              <a:lnSpc>
                <a:spcPct val="100000"/>
              </a:lnSpc>
              <a:buNone/>
            </a:pPr>
            <a:r>
              <a:rPr lang="en-US" sz="980" dirty="0">
                <a:solidFill>
                  <a:srgbClr val="33384F"/>
                </a:solidFill>
                <a:latin typeface="Calibri" pitchFamily="34" charset="0"/>
                <a:ea typeface="Calibri" pitchFamily="34" charset="-122"/>
                <a:cs typeface="Calibri" pitchFamily="34" charset="-120"/>
              </a:rPr>
              <a:t>The IdP is yours — role definitions, guardian relationships, and age-of-majority are institution policy. The SI implements the Cognito claim mapping; you own its accuracy.</a:t>
            </a:r>
            <a:endParaRPr lang="en-US" sz="980" dirty="0"/>
          </a:p>
        </p:txBody>
      </p:sp>
      <p:sp>
        <p:nvSpPr>
          <p:cNvPr id="25" name="Shape 20"/>
          <p:cNvSpPr/>
          <p:nvPr/>
        </p:nvSpPr>
        <p:spPr>
          <a:xfrm>
            <a:off x="8046720" y="3822192"/>
            <a:ext cx="3584448" cy="2331720"/>
          </a:xfrm>
          <a:prstGeom prst="roundRect">
            <a:avLst>
              <a:gd name="adj" fmla="val 3137"/>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26" name="Shape 21"/>
          <p:cNvSpPr/>
          <p:nvPr/>
        </p:nvSpPr>
        <p:spPr>
          <a:xfrm>
            <a:off x="8266176" y="4041648"/>
            <a:ext cx="548640" cy="548640"/>
          </a:xfrm>
          <a:prstGeom prst="ellipse">
            <a:avLst/>
          </a:prstGeom>
          <a:solidFill>
            <a:srgbClr val="1E2761"/>
          </a:solidFill>
          <a:ln/>
        </p:spPr>
      </p:sp>
      <p:pic>
        <p:nvPicPr>
          <p:cNvPr id="27" name="Image 2" descr="preencoded.png">    </p:cNvPr>
          <p:cNvPicPr>
            <a:picLocks noChangeAspect="1"/>
          </p:cNvPicPr>
          <p:nvPr/>
        </p:nvPicPr>
        <p:blipFill>
          <a:blip r:embed="rId3"/>
          <a:stretch>
            <a:fillRect/>
          </a:stretch>
        </p:blipFill>
        <p:spPr>
          <a:xfrm>
            <a:off x="8408822" y="4184294"/>
            <a:ext cx="263347" cy="263347"/>
          </a:xfrm>
          <a:prstGeom prst="rect">
            <a:avLst/>
          </a:prstGeom>
        </p:spPr>
      </p:pic>
      <p:sp>
        <p:nvSpPr>
          <p:cNvPr id="28" name="Text 22"/>
          <p:cNvSpPr/>
          <p:nvPr/>
        </p:nvSpPr>
        <p:spPr>
          <a:xfrm>
            <a:off x="8924544" y="4059936"/>
            <a:ext cx="2578608" cy="50292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Connectors &amp; data</a:t>
            </a:r>
            <a:endParaRPr lang="en-US" sz="1350" dirty="0"/>
          </a:p>
        </p:txBody>
      </p:sp>
      <p:sp>
        <p:nvSpPr>
          <p:cNvPr id="29" name="Text 23"/>
          <p:cNvSpPr/>
          <p:nvPr/>
        </p:nvSpPr>
        <p:spPr>
          <a:xfrm>
            <a:off x="8284464" y="4663440"/>
            <a:ext cx="3127248" cy="1325880"/>
          </a:xfrm>
          <a:prstGeom prst="rect">
            <a:avLst/>
          </a:prstGeom>
          <a:noFill/>
          <a:ln/>
        </p:spPr>
        <p:txBody>
          <a:bodyPr wrap="square" lIns="0" tIns="0" rIns="0" bIns="0" rtlCol="0" anchor="ctr"/>
          <a:lstStyle/>
          <a:p>
            <a:pPr indent="0" marL="0">
              <a:lnSpc>
                <a:spcPct val="100000"/>
              </a:lnSpc>
              <a:buNone/>
            </a:pPr>
            <a:r>
              <a:rPr lang="en-US" sz="980" dirty="0">
                <a:solidFill>
                  <a:srgbClr val="33384F"/>
                </a:solidFill>
                <a:latin typeface="Calibri" pitchFamily="34" charset="0"/>
                <a:ea typeface="Calibri" pitchFamily="34" charset="-122"/>
                <a:cs typeface="Calibri" pitchFamily="34" charset="-120"/>
              </a:rPr>
              <a:t>No connector points at a live system without your scope approval and a signed pilot SOW. Stale or wrong KB content is an institution risk; the SI implements change control.</a:t>
            </a:r>
            <a:endParaRPr lang="en-US" sz="9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10896"/>
            <a:ext cx="9601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RESPONSIBILITY MATRIX  ·  PART 2 OF 3</a:t>
            </a:r>
            <a:endParaRPr lang="en-US" sz="1200" dirty="0"/>
          </a:p>
        </p:txBody>
      </p:sp>
      <p:sp>
        <p:nvSpPr>
          <p:cNvPr id="3" name="Text 1"/>
          <p:cNvSpPr/>
          <p:nvPr/>
        </p:nvSpPr>
        <p:spPr>
          <a:xfrm>
            <a:off x="548640" y="566928"/>
            <a:ext cx="1042416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Who owns what — model, accessibility, human-in-the-loop</a:t>
            </a:r>
            <a:endParaRPr lang="en-US" sz="2700" dirty="0"/>
          </a:p>
        </p:txBody>
      </p:sp>
      <p:sp>
        <p:nvSpPr>
          <p:cNvPr id="4" name="Text 2"/>
          <p:cNvSpPr/>
          <p:nvPr/>
        </p:nvSpPr>
        <p:spPr>
          <a:xfrm>
            <a:off x="11350447" y="310896"/>
            <a:ext cx="457200" cy="310896"/>
          </a:xfrm>
          <a:prstGeom prst="rect">
            <a:avLst/>
          </a:prstGeom>
          <a:noFill/>
          <a:ln/>
        </p:spPr>
        <p:txBody>
          <a:bodyPr wrap="square" lIns="0" tIns="0" rIns="0" bIns="0" rtlCol="0" anchor="ctr"/>
          <a:lstStyle/>
          <a:p>
            <a:pPr algn="ctr" indent="0" marL="0">
              <a:buNone/>
            </a:pPr>
            <a:r>
              <a:rPr lang="en-US" sz="1200" b="1" dirty="0">
                <a:solidFill>
                  <a:srgbClr val="5A6485"/>
                </a:solidFill>
                <a:latin typeface="Calibri" pitchFamily="34" charset="0"/>
                <a:ea typeface="Calibri" pitchFamily="34" charset="-122"/>
                <a:cs typeface="Calibri" pitchFamily="34" charset="-120"/>
              </a:rPr>
              <a:t>8</a:t>
            </a:r>
            <a:endParaRPr lang="en-US" sz="1200" dirty="0"/>
          </a:p>
        </p:txBody>
      </p:sp>
      <p:sp>
        <p:nvSpPr>
          <p:cNvPr id="5" name="Text 3"/>
          <p:cNvSpPr/>
          <p:nvPr/>
        </p:nvSpPr>
        <p:spPr>
          <a:xfrm>
            <a:off x="6035040" y="365760"/>
            <a:ext cx="4937760" cy="274320"/>
          </a:xfrm>
          <a:prstGeom prst="rect">
            <a:avLst/>
          </a:prstGeom>
          <a:noFill/>
          <a:ln/>
        </p:spPr>
        <p:txBody>
          <a:bodyPr wrap="square" lIns="0" tIns="0" rIns="0" bIns="0" rtlCol="0" anchor="ctr"/>
          <a:lstStyle/>
          <a:p>
            <a:pPr algn="r" indent="0" marL="0">
              <a:buNone/>
            </a:pPr>
            <a:r>
              <a:rPr lang="en-US" sz="900" i="1" dirty="0">
                <a:solidFill>
                  <a:srgbClr val="5A6485"/>
                </a:solidFill>
                <a:latin typeface="Calibri" pitchFamily="34" charset="0"/>
                <a:ea typeface="Calibri" pitchFamily="34" charset="-122"/>
                <a:cs typeface="Calibri" pitchFamily="34" charset="-120"/>
              </a:rPr>
              <a:t>R/A = Responsible / Accountable   ·   C/I = Consulted / Informed</a:t>
            </a:r>
            <a:endParaRPr lang="en-US" sz="900" dirty="0"/>
          </a:p>
        </p:txBody>
      </p:sp>
      <p:sp>
        <p:nvSpPr>
          <p:cNvPr id="6" name="Shape 4"/>
          <p:cNvSpPr/>
          <p:nvPr/>
        </p:nvSpPr>
        <p:spPr>
          <a:xfrm>
            <a:off x="548640" y="1243584"/>
            <a:ext cx="182880" cy="182880"/>
          </a:xfrm>
          <a:prstGeom prst="ellipse">
            <a:avLst/>
          </a:prstGeom>
          <a:solidFill>
            <a:srgbClr val="00A896"/>
          </a:solidFill>
          <a:ln/>
        </p:spPr>
      </p:sp>
      <p:sp>
        <p:nvSpPr>
          <p:cNvPr id="7" name="Text 5"/>
          <p:cNvSpPr/>
          <p:nvPr/>
        </p:nvSpPr>
        <p:spPr>
          <a:xfrm>
            <a:off x="786384" y="1170432"/>
            <a:ext cx="2788920" cy="310896"/>
          </a:xfrm>
          <a:prstGeom prst="rect">
            <a:avLst/>
          </a:prstGeom>
          <a:noFill/>
          <a:ln/>
        </p:spPr>
        <p:txBody>
          <a:bodyPr wrap="square" lIns="0" tIns="0" rIns="0" bIns="0" rtlCol="0" anchor="ctr"/>
          <a:lstStyle/>
          <a:p>
            <a:pPr indent="0" marL="0">
              <a:buNone/>
            </a:pPr>
            <a:r>
              <a:rPr lang="en-US" sz="950" dirty="0">
                <a:solidFill>
                  <a:srgbClr val="33384F"/>
                </a:solidFill>
                <a:latin typeface="Calibri" pitchFamily="34" charset="0"/>
                <a:ea typeface="Calibri" pitchFamily="34" charset="-122"/>
                <a:cs typeface="Calibri" pitchFamily="34" charset="-120"/>
              </a:rPr>
              <a:t>Developer / SI — deploys &amp; maintains</a:t>
            </a:r>
            <a:endParaRPr lang="en-US" sz="950" dirty="0"/>
          </a:p>
        </p:txBody>
      </p:sp>
      <p:sp>
        <p:nvSpPr>
          <p:cNvPr id="8" name="Shape 6"/>
          <p:cNvSpPr/>
          <p:nvPr/>
        </p:nvSpPr>
        <p:spPr>
          <a:xfrm>
            <a:off x="3657600" y="1243584"/>
            <a:ext cx="182880" cy="182880"/>
          </a:xfrm>
          <a:prstGeom prst="ellipse">
            <a:avLst/>
          </a:prstGeom>
          <a:solidFill>
            <a:srgbClr val="1E2761"/>
          </a:solidFill>
          <a:ln/>
        </p:spPr>
      </p:sp>
      <p:sp>
        <p:nvSpPr>
          <p:cNvPr id="9" name="Text 7"/>
          <p:cNvSpPr/>
          <p:nvPr/>
        </p:nvSpPr>
        <p:spPr>
          <a:xfrm>
            <a:off x="3895344" y="1170432"/>
            <a:ext cx="3337560" cy="310896"/>
          </a:xfrm>
          <a:prstGeom prst="rect">
            <a:avLst/>
          </a:prstGeom>
          <a:noFill/>
          <a:ln/>
        </p:spPr>
        <p:txBody>
          <a:bodyPr wrap="square" lIns="0" tIns="0" rIns="0" bIns="0" rtlCol="0" anchor="ctr"/>
          <a:lstStyle/>
          <a:p>
            <a:pPr indent="0" marL="0">
              <a:buNone/>
            </a:pPr>
            <a:r>
              <a:rPr lang="en-US" sz="950" dirty="0">
                <a:solidFill>
                  <a:srgbClr val="33384F"/>
                </a:solidFill>
                <a:latin typeface="Calibri" pitchFamily="34" charset="0"/>
                <a:ea typeface="Calibri" pitchFamily="34" charset="-122"/>
                <a:cs typeface="Calibri" pitchFamily="34" charset="-120"/>
              </a:rPr>
              <a:t>Customer — institution IT / security / leadership</a:t>
            </a:r>
            <a:endParaRPr lang="en-US" sz="950" dirty="0"/>
          </a:p>
        </p:txBody>
      </p:sp>
      <p:sp>
        <p:nvSpPr>
          <p:cNvPr id="10" name="Shape 8"/>
          <p:cNvSpPr/>
          <p:nvPr/>
        </p:nvSpPr>
        <p:spPr>
          <a:xfrm>
            <a:off x="7315200" y="1243584"/>
            <a:ext cx="182880" cy="182880"/>
          </a:xfrm>
          <a:prstGeom prst="ellipse">
            <a:avLst/>
          </a:prstGeom>
          <a:solidFill>
            <a:srgbClr val="5A6485"/>
          </a:solidFill>
          <a:ln/>
        </p:spPr>
      </p:sp>
      <p:sp>
        <p:nvSpPr>
          <p:cNvPr id="11" name="Text 9"/>
          <p:cNvSpPr/>
          <p:nvPr/>
        </p:nvSpPr>
        <p:spPr>
          <a:xfrm>
            <a:off x="7552944" y="1170432"/>
            <a:ext cx="2651760" cy="310896"/>
          </a:xfrm>
          <a:prstGeom prst="rect">
            <a:avLst/>
          </a:prstGeom>
          <a:noFill/>
          <a:ln/>
        </p:spPr>
        <p:txBody>
          <a:bodyPr wrap="square" lIns="0" tIns="0" rIns="0" bIns="0" rtlCol="0" anchor="ctr"/>
          <a:lstStyle/>
          <a:p>
            <a:pPr indent="0" marL="0">
              <a:buNone/>
            </a:pPr>
            <a:r>
              <a:rPr lang="en-US" sz="950" dirty="0">
                <a:solidFill>
                  <a:srgbClr val="33384F"/>
                </a:solidFill>
                <a:latin typeface="Calibri" pitchFamily="34" charset="0"/>
                <a:ea typeface="Calibri" pitchFamily="34" charset="-122"/>
                <a:cs typeface="Calibri" pitchFamily="34" charset="-120"/>
              </a:rPr>
              <a:t>User — staff operating the agents</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91056"/>
          <a:ext cx="11091672" cy="914400"/>
        </p:xfrm>
        <a:graphic>
          <a:graphicData uri="http://schemas.openxmlformats.org/drawingml/2006/table">
            <a:tbl>
              <a:tblPr/>
              <a:tblGrid>
                <a:gridCol w="4507992"/>
                <a:gridCol w="1828800"/>
                <a:gridCol w="2926080"/>
                <a:gridCol w="1828800"/>
              </a:tblGrid>
              <a:tr h="27432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Responsibility domain</a:t>
                      </a:r>
                      <a:endParaRPr lang="en-US" sz="11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User</a:t>
                      </a:r>
                      <a:endParaRPr lang="en-US" sz="11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A648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Customer (institution)</a:t>
                      </a:r>
                      <a:endParaRPr lang="en-US" sz="11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Developer / SI</a:t>
                      </a:r>
                      <a:endParaRPr lang="en-US" sz="11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A896"/>
                    </a:solidFill>
                  </a:tcPr>
                </a:tc>
              </a:tr>
              <a:tr h="274320">
                <a:tc>
                  <a:txBody>
                    <a:bodyPr/>
                    <a:lstStyle/>
                    <a:p>
                      <a:pPr algn="l" indent="0" marL="0">
                        <a:buNone/>
                      </a:pPr>
                      <a:r>
                        <a:rPr lang="en-US" sz="1000" b="1" dirty="0">
                          <a:solidFill>
                            <a:srgbClr val="1E2761"/>
                          </a:solidFill>
                          <a:latin typeface="Calibri" pitchFamily="34" charset="0"/>
                          <a:ea typeface="Calibri" pitchFamily="34" charset="-122"/>
                          <a:cs typeface="Calibri" pitchFamily="34" charset="-120"/>
                        </a:rPr>
                        <a:t>Model &amp; guardrails — Bedrock access, Guardrails tuning, eval &amp; change-control</a:t>
                      </a:r>
                      <a:endParaRPr lang="en-US" sz="10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A896"/>
                    </a:solidFill>
                  </a:tcPr>
                </a:tc>
              </a:tr>
              <a:tr h="274320">
                <a:tc>
                  <a:txBody>
                    <a:bodyPr/>
                    <a:lstStyle/>
                    <a:p>
                      <a:pPr algn="l" indent="0" marL="0">
                        <a:buNone/>
                      </a:pPr>
                      <a:r>
                        <a:rPr lang="en-US" sz="1000" b="1" dirty="0">
                          <a:solidFill>
                            <a:srgbClr val="1E2761"/>
                          </a:solidFill>
                          <a:latin typeface="Calibri" pitchFamily="34" charset="0"/>
                          <a:ea typeface="Calibri" pitchFamily="34" charset="-122"/>
                          <a:cs typeface="Calibri" pitchFamily="34" charset="-120"/>
                        </a:rPr>
                        <a:t>Accessibility — WCAG 2.2 AA conformance testing &amp; sign-off</a:t>
                      </a:r>
                      <a:endParaRPr lang="en-US" sz="10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2FB"/>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2F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A896"/>
                    </a:solidFill>
                  </a:tcPr>
                </a:tc>
              </a:tr>
              <a:tr h="274320">
                <a:tc>
                  <a:txBody>
                    <a:bodyPr/>
                    <a:lstStyle/>
                    <a:p>
                      <a:pPr algn="l" indent="0" marL="0">
                        <a:buNone/>
                      </a:pPr>
                      <a:r>
                        <a:rPr lang="en-US" sz="1000" b="1" dirty="0">
                          <a:solidFill>
                            <a:srgbClr val="1E2761"/>
                          </a:solidFill>
                          <a:latin typeface="Calibri" pitchFamily="34" charset="0"/>
                          <a:ea typeface="Calibri" pitchFamily="34" charset="-122"/>
                          <a:cs typeface="Calibri" pitchFamily="34" charset="-120"/>
                        </a:rPr>
                        <a:t>HITL operations — approving consequential actions, reviewer roster</a:t>
                      </a:r>
                      <a:endParaRPr lang="en-US" sz="10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A6485"/>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C/I</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r>
              <a:tr h="274320">
                <a:tc>
                  <a:txBody>
                    <a:bodyPr/>
                    <a:lstStyle/>
                    <a:p>
                      <a:pPr algn="l" indent="0" marL="0">
                        <a:buNone/>
                      </a:pPr>
                      <a:r>
                        <a:rPr lang="en-US" sz="1000" b="1" dirty="0">
                          <a:solidFill>
                            <a:srgbClr val="1E2761"/>
                          </a:solidFill>
                          <a:latin typeface="Calibri" pitchFamily="34" charset="0"/>
                          <a:ea typeface="Calibri" pitchFamily="34" charset="-122"/>
                          <a:cs typeface="Calibri" pitchFamily="34" charset="-120"/>
                        </a:rPr>
                        <a:t>Reviewer UI / HITL handoff surface — build &amp; operate</a:t>
                      </a:r>
                      <a:endParaRPr lang="en-US" sz="10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2FB"/>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2FB"/>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C/I</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2F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A896"/>
                    </a:solidFill>
                  </a:tcPr>
                </a:tc>
              </a:tr>
            </a:tbl>
          </a:graphicData>
        </a:graphic>
      </p:graphicFrame>
      <p:sp>
        <p:nvSpPr>
          <p:cNvPr id="13" name="Text 10"/>
          <p:cNvSpPr/>
          <p:nvPr/>
        </p:nvSpPr>
        <p:spPr>
          <a:xfrm>
            <a:off x="548640" y="6528816"/>
            <a:ext cx="11064240" cy="256032"/>
          </a:xfrm>
          <a:prstGeom prst="rect">
            <a:avLst/>
          </a:prstGeom>
          <a:noFill/>
          <a:ln/>
        </p:spPr>
        <p:txBody>
          <a:bodyPr wrap="square" lIns="0" tIns="0" rIns="0" bIns="0" rtlCol="0" anchor="ctr"/>
          <a:lstStyle/>
          <a:p>
            <a:pPr indent="0" marL="0">
              <a:buNone/>
            </a:pPr>
            <a:r>
              <a:rPr lang="en-US" sz="850" dirty="0">
                <a:solidFill>
                  <a:srgbClr val="5A6485"/>
                </a:solidFill>
                <a:latin typeface="Calibri" pitchFamily="34" charset="0"/>
                <a:ea typeface="Calibri" pitchFamily="34" charset="-122"/>
                <a:cs typeface="Calibri" pitchFamily="34" charset="-120"/>
              </a:rPr>
              <a:t>EDU AI Agent Suite  ·  Infrastructure &amp; Adoption Review  ·  Governed accelerator, not a turnkey certified product</a:t>
            </a:r>
            <a:endParaRPr lang="en-US" sz="850" dirty="0"/>
          </a:p>
        </p:txBody>
      </p:sp>
      <p:sp>
        <p:nvSpPr>
          <p:cNvPr id="14" name="Text 11"/>
          <p:cNvSpPr/>
          <p:nvPr/>
        </p:nvSpPr>
        <p:spPr>
          <a:xfrm>
            <a:off x="548640" y="3310128"/>
            <a:ext cx="11091672" cy="457200"/>
          </a:xfrm>
          <a:prstGeom prst="rect">
            <a:avLst/>
          </a:prstGeom>
          <a:noFill/>
          <a:ln/>
        </p:spPr>
        <p:txBody>
          <a:bodyPr wrap="square" lIns="0" tIns="0" rIns="0" bIns="0" rtlCol="0" anchor="ctr"/>
          <a:lstStyle/>
          <a:p>
            <a:pPr indent="0" marL="0">
              <a:buNone/>
            </a:pPr>
            <a:r>
              <a:rPr lang="en-US" sz="1050" i="1" dirty="0">
                <a:solidFill>
                  <a:srgbClr val="5A6485"/>
                </a:solidFill>
                <a:latin typeface="Calibri" pitchFamily="34" charset="0"/>
                <a:ea typeface="Calibri" pitchFamily="34" charset="-122"/>
                <a:cs typeface="Calibri" pitchFamily="34" charset="-120"/>
              </a:rPr>
              <a:t>The human gate is the bright line. The SI builds it; the institution staffs it with qualified, correctly-roled reviewers — this cannot be fully delegated to the SI.</a:t>
            </a:r>
            <a:endParaRPr lang="en-US" sz="1050" dirty="0"/>
          </a:p>
        </p:txBody>
      </p:sp>
      <p:sp>
        <p:nvSpPr>
          <p:cNvPr id="15" name="Shape 12"/>
          <p:cNvSpPr/>
          <p:nvPr/>
        </p:nvSpPr>
        <p:spPr>
          <a:xfrm>
            <a:off x="548640" y="3822192"/>
            <a:ext cx="3584448" cy="2331720"/>
          </a:xfrm>
          <a:prstGeom prst="roundRect">
            <a:avLst>
              <a:gd name="adj" fmla="val 3137"/>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16" name="Shape 13"/>
          <p:cNvSpPr/>
          <p:nvPr/>
        </p:nvSpPr>
        <p:spPr>
          <a:xfrm>
            <a:off x="768096" y="4041648"/>
            <a:ext cx="548640" cy="548640"/>
          </a:xfrm>
          <a:prstGeom prst="ellipse">
            <a:avLst/>
          </a:prstGeom>
          <a:solidFill>
            <a:srgbClr val="00A896"/>
          </a:solidFill>
          <a:ln/>
        </p:spPr>
      </p:sp>
      <p:pic>
        <p:nvPicPr>
          <p:cNvPr id="17" name="Image 0" descr="preencoded.png">    </p:cNvPr>
          <p:cNvPicPr>
            <a:picLocks noChangeAspect="1"/>
          </p:cNvPicPr>
          <p:nvPr/>
        </p:nvPicPr>
        <p:blipFill>
          <a:blip r:embed="rId1"/>
          <a:stretch>
            <a:fillRect/>
          </a:stretch>
        </p:blipFill>
        <p:spPr>
          <a:xfrm>
            <a:off x="910742" y="4184294"/>
            <a:ext cx="263347" cy="263347"/>
          </a:xfrm>
          <a:prstGeom prst="rect">
            <a:avLst/>
          </a:prstGeom>
        </p:spPr>
      </p:pic>
      <p:sp>
        <p:nvSpPr>
          <p:cNvPr id="18" name="Text 14"/>
          <p:cNvSpPr/>
          <p:nvPr/>
        </p:nvSpPr>
        <p:spPr>
          <a:xfrm>
            <a:off x="1426464" y="4059936"/>
            <a:ext cx="2578608" cy="50292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Model &amp; guardrails</a:t>
            </a:r>
            <a:endParaRPr lang="en-US" sz="1350" dirty="0"/>
          </a:p>
        </p:txBody>
      </p:sp>
      <p:sp>
        <p:nvSpPr>
          <p:cNvPr id="19" name="Text 15"/>
          <p:cNvSpPr/>
          <p:nvPr/>
        </p:nvSpPr>
        <p:spPr>
          <a:xfrm>
            <a:off x="786384" y="4663440"/>
            <a:ext cx="3127248" cy="1325880"/>
          </a:xfrm>
          <a:prstGeom prst="rect">
            <a:avLst/>
          </a:prstGeom>
          <a:noFill/>
          <a:ln/>
        </p:spPr>
        <p:txBody>
          <a:bodyPr wrap="square" lIns="0" tIns="0" rIns="0" bIns="0" rtlCol="0" anchor="ctr"/>
          <a:lstStyle/>
          <a:p>
            <a:pPr indent="0" marL="0">
              <a:lnSpc>
                <a:spcPct val="100000"/>
              </a:lnSpc>
              <a:buNone/>
            </a:pPr>
            <a:r>
              <a:rPr lang="en-US" sz="940" dirty="0">
                <a:solidFill>
                  <a:srgbClr val="33384F"/>
                </a:solidFill>
                <a:latin typeface="Calibri" pitchFamily="34" charset="0"/>
                <a:ea typeface="Calibri" pitchFamily="34" charset="-122"/>
                <a:cs typeface="Calibri" pitchFamily="34" charset="-120"/>
              </a:rPr>
              <a:t>The SI recommends &amp; implements per-agent Guardrail policy, prompt pinning, and the eval harness; your legal &amp; student-services leadership approves it — especially under-13 / COPPA settings — and a named reviewer signs off promotions.</a:t>
            </a:r>
            <a:endParaRPr lang="en-US" sz="940" dirty="0"/>
          </a:p>
        </p:txBody>
      </p:sp>
      <p:sp>
        <p:nvSpPr>
          <p:cNvPr id="20" name="Shape 16"/>
          <p:cNvSpPr/>
          <p:nvPr/>
        </p:nvSpPr>
        <p:spPr>
          <a:xfrm>
            <a:off x="4297680" y="3822192"/>
            <a:ext cx="3584448" cy="2331720"/>
          </a:xfrm>
          <a:prstGeom prst="roundRect">
            <a:avLst>
              <a:gd name="adj" fmla="val 3137"/>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21" name="Shape 17"/>
          <p:cNvSpPr/>
          <p:nvPr/>
        </p:nvSpPr>
        <p:spPr>
          <a:xfrm>
            <a:off x="4517136" y="4041648"/>
            <a:ext cx="548640" cy="548640"/>
          </a:xfrm>
          <a:prstGeom prst="ellipse">
            <a:avLst/>
          </a:prstGeom>
          <a:solidFill>
            <a:srgbClr val="00A896"/>
          </a:solidFill>
          <a:ln/>
        </p:spPr>
      </p:sp>
      <p:pic>
        <p:nvPicPr>
          <p:cNvPr id="22" name="Image 1" descr="preencoded.png">    </p:cNvPr>
          <p:cNvPicPr>
            <a:picLocks noChangeAspect="1"/>
          </p:cNvPicPr>
          <p:nvPr/>
        </p:nvPicPr>
        <p:blipFill>
          <a:blip r:embed="rId2"/>
          <a:stretch>
            <a:fillRect/>
          </a:stretch>
        </p:blipFill>
        <p:spPr>
          <a:xfrm>
            <a:off x="4659782" y="4184294"/>
            <a:ext cx="263347" cy="263347"/>
          </a:xfrm>
          <a:prstGeom prst="rect">
            <a:avLst/>
          </a:prstGeom>
        </p:spPr>
      </p:pic>
      <p:sp>
        <p:nvSpPr>
          <p:cNvPr id="23" name="Text 18"/>
          <p:cNvSpPr/>
          <p:nvPr/>
        </p:nvSpPr>
        <p:spPr>
          <a:xfrm>
            <a:off x="5175504" y="4059936"/>
            <a:ext cx="2578608" cy="50292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Accessibility</a:t>
            </a:r>
            <a:endParaRPr lang="en-US" sz="1350" dirty="0"/>
          </a:p>
        </p:txBody>
      </p:sp>
      <p:sp>
        <p:nvSpPr>
          <p:cNvPr id="24" name="Text 19"/>
          <p:cNvSpPr/>
          <p:nvPr/>
        </p:nvSpPr>
        <p:spPr>
          <a:xfrm>
            <a:off x="4535424" y="4663440"/>
            <a:ext cx="3127248" cy="1325880"/>
          </a:xfrm>
          <a:prstGeom prst="rect">
            <a:avLst/>
          </a:prstGeom>
          <a:noFill/>
          <a:ln/>
        </p:spPr>
        <p:txBody>
          <a:bodyPr wrap="square" lIns="0" tIns="0" rIns="0" bIns="0" rtlCol="0" anchor="ctr"/>
          <a:lstStyle/>
          <a:p>
            <a:pPr indent="0" marL="0">
              <a:lnSpc>
                <a:spcPct val="100000"/>
              </a:lnSpc>
              <a:buNone/>
            </a:pPr>
            <a:r>
              <a:rPr lang="en-US" sz="980" dirty="0">
                <a:solidFill>
                  <a:srgbClr val="33384F"/>
                </a:solidFill>
                <a:latin typeface="Calibri" pitchFamily="34" charset="0"/>
                <a:ea typeface="Calibri" pitchFamily="34" charset="-122"/>
                <a:cs typeface="Calibri" pitchFamily="34" charset="-120"/>
              </a:rPr>
              <a:t>WCAG 2.2 AA is a production-readiness gate, not optional. The SI tests and remediates during pilot; you designate the accessibility coordinator and give final VPAT acceptance.</a:t>
            </a:r>
            <a:endParaRPr lang="en-US" sz="980" dirty="0"/>
          </a:p>
        </p:txBody>
      </p:sp>
      <p:sp>
        <p:nvSpPr>
          <p:cNvPr id="25" name="Shape 20"/>
          <p:cNvSpPr/>
          <p:nvPr/>
        </p:nvSpPr>
        <p:spPr>
          <a:xfrm>
            <a:off x="8046720" y="3822192"/>
            <a:ext cx="3584448" cy="2331720"/>
          </a:xfrm>
          <a:prstGeom prst="roundRect">
            <a:avLst>
              <a:gd name="adj" fmla="val 3137"/>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26" name="Shape 21"/>
          <p:cNvSpPr/>
          <p:nvPr/>
        </p:nvSpPr>
        <p:spPr>
          <a:xfrm>
            <a:off x="8266176" y="4041648"/>
            <a:ext cx="548640" cy="548640"/>
          </a:xfrm>
          <a:prstGeom prst="ellipse">
            <a:avLst/>
          </a:prstGeom>
          <a:solidFill>
            <a:srgbClr val="00A896"/>
          </a:solidFill>
          <a:ln/>
        </p:spPr>
      </p:sp>
      <p:pic>
        <p:nvPicPr>
          <p:cNvPr id="27" name="Image 2" descr="preencoded.png">    </p:cNvPr>
          <p:cNvPicPr>
            <a:picLocks noChangeAspect="1"/>
          </p:cNvPicPr>
          <p:nvPr/>
        </p:nvPicPr>
        <p:blipFill>
          <a:blip r:embed="rId3"/>
          <a:stretch>
            <a:fillRect/>
          </a:stretch>
        </p:blipFill>
        <p:spPr>
          <a:xfrm>
            <a:off x="8408822" y="4184294"/>
            <a:ext cx="263347" cy="263347"/>
          </a:xfrm>
          <a:prstGeom prst="rect">
            <a:avLst/>
          </a:prstGeom>
        </p:spPr>
      </p:pic>
      <p:sp>
        <p:nvSpPr>
          <p:cNvPr id="28" name="Text 22"/>
          <p:cNvSpPr/>
          <p:nvPr/>
        </p:nvSpPr>
        <p:spPr>
          <a:xfrm>
            <a:off x="8924544" y="4059936"/>
            <a:ext cx="2578608" cy="50292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HITL operations</a:t>
            </a:r>
            <a:endParaRPr lang="en-US" sz="1350" dirty="0"/>
          </a:p>
        </p:txBody>
      </p:sp>
      <p:sp>
        <p:nvSpPr>
          <p:cNvPr id="29" name="Text 23"/>
          <p:cNvSpPr/>
          <p:nvPr/>
        </p:nvSpPr>
        <p:spPr>
          <a:xfrm>
            <a:off x="8284464" y="4663440"/>
            <a:ext cx="3127248" cy="1325880"/>
          </a:xfrm>
          <a:prstGeom prst="rect">
            <a:avLst/>
          </a:prstGeom>
          <a:noFill/>
          <a:ln/>
        </p:spPr>
        <p:txBody>
          <a:bodyPr wrap="square" lIns="0" tIns="0" rIns="0" bIns="0" rtlCol="0" anchor="ctr"/>
          <a:lstStyle/>
          <a:p>
            <a:pPr indent="0" marL="0">
              <a:lnSpc>
                <a:spcPct val="100000"/>
              </a:lnSpc>
              <a:buNone/>
            </a:pPr>
            <a:r>
              <a:rPr lang="en-US" sz="980" dirty="0">
                <a:solidFill>
                  <a:srgbClr val="33384F"/>
                </a:solidFill>
                <a:latin typeface="Calibri" pitchFamily="34" charset="0"/>
                <a:ea typeface="Calibri" pitchFamily="34" charset="-122"/>
                <a:cs typeface="Calibri" pitchFamily="34" charset="-120"/>
              </a:rPr>
              <a:t>Consequential actions are approved by your named, correctly-roled reviewers (educator / counselor / registrar). The SI runs the technical gate and queue ops; you define what counts as “consequential.”</a:t>
            </a:r>
            <a:endParaRPr lang="en-US" sz="9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10896"/>
            <a:ext cx="9601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RESPONSIBILITY MATRIX  ·  PART 3 OF 3</a:t>
            </a:r>
            <a:endParaRPr lang="en-US" sz="1200" dirty="0"/>
          </a:p>
        </p:txBody>
      </p:sp>
      <p:sp>
        <p:nvSpPr>
          <p:cNvPr id="3" name="Text 1"/>
          <p:cNvSpPr/>
          <p:nvPr/>
        </p:nvSpPr>
        <p:spPr>
          <a:xfrm>
            <a:off x="548640" y="566928"/>
            <a:ext cx="1042416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Who owns what — operations, change, training</a:t>
            </a:r>
            <a:endParaRPr lang="en-US" sz="2700" dirty="0"/>
          </a:p>
        </p:txBody>
      </p:sp>
      <p:sp>
        <p:nvSpPr>
          <p:cNvPr id="4" name="Text 2"/>
          <p:cNvSpPr/>
          <p:nvPr/>
        </p:nvSpPr>
        <p:spPr>
          <a:xfrm>
            <a:off x="11350447" y="310896"/>
            <a:ext cx="457200" cy="310896"/>
          </a:xfrm>
          <a:prstGeom prst="rect">
            <a:avLst/>
          </a:prstGeom>
          <a:noFill/>
          <a:ln/>
        </p:spPr>
        <p:txBody>
          <a:bodyPr wrap="square" lIns="0" tIns="0" rIns="0" bIns="0" rtlCol="0" anchor="ctr"/>
          <a:lstStyle/>
          <a:p>
            <a:pPr algn="ctr" indent="0" marL="0">
              <a:buNone/>
            </a:pPr>
            <a:r>
              <a:rPr lang="en-US" sz="1200" b="1" dirty="0">
                <a:solidFill>
                  <a:srgbClr val="5A6485"/>
                </a:solidFill>
                <a:latin typeface="Calibri" pitchFamily="34" charset="0"/>
                <a:ea typeface="Calibri" pitchFamily="34" charset="-122"/>
                <a:cs typeface="Calibri" pitchFamily="34" charset="-120"/>
              </a:rPr>
              <a:t>9</a:t>
            </a:r>
            <a:endParaRPr lang="en-US" sz="1200" dirty="0"/>
          </a:p>
        </p:txBody>
      </p:sp>
      <p:sp>
        <p:nvSpPr>
          <p:cNvPr id="5" name="Text 3"/>
          <p:cNvSpPr/>
          <p:nvPr/>
        </p:nvSpPr>
        <p:spPr>
          <a:xfrm>
            <a:off x="6035040" y="365760"/>
            <a:ext cx="4937760" cy="274320"/>
          </a:xfrm>
          <a:prstGeom prst="rect">
            <a:avLst/>
          </a:prstGeom>
          <a:noFill/>
          <a:ln/>
        </p:spPr>
        <p:txBody>
          <a:bodyPr wrap="square" lIns="0" tIns="0" rIns="0" bIns="0" rtlCol="0" anchor="ctr"/>
          <a:lstStyle/>
          <a:p>
            <a:pPr algn="r" indent="0" marL="0">
              <a:buNone/>
            </a:pPr>
            <a:r>
              <a:rPr lang="en-US" sz="900" i="1" dirty="0">
                <a:solidFill>
                  <a:srgbClr val="5A6485"/>
                </a:solidFill>
                <a:latin typeface="Calibri" pitchFamily="34" charset="0"/>
                <a:ea typeface="Calibri" pitchFamily="34" charset="-122"/>
                <a:cs typeface="Calibri" pitchFamily="34" charset="-120"/>
              </a:rPr>
              <a:t>R/A = Responsible / Accountable   ·   C/I = Consulted / Informed</a:t>
            </a:r>
            <a:endParaRPr lang="en-US" sz="900" dirty="0"/>
          </a:p>
        </p:txBody>
      </p:sp>
      <p:sp>
        <p:nvSpPr>
          <p:cNvPr id="6" name="Shape 4"/>
          <p:cNvSpPr/>
          <p:nvPr/>
        </p:nvSpPr>
        <p:spPr>
          <a:xfrm>
            <a:off x="548640" y="1243584"/>
            <a:ext cx="182880" cy="182880"/>
          </a:xfrm>
          <a:prstGeom prst="ellipse">
            <a:avLst/>
          </a:prstGeom>
          <a:solidFill>
            <a:srgbClr val="00A896"/>
          </a:solidFill>
          <a:ln/>
        </p:spPr>
      </p:sp>
      <p:sp>
        <p:nvSpPr>
          <p:cNvPr id="7" name="Text 5"/>
          <p:cNvSpPr/>
          <p:nvPr/>
        </p:nvSpPr>
        <p:spPr>
          <a:xfrm>
            <a:off x="786384" y="1170432"/>
            <a:ext cx="2788920" cy="310896"/>
          </a:xfrm>
          <a:prstGeom prst="rect">
            <a:avLst/>
          </a:prstGeom>
          <a:noFill/>
          <a:ln/>
        </p:spPr>
        <p:txBody>
          <a:bodyPr wrap="square" lIns="0" tIns="0" rIns="0" bIns="0" rtlCol="0" anchor="ctr"/>
          <a:lstStyle/>
          <a:p>
            <a:pPr indent="0" marL="0">
              <a:buNone/>
            </a:pPr>
            <a:r>
              <a:rPr lang="en-US" sz="950" dirty="0">
                <a:solidFill>
                  <a:srgbClr val="33384F"/>
                </a:solidFill>
                <a:latin typeface="Calibri" pitchFamily="34" charset="0"/>
                <a:ea typeface="Calibri" pitchFamily="34" charset="-122"/>
                <a:cs typeface="Calibri" pitchFamily="34" charset="-120"/>
              </a:rPr>
              <a:t>Developer / SI — deploys &amp; maintains</a:t>
            </a:r>
            <a:endParaRPr lang="en-US" sz="950" dirty="0"/>
          </a:p>
        </p:txBody>
      </p:sp>
      <p:sp>
        <p:nvSpPr>
          <p:cNvPr id="8" name="Shape 6"/>
          <p:cNvSpPr/>
          <p:nvPr/>
        </p:nvSpPr>
        <p:spPr>
          <a:xfrm>
            <a:off x="3657600" y="1243584"/>
            <a:ext cx="182880" cy="182880"/>
          </a:xfrm>
          <a:prstGeom prst="ellipse">
            <a:avLst/>
          </a:prstGeom>
          <a:solidFill>
            <a:srgbClr val="1E2761"/>
          </a:solidFill>
          <a:ln/>
        </p:spPr>
      </p:sp>
      <p:sp>
        <p:nvSpPr>
          <p:cNvPr id="9" name="Text 7"/>
          <p:cNvSpPr/>
          <p:nvPr/>
        </p:nvSpPr>
        <p:spPr>
          <a:xfrm>
            <a:off x="3895344" y="1170432"/>
            <a:ext cx="3337560" cy="310896"/>
          </a:xfrm>
          <a:prstGeom prst="rect">
            <a:avLst/>
          </a:prstGeom>
          <a:noFill/>
          <a:ln/>
        </p:spPr>
        <p:txBody>
          <a:bodyPr wrap="square" lIns="0" tIns="0" rIns="0" bIns="0" rtlCol="0" anchor="ctr"/>
          <a:lstStyle/>
          <a:p>
            <a:pPr indent="0" marL="0">
              <a:buNone/>
            </a:pPr>
            <a:r>
              <a:rPr lang="en-US" sz="950" dirty="0">
                <a:solidFill>
                  <a:srgbClr val="33384F"/>
                </a:solidFill>
                <a:latin typeface="Calibri" pitchFamily="34" charset="0"/>
                <a:ea typeface="Calibri" pitchFamily="34" charset="-122"/>
                <a:cs typeface="Calibri" pitchFamily="34" charset="-120"/>
              </a:rPr>
              <a:t>Customer — institution IT / security / leadership</a:t>
            </a:r>
            <a:endParaRPr lang="en-US" sz="950" dirty="0"/>
          </a:p>
        </p:txBody>
      </p:sp>
      <p:sp>
        <p:nvSpPr>
          <p:cNvPr id="10" name="Shape 8"/>
          <p:cNvSpPr/>
          <p:nvPr/>
        </p:nvSpPr>
        <p:spPr>
          <a:xfrm>
            <a:off x="7315200" y="1243584"/>
            <a:ext cx="182880" cy="182880"/>
          </a:xfrm>
          <a:prstGeom prst="ellipse">
            <a:avLst/>
          </a:prstGeom>
          <a:solidFill>
            <a:srgbClr val="5A6485"/>
          </a:solidFill>
          <a:ln/>
        </p:spPr>
      </p:sp>
      <p:sp>
        <p:nvSpPr>
          <p:cNvPr id="11" name="Text 9"/>
          <p:cNvSpPr/>
          <p:nvPr/>
        </p:nvSpPr>
        <p:spPr>
          <a:xfrm>
            <a:off x="7552944" y="1170432"/>
            <a:ext cx="2651760" cy="310896"/>
          </a:xfrm>
          <a:prstGeom prst="rect">
            <a:avLst/>
          </a:prstGeom>
          <a:noFill/>
          <a:ln/>
        </p:spPr>
        <p:txBody>
          <a:bodyPr wrap="square" lIns="0" tIns="0" rIns="0" bIns="0" rtlCol="0" anchor="ctr"/>
          <a:lstStyle/>
          <a:p>
            <a:pPr indent="0" marL="0">
              <a:buNone/>
            </a:pPr>
            <a:r>
              <a:rPr lang="en-US" sz="950" dirty="0">
                <a:solidFill>
                  <a:srgbClr val="33384F"/>
                </a:solidFill>
                <a:latin typeface="Calibri" pitchFamily="34" charset="0"/>
                <a:ea typeface="Calibri" pitchFamily="34" charset="-122"/>
                <a:cs typeface="Calibri" pitchFamily="34" charset="-120"/>
              </a:rPr>
              <a:t>User — staff operating the agents</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91056"/>
          <a:ext cx="11091672" cy="914400"/>
        </p:xfrm>
        <a:graphic>
          <a:graphicData uri="http://schemas.openxmlformats.org/drawingml/2006/table">
            <a:tbl>
              <a:tblPr/>
              <a:tblGrid>
                <a:gridCol w="4507992"/>
                <a:gridCol w="1828800"/>
                <a:gridCol w="2926080"/>
                <a:gridCol w="1828800"/>
              </a:tblGrid>
              <a:tr h="27432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Responsibility domain</a:t>
                      </a:r>
                      <a:endParaRPr lang="en-US" sz="11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User</a:t>
                      </a:r>
                      <a:endParaRPr lang="en-US" sz="11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A6485"/>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Customer (institution)</a:t>
                      </a:r>
                      <a:endParaRPr lang="en-US" sz="11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Developer / SI</a:t>
                      </a:r>
                      <a:endParaRPr lang="en-US" sz="11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A896"/>
                    </a:solidFill>
                  </a:tcPr>
                </a:tc>
              </a:tr>
              <a:tr h="274320">
                <a:tc>
                  <a:txBody>
                    <a:bodyPr/>
                    <a:lstStyle/>
                    <a:p>
                      <a:pPr algn="l" indent="0" marL="0">
                        <a:buNone/>
                      </a:pPr>
                      <a:r>
                        <a:rPr lang="en-US" sz="1000" b="1" dirty="0">
                          <a:solidFill>
                            <a:srgbClr val="1E2761"/>
                          </a:solidFill>
                          <a:latin typeface="Calibri" pitchFamily="34" charset="0"/>
                          <a:ea typeface="Calibri" pitchFamily="34" charset="-122"/>
                          <a:cs typeface="Calibri" pitchFamily="34" charset="-120"/>
                        </a:rPr>
                        <a:t>Support &amp; monitoring — alarms, dashboards, run-rate ops</a:t>
                      </a:r>
                      <a:endParaRPr lang="en-US" sz="10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C/I</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A896"/>
                    </a:solidFill>
                  </a:tcPr>
                </a:tc>
              </a:tr>
              <a:tr h="274320">
                <a:tc>
                  <a:txBody>
                    <a:bodyPr/>
                    <a:lstStyle/>
                    <a:p>
                      <a:pPr algn="l" indent="0" marL="0">
                        <a:buNone/>
                      </a:pPr>
                      <a:r>
                        <a:rPr lang="en-US" sz="1000" b="1" dirty="0">
                          <a:solidFill>
                            <a:srgbClr val="1E2761"/>
                          </a:solidFill>
                          <a:latin typeface="Calibri" pitchFamily="34" charset="0"/>
                          <a:ea typeface="Calibri" pitchFamily="34" charset="-122"/>
                          <a:cs typeface="Calibri" pitchFamily="34" charset="-120"/>
                        </a:rPr>
                        <a:t>Incident response — detection, containment, breach notification</a:t>
                      </a:r>
                      <a:endParaRPr lang="en-US" sz="10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2FB"/>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2F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A896"/>
                    </a:solidFill>
                  </a:tcPr>
                </a:tc>
              </a:tr>
              <a:tr h="274320">
                <a:tc>
                  <a:txBody>
                    <a:bodyPr/>
                    <a:lstStyle/>
                    <a:p>
                      <a:pPr algn="l" indent="0" marL="0">
                        <a:buNone/>
                      </a:pPr>
                      <a:r>
                        <a:rPr lang="en-US" sz="1000" b="1" dirty="0">
                          <a:solidFill>
                            <a:srgbClr val="1E2761"/>
                          </a:solidFill>
                          <a:latin typeface="Calibri" pitchFamily="34" charset="0"/>
                          <a:ea typeface="Calibri" pitchFamily="34" charset="-122"/>
                          <a:cs typeface="Calibri" pitchFamily="34" charset="-120"/>
                        </a:rPr>
                        <a:t>Change management — prompt / model upgrades, production promotion</a:t>
                      </a:r>
                      <a:endParaRPr lang="en-US" sz="10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C/I</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0A896"/>
                    </a:solidFill>
                  </a:tcPr>
                </a:tc>
              </a:tr>
              <a:tr h="274320">
                <a:tc>
                  <a:txBody>
                    <a:bodyPr/>
                    <a:lstStyle/>
                    <a:p>
                      <a:pPr algn="l" indent="0" marL="0">
                        <a:buNone/>
                      </a:pPr>
                      <a:r>
                        <a:rPr lang="en-US" sz="1000" b="1" dirty="0">
                          <a:solidFill>
                            <a:srgbClr val="1E2761"/>
                          </a:solidFill>
                          <a:latin typeface="Calibri" pitchFamily="34" charset="0"/>
                          <a:ea typeface="Calibri" pitchFamily="34" charset="-122"/>
                          <a:cs typeface="Calibri" pitchFamily="34" charset="-120"/>
                        </a:rPr>
                        <a:t>Training &amp; acceptable-use — staff enablement, AUP, the bright line</a:t>
                      </a:r>
                      <a:endParaRPr lang="en-US" sz="100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2FB"/>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5A6485"/>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R/A</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E2761"/>
                    </a:solidFill>
                  </a:tcPr>
                </a:tc>
                <a:tc>
                  <a:txBody>
                    <a:bodyPr/>
                    <a:lstStyle/>
                    <a:p>
                      <a:pPr algn="ctr" indent="0" marL="0">
                        <a:buNone/>
                      </a:pPr>
                      <a:r>
                        <a:rPr lang="en-US" sz="1050" dirty="0">
                          <a:solidFill>
                            <a:srgbClr val="5A6485"/>
                          </a:solidFill>
                          <a:latin typeface="Calibri" pitchFamily="34" charset="0"/>
                          <a:ea typeface="Calibri" pitchFamily="34" charset="-122"/>
                          <a:cs typeface="Calibri" pitchFamily="34" charset="-120"/>
                        </a:rPr>
                        <a:t>C/I</a:t>
                      </a:r>
                      <a:endParaRPr lang="en-US" sz="1050" dirty="0">
                        <a:latin typeface="Calibri" charset="0"/>
                        <a:ea typeface="Calibri" charset="0"/>
                        <a:cs typeface="Calibri" charset="0"/>
                      </a:endParaRPr>
                    </a:p>
                  </a:txBody>
                  <a:tcPr marL="50800" marR="50800" marT="38100" marB="3810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EEF2FB"/>
                    </a:solidFill>
                  </a:tcPr>
                </a:tc>
              </a:tr>
            </a:tbl>
          </a:graphicData>
        </a:graphic>
      </p:graphicFrame>
      <p:sp>
        <p:nvSpPr>
          <p:cNvPr id="13" name="Text 10"/>
          <p:cNvSpPr/>
          <p:nvPr/>
        </p:nvSpPr>
        <p:spPr>
          <a:xfrm>
            <a:off x="548640" y="6528816"/>
            <a:ext cx="11064240" cy="256032"/>
          </a:xfrm>
          <a:prstGeom prst="rect">
            <a:avLst/>
          </a:prstGeom>
          <a:noFill/>
          <a:ln/>
        </p:spPr>
        <p:txBody>
          <a:bodyPr wrap="square" lIns="0" tIns="0" rIns="0" bIns="0" rtlCol="0" anchor="ctr"/>
          <a:lstStyle/>
          <a:p>
            <a:pPr indent="0" marL="0">
              <a:buNone/>
            </a:pPr>
            <a:r>
              <a:rPr lang="en-US" sz="850" dirty="0">
                <a:solidFill>
                  <a:srgbClr val="5A6485"/>
                </a:solidFill>
                <a:latin typeface="Calibri" pitchFamily="34" charset="0"/>
                <a:ea typeface="Calibri" pitchFamily="34" charset="-122"/>
                <a:cs typeface="Calibri" pitchFamily="34" charset="-120"/>
              </a:rPr>
              <a:t>EDU AI Agent Suite  ·  Infrastructure &amp; Adoption Review  ·  Governed accelerator, not a turnkey certified product</a:t>
            </a:r>
            <a:endParaRPr lang="en-US" sz="850" dirty="0"/>
          </a:p>
        </p:txBody>
      </p:sp>
      <p:sp>
        <p:nvSpPr>
          <p:cNvPr id="14" name="Text 11"/>
          <p:cNvSpPr/>
          <p:nvPr/>
        </p:nvSpPr>
        <p:spPr>
          <a:xfrm>
            <a:off x="548640" y="3310128"/>
            <a:ext cx="11091672" cy="457200"/>
          </a:xfrm>
          <a:prstGeom prst="rect">
            <a:avLst/>
          </a:prstGeom>
          <a:noFill/>
          <a:ln/>
        </p:spPr>
        <p:txBody>
          <a:bodyPr wrap="square" lIns="0" tIns="0" rIns="0" bIns="0" rtlCol="0" anchor="ctr"/>
          <a:lstStyle/>
          <a:p>
            <a:pPr indent="0" marL="0">
              <a:buNone/>
            </a:pPr>
            <a:r>
              <a:rPr lang="en-US" sz="1050" i="1" dirty="0">
                <a:solidFill>
                  <a:srgbClr val="5A6485"/>
                </a:solidFill>
                <a:latin typeface="Calibri" pitchFamily="34" charset="0"/>
                <a:ea typeface="Calibri" pitchFamily="34" charset="-122"/>
                <a:cs typeface="Calibri" pitchFamily="34" charset="-120"/>
              </a:rPr>
              <a:t>Operationally: the SI builds and runs the technical controls; the institution makes every legal determination — breach notification, production sign-off, and acceptable-use enforcement.</a:t>
            </a:r>
            <a:endParaRPr lang="en-US" sz="1050" dirty="0"/>
          </a:p>
        </p:txBody>
      </p:sp>
      <p:sp>
        <p:nvSpPr>
          <p:cNvPr id="15" name="Shape 12"/>
          <p:cNvSpPr/>
          <p:nvPr/>
        </p:nvSpPr>
        <p:spPr>
          <a:xfrm>
            <a:off x="548640" y="3822192"/>
            <a:ext cx="3584448" cy="2331720"/>
          </a:xfrm>
          <a:prstGeom prst="roundRect">
            <a:avLst>
              <a:gd name="adj" fmla="val 3137"/>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16" name="Shape 13"/>
          <p:cNvSpPr/>
          <p:nvPr/>
        </p:nvSpPr>
        <p:spPr>
          <a:xfrm>
            <a:off x="768096" y="4041648"/>
            <a:ext cx="548640" cy="548640"/>
          </a:xfrm>
          <a:prstGeom prst="ellipse">
            <a:avLst/>
          </a:prstGeom>
          <a:solidFill>
            <a:srgbClr val="E8A33D"/>
          </a:solidFill>
          <a:ln/>
        </p:spPr>
      </p:sp>
      <p:pic>
        <p:nvPicPr>
          <p:cNvPr id="17" name="Image 0" descr="preencoded.png">    </p:cNvPr>
          <p:cNvPicPr>
            <a:picLocks noChangeAspect="1"/>
          </p:cNvPicPr>
          <p:nvPr/>
        </p:nvPicPr>
        <p:blipFill>
          <a:blip r:embed="rId1"/>
          <a:stretch>
            <a:fillRect/>
          </a:stretch>
        </p:blipFill>
        <p:spPr>
          <a:xfrm>
            <a:off x="910742" y="4184294"/>
            <a:ext cx="263347" cy="263347"/>
          </a:xfrm>
          <a:prstGeom prst="rect">
            <a:avLst/>
          </a:prstGeom>
        </p:spPr>
      </p:pic>
      <p:sp>
        <p:nvSpPr>
          <p:cNvPr id="18" name="Text 14"/>
          <p:cNvSpPr/>
          <p:nvPr/>
        </p:nvSpPr>
        <p:spPr>
          <a:xfrm>
            <a:off x="1426464" y="4059936"/>
            <a:ext cx="2578608" cy="50292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Support &amp; monitoring</a:t>
            </a:r>
            <a:endParaRPr lang="en-US" sz="1350" dirty="0"/>
          </a:p>
        </p:txBody>
      </p:sp>
      <p:sp>
        <p:nvSpPr>
          <p:cNvPr id="19" name="Text 15"/>
          <p:cNvSpPr/>
          <p:nvPr/>
        </p:nvSpPr>
        <p:spPr>
          <a:xfrm>
            <a:off x="786384" y="4663440"/>
            <a:ext cx="3127248" cy="1325880"/>
          </a:xfrm>
          <a:prstGeom prst="rect">
            <a:avLst/>
          </a:prstGeom>
          <a:noFill/>
          <a:ln/>
        </p:spPr>
        <p:txBody>
          <a:bodyPr wrap="square" lIns="0" tIns="0" rIns="0" bIns="0" rtlCol="0" anchor="ctr"/>
          <a:lstStyle/>
          <a:p>
            <a:pPr indent="0" marL="0">
              <a:lnSpc>
                <a:spcPct val="100000"/>
              </a:lnSpc>
              <a:buNone/>
            </a:pPr>
            <a:r>
              <a:rPr lang="en-US" sz="980" dirty="0">
                <a:solidFill>
                  <a:srgbClr val="33384F"/>
                </a:solidFill>
                <a:latin typeface="Calibri" pitchFamily="34" charset="0"/>
                <a:ea typeface="Calibri" pitchFamily="34" charset="-122"/>
                <a:cs typeface="Calibri" pitchFamily="34" charset="-120"/>
              </a:rPr>
              <a:t>Alarm thresholds, pager routing, and retention windows are customer-owned; the SI builds the dashboards and runs managed-service operations. Note: the alarm template is a gap you must author.</a:t>
            </a:r>
            <a:endParaRPr lang="en-US" sz="980" dirty="0"/>
          </a:p>
        </p:txBody>
      </p:sp>
      <p:sp>
        <p:nvSpPr>
          <p:cNvPr id="20" name="Shape 16"/>
          <p:cNvSpPr/>
          <p:nvPr/>
        </p:nvSpPr>
        <p:spPr>
          <a:xfrm>
            <a:off x="4297680" y="3822192"/>
            <a:ext cx="3584448" cy="2331720"/>
          </a:xfrm>
          <a:prstGeom prst="roundRect">
            <a:avLst>
              <a:gd name="adj" fmla="val 3137"/>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21" name="Shape 17"/>
          <p:cNvSpPr/>
          <p:nvPr/>
        </p:nvSpPr>
        <p:spPr>
          <a:xfrm>
            <a:off x="4517136" y="4041648"/>
            <a:ext cx="548640" cy="548640"/>
          </a:xfrm>
          <a:prstGeom prst="ellipse">
            <a:avLst/>
          </a:prstGeom>
          <a:solidFill>
            <a:srgbClr val="E8A33D"/>
          </a:solidFill>
          <a:ln/>
        </p:spPr>
      </p:sp>
      <p:pic>
        <p:nvPicPr>
          <p:cNvPr id="22" name="Image 1" descr="preencoded.png">    </p:cNvPr>
          <p:cNvPicPr>
            <a:picLocks noChangeAspect="1"/>
          </p:cNvPicPr>
          <p:nvPr/>
        </p:nvPicPr>
        <p:blipFill>
          <a:blip r:embed="rId2"/>
          <a:stretch>
            <a:fillRect/>
          </a:stretch>
        </p:blipFill>
        <p:spPr>
          <a:xfrm>
            <a:off x="4659782" y="4184294"/>
            <a:ext cx="263347" cy="263347"/>
          </a:xfrm>
          <a:prstGeom prst="rect">
            <a:avLst/>
          </a:prstGeom>
        </p:spPr>
      </p:pic>
      <p:sp>
        <p:nvSpPr>
          <p:cNvPr id="23" name="Text 18"/>
          <p:cNvSpPr/>
          <p:nvPr/>
        </p:nvSpPr>
        <p:spPr>
          <a:xfrm>
            <a:off x="5175504" y="4059936"/>
            <a:ext cx="2578608" cy="50292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Incident response</a:t>
            </a:r>
            <a:endParaRPr lang="en-US" sz="1350" dirty="0"/>
          </a:p>
        </p:txBody>
      </p:sp>
      <p:sp>
        <p:nvSpPr>
          <p:cNvPr id="24" name="Text 19"/>
          <p:cNvSpPr/>
          <p:nvPr/>
        </p:nvSpPr>
        <p:spPr>
          <a:xfrm>
            <a:off x="4535424" y="4663440"/>
            <a:ext cx="3127248" cy="1325880"/>
          </a:xfrm>
          <a:prstGeom prst="rect">
            <a:avLst/>
          </a:prstGeom>
          <a:noFill/>
          <a:ln/>
        </p:spPr>
        <p:txBody>
          <a:bodyPr wrap="square" lIns="0" tIns="0" rIns="0" bIns="0" rtlCol="0" anchor="ctr"/>
          <a:lstStyle/>
          <a:p>
            <a:pPr indent="0" marL="0">
              <a:lnSpc>
                <a:spcPct val="100000"/>
              </a:lnSpc>
              <a:buNone/>
            </a:pPr>
            <a:r>
              <a:rPr lang="en-US" sz="940" dirty="0">
                <a:solidFill>
                  <a:srgbClr val="33384F"/>
                </a:solidFill>
                <a:latin typeface="Calibri" pitchFamily="34" charset="0"/>
                <a:ea typeface="Calibri" pitchFamily="34" charset="-122"/>
                <a:cs typeface="Calibri" pitchFamily="34" charset="-120"/>
              </a:rPr>
              <a:t>The SI executes the runbook, produces audit evidence, and notifies you within 48h of confirmed discovery; you make the legal breach-notification determination to students, parents, and regulators.</a:t>
            </a:r>
            <a:endParaRPr lang="en-US" sz="940" dirty="0"/>
          </a:p>
        </p:txBody>
      </p:sp>
      <p:sp>
        <p:nvSpPr>
          <p:cNvPr id="25" name="Shape 20"/>
          <p:cNvSpPr/>
          <p:nvPr/>
        </p:nvSpPr>
        <p:spPr>
          <a:xfrm>
            <a:off x="8046720" y="3822192"/>
            <a:ext cx="3584448" cy="2331720"/>
          </a:xfrm>
          <a:prstGeom prst="roundRect">
            <a:avLst>
              <a:gd name="adj" fmla="val 3137"/>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26" name="Shape 21"/>
          <p:cNvSpPr/>
          <p:nvPr/>
        </p:nvSpPr>
        <p:spPr>
          <a:xfrm>
            <a:off x="8266176" y="4041648"/>
            <a:ext cx="548640" cy="548640"/>
          </a:xfrm>
          <a:prstGeom prst="ellipse">
            <a:avLst/>
          </a:prstGeom>
          <a:solidFill>
            <a:srgbClr val="E8A33D"/>
          </a:solidFill>
          <a:ln/>
        </p:spPr>
      </p:sp>
      <p:pic>
        <p:nvPicPr>
          <p:cNvPr id="27" name="Image 2" descr="preencoded.png">    </p:cNvPr>
          <p:cNvPicPr>
            <a:picLocks noChangeAspect="1"/>
          </p:cNvPicPr>
          <p:nvPr/>
        </p:nvPicPr>
        <p:blipFill>
          <a:blip r:embed="rId3"/>
          <a:stretch>
            <a:fillRect/>
          </a:stretch>
        </p:blipFill>
        <p:spPr>
          <a:xfrm>
            <a:off x="8408822" y="4184294"/>
            <a:ext cx="263347" cy="263347"/>
          </a:xfrm>
          <a:prstGeom prst="rect">
            <a:avLst/>
          </a:prstGeom>
        </p:spPr>
      </p:pic>
      <p:sp>
        <p:nvSpPr>
          <p:cNvPr id="28" name="Text 22"/>
          <p:cNvSpPr/>
          <p:nvPr/>
        </p:nvSpPr>
        <p:spPr>
          <a:xfrm>
            <a:off x="8924544" y="4059936"/>
            <a:ext cx="2578608" cy="502920"/>
          </a:xfrm>
          <a:prstGeom prst="rect">
            <a:avLst/>
          </a:prstGeom>
          <a:noFill/>
          <a:ln/>
        </p:spPr>
        <p:txBody>
          <a:bodyPr wrap="square" lIns="0" tIns="0" rIns="0" bIns="0" rtlCol="0" anchor="ctr"/>
          <a:lstStyle/>
          <a:p>
            <a:pPr indent="0" marL="0">
              <a:buNone/>
            </a:pPr>
            <a:r>
              <a:rPr lang="en-US" sz="1350" b="1" dirty="0">
                <a:solidFill>
                  <a:srgbClr val="1E2761"/>
                </a:solidFill>
                <a:latin typeface="Cambria" pitchFamily="34" charset="0"/>
                <a:ea typeface="Cambria" pitchFamily="34" charset="-122"/>
                <a:cs typeface="Cambria" pitchFamily="34" charset="-120"/>
              </a:rPr>
              <a:t>Change &amp; training</a:t>
            </a:r>
            <a:endParaRPr lang="en-US" sz="1350" dirty="0"/>
          </a:p>
        </p:txBody>
      </p:sp>
      <p:sp>
        <p:nvSpPr>
          <p:cNvPr id="29" name="Text 23"/>
          <p:cNvSpPr/>
          <p:nvPr/>
        </p:nvSpPr>
        <p:spPr>
          <a:xfrm>
            <a:off x="8284464" y="4663440"/>
            <a:ext cx="3127248" cy="1325880"/>
          </a:xfrm>
          <a:prstGeom prst="rect">
            <a:avLst/>
          </a:prstGeom>
          <a:noFill/>
          <a:ln/>
        </p:spPr>
        <p:txBody>
          <a:bodyPr wrap="square" lIns="0" tIns="0" rIns="0" bIns="0" rtlCol="0" anchor="ctr"/>
          <a:lstStyle/>
          <a:p>
            <a:pPr indent="0" marL="0">
              <a:lnSpc>
                <a:spcPct val="100000"/>
              </a:lnSpc>
              <a:buNone/>
            </a:pPr>
            <a:r>
              <a:rPr lang="en-US" sz="980" dirty="0">
                <a:solidFill>
                  <a:srgbClr val="33384F"/>
                </a:solidFill>
                <a:latin typeface="Calibri" pitchFamily="34" charset="0"/>
                <a:ea typeface="Calibri" pitchFamily="34" charset="-122"/>
                <a:cs typeface="Calibri" pitchFamily="34" charset="-120"/>
              </a:rPr>
              <a:t>No prompt, model, or tool-grant change reaches production without your sign-off. You own the AUP and train staff on what the agent does and does not decide; the SI supplies capability docs.</a:t>
            </a:r>
            <a:endParaRPr lang="en-US" sz="9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10896"/>
            <a:ext cx="9601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THE HONEST BACKLOG</a:t>
            </a:r>
            <a:endParaRPr lang="en-US" sz="1200" dirty="0"/>
          </a:p>
        </p:txBody>
      </p:sp>
      <p:sp>
        <p:nvSpPr>
          <p:cNvPr id="3" name="Text 1"/>
          <p:cNvSpPr/>
          <p:nvPr/>
        </p:nvSpPr>
        <p:spPr>
          <a:xfrm>
            <a:off x="548640" y="566928"/>
            <a:ext cx="1042416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What is still to be done</a:t>
            </a:r>
            <a:endParaRPr lang="en-US" sz="2700" dirty="0"/>
          </a:p>
        </p:txBody>
      </p:sp>
      <p:sp>
        <p:nvSpPr>
          <p:cNvPr id="4" name="Text 2"/>
          <p:cNvSpPr/>
          <p:nvPr/>
        </p:nvSpPr>
        <p:spPr>
          <a:xfrm>
            <a:off x="11350447" y="310896"/>
            <a:ext cx="457200" cy="310896"/>
          </a:xfrm>
          <a:prstGeom prst="rect">
            <a:avLst/>
          </a:prstGeom>
          <a:noFill/>
          <a:ln/>
        </p:spPr>
        <p:txBody>
          <a:bodyPr wrap="square" lIns="0" tIns="0" rIns="0" bIns="0" rtlCol="0" anchor="ctr"/>
          <a:lstStyle/>
          <a:p>
            <a:pPr algn="ctr" indent="0" marL="0">
              <a:buNone/>
            </a:pPr>
            <a:r>
              <a:rPr lang="en-US" sz="1200" b="1" dirty="0">
                <a:solidFill>
                  <a:srgbClr val="5A6485"/>
                </a:solidFill>
                <a:latin typeface="Calibri" pitchFamily="34" charset="0"/>
                <a:ea typeface="Calibri" pitchFamily="34" charset="-122"/>
                <a:cs typeface="Calibri" pitchFamily="34" charset="-120"/>
              </a:rPr>
              <a:t>10</a:t>
            </a:r>
            <a:endParaRPr lang="en-US" sz="1200" dirty="0"/>
          </a:p>
        </p:txBody>
      </p:sp>
      <p:sp>
        <p:nvSpPr>
          <p:cNvPr id="5" name="Shape 3"/>
          <p:cNvSpPr/>
          <p:nvPr/>
        </p:nvSpPr>
        <p:spPr>
          <a:xfrm>
            <a:off x="548640" y="1371600"/>
            <a:ext cx="5413248" cy="1033272"/>
          </a:xfrm>
          <a:prstGeom prst="roundRect">
            <a:avLst>
              <a:gd name="adj" fmla="val 6195"/>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6" name="Shape 4"/>
          <p:cNvSpPr/>
          <p:nvPr/>
        </p:nvSpPr>
        <p:spPr>
          <a:xfrm>
            <a:off x="731520" y="1609344"/>
            <a:ext cx="548640" cy="548640"/>
          </a:xfrm>
          <a:prstGeom prst="ellipse">
            <a:avLst/>
          </a:prstGeom>
          <a:solidFill>
            <a:srgbClr val="1E2761"/>
          </a:solidFill>
          <a:ln/>
        </p:spPr>
      </p:sp>
      <p:pic>
        <p:nvPicPr>
          <p:cNvPr id="7" name="Image 0" descr="preencoded.png">    </p:cNvPr>
          <p:cNvPicPr>
            <a:picLocks noChangeAspect="1"/>
          </p:cNvPicPr>
          <p:nvPr/>
        </p:nvPicPr>
        <p:blipFill>
          <a:blip r:embed="rId1"/>
          <a:stretch>
            <a:fillRect/>
          </a:stretch>
        </p:blipFill>
        <p:spPr>
          <a:xfrm>
            <a:off x="874166" y="1751990"/>
            <a:ext cx="263347" cy="263347"/>
          </a:xfrm>
          <a:prstGeom prst="rect">
            <a:avLst/>
          </a:prstGeom>
        </p:spPr>
      </p:pic>
      <p:sp>
        <p:nvSpPr>
          <p:cNvPr id="8" name="Text 5"/>
          <p:cNvSpPr/>
          <p:nvPr/>
        </p:nvSpPr>
        <p:spPr>
          <a:xfrm>
            <a:off x="1417320" y="1490472"/>
            <a:ext cx="4407408" cy="329184"/>
          </a:xfrm>
          <a:prstGeom prst="rect">
            <a:avLst/>
          </a:prstGeom>
          <a:noFill/>
          <a:ln/>
        </p:spPr>
        <p:txBody>
          <a:bodyPr wrap="square" lIns="0" tIns="0" rIns="0" bIns="0"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Edge + observability IaC</a:t>
            </a:r>
            <a:endParaRPr lang="en-US" sz="1250" dirty="0"/>
          </a:p>
        </p:txBody>
      </p:sp>
      <p:sp>
        <p:nvSpPr>
          <p:cNvPr id="9" name="Text 6"/>
          <p:cNvSpPr/>
          <p:nvPr/>
        </p:nvSpPr>
        <p:spPr>
          <a:xfrm>
            <a:off x="1417320" y="1801368"/>
            <a:ext cx="4389120" cy="548640"/>
          </a:xfrm>
          <a:prstGeom prst="rect">
            <a:avLst/>
          </a:prstGeom>
          <a:noFill/>
          <a:ln/>
        </p:spPr>
        <p:txBody>
          <a:bodyPr wrap="square" lIns="0" tIns="0" rIns="0" bIns="0" rtlCol="0" anchor="ctr"/>
          <a:lstStyle/>
          <a:p>
            <a:pPr indent="0" marL="0">
              <a:lnSpc>
                <a:spcPct val="95000"/>
              </a:lnSpc>
              <a:buNone/>
            </a:pPr>
            <a:r>
              <a:rPr lang="en-US" sz="970" dirty="0">
                <a:solidFill>
                  <a:srgbClr val="33384F"/>
                </a:solidFill>
                <a:latin typeface="Calibri" pitchFamily="34" charset="0"/>
                <a:ea typeface="Calibri" pitchFamily="34" charset="-122"/>
                <a:cs typeface="Calibri" pitchFamily="34" charset="-120"/>
              </a:rPr>
              <a:t>CloudFront / WAF / ACM / Route 53 and CloudWatch alarms + dashboards authored as templates.</a:t>
            </a:r>
            <a:endParaRPr lang="en-US" sz="970" dirty="0"/>
          </a:p>
        </p:txBody>
      </p:sp>
      <p:sp>
        <p:nvSpPr>
          <p:cNvPr id="10" name="Shape 7"/>
          <p:cNvSpPr/>
          <p:nvPr/>
        </p:nvSpPr>
        <p:spPr>
          <a:xfrm>
            <a:off x="6217920" y="1371600"/>
            <a:ext cx="5413248" cy="1033272"/>
          </a:xfrm>
          <a:prstGeom prst="roundRect">
            <a:avLst>
              <a:gd name="adj" fmla="val 6195"/>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11" name="Shape 8"/>
          <p:cNvSpPr/>
          <p:nvPr/>
        </p:nvSpPr>
        <p:spPr>
          <a:xfrm>
            <a:off x="6400800" y="1609344"/>
            <a:ext cx="548640" cy="548640"/>
          </a:xfrm>
          <a:prstGeom prst="ellipse">
            <a:avLst/>
          </a:prstGeom>
          <a:solidFill>
            <a:srgbClr val="1E2761"/>
          </a:solidFill>
          <a:ln/>
        </p:spPr>
      </p:sp>
      <p:pic>
        <p:nvPicPr>
          <p:cNvPr id="12" name="Image 1" descr="preencoded.png">    </p:cNvPr>
          <p:cNvPicPr>
            <a:picLocks noChangeAspect="1"/>
          </p:cNvPicPr>
          <p:nvPr/>
        </p:nvPicPr>
        <p:blipFill>
          <a:blip r:embed="rId2"/>
          <a:stretch>
            <a:fillRect/>
          </a:stretch>
        </p:blipFill>
        <p:spPr>
          <a:xfrm>
            <a:off x="6543446" y="1751990"/>
            <a:ext cx="263347" cy="263347"/>
          </a:xfrm>
          <a:prstGeom prst="rect">
            <a:avLst/>
          </a:prstGeom>
        </p:spPr>
      </p:pic>
      <p:sp>
        <p:nvSpPr>
          <p:cNvPr id="13" name="Text 9"/>
          <p:cNvSpPr/>
          <p:nvPr/>
        </p:nvSpPr>
        <p:spPr>
          <a:xfrm>
            <a:off x="7086600" y="1490472"/>
            <a:ext cx="4407408" cy="329184"/>
          </a:xfrm>
          <a:prstGeom prst="rect">
            <a:avLst/>
          </a:prstGeom>
          <a:noFill/>
          <a:ln/>
        </p:spPr>
        <p:txBody>
          <a:bodyPr wrap="square" lIns="0" tIns="0" rIns="0" bIns="0"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Live connectors</a:t>
            </a:r>
            <a:endParaRPr lang="en-US" sz="1250" dirty="0"/>
          </a:p>
        </p:txBody>
      </p:sp>
      <p:sp>
        <p:nvSpPr>
          <p:cNvPr id="14" name="Text 10"/>
          <p:cNvSpPr/>
          <p:nvPr/>
        </p:nvSpPr>
        <p:spPr>
          <a:xfrm>
            <a:off x="7086600" y="1801368"/>
            <a:ext cx="4389120" cy="548640"/>
          </a:xfrm>
          <a:prstGeom prst="rect">
            <a:avLst/>
          </a:prstGeom>
          <a:noFill/>
          <a:ln/>
        </p:spPr>
        <p:txBody>
          <a:bodyPr wrap="square" lIns="0" tIns="0" rIns="0" bIns="0" rtlCol="0" anchor="ctr"/>
          <a:lstStyle/>
          <a:p>
            <a:pPr indent="0" marL="0">
              <a:lnSpc>
                <a:spcPct val="95000"/>
              </a:lnSpc>
              <a:buNone/>
            </a:pPr>
            <a:r>
              <a:rPr lang="en-US" sz="970" dirty="0">
                <a:solidFill>
                  <a:srgbClr val="33384F"/>
                </a:solidFill>
                <a:latin typeface="Calibri" pitchFamily="34" charset="0"/>
                <a:ea typeface="Calibri" pitchFamily="34" charset="-122"/>
                <a:cs typeface="Calibri" pitchFamily="34" charset="-120"/>
              </a:rPr>
              <a:t>Validated adapters for live SIS / LMS / ERP / ITSM (PowerSchool, Banner, Canvas, ServiceNow).</a:t>
            </a:r>
            <a:endParaRPr lang="en-US" sz="970" dirty="0"/>
          </a:p>
        </p:txBody>
      </p:sp>
      <p:sp>
        <p:nvSpPr>
          <p:cNvPr id="15" name="Shape 11"/>
          <p:cNvSpPr/>
          <p:nvPr/>
        </p:nvSpPr>
        <p:spPr>
          <a:xfrm>
            <a:off x="548640" y="2551176"/>
            <a:ext cx="5413248" cy="1033272"/>
          </a:xfrm>
          <a:prstGeom prst="roundRect">
            <a:avLst>
              <a:gd name="adj" fmla="val 6195"/>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16" name="Shape 12"/>
          <p:cNvSpPr/>
          <p:nvPr/>
        </p:nvSpPr>
        <p:spPr>
          <a:xfrm>
            <a:off x="731520" y="2788920"/>
            <a:ext cx="548640" cy="548640"/>
          </a:xfrm>
          <a:prstGeom prst="ellipse">
            <a:avLst/>
          </a:prstGeom>
          <a:solidFill>
            <a:srgbClr val="1E2761"/>
          </a:solidFill>
          <a:ln/>
        </p:spPr>
      </p:sp>
      <p:pic>
        <p:nvPicPr>
          <p:cNvPr id="17" name="Image 2" descr="preencoded.png">    </p:cNvPr>
          <p:cNvPicPr>
            <a:picLocks noChangeAspect="1"/>
          </p:cNvPicPr>
          <p:nvPr/>
        </p:nvPicPr>
        <p:blipFill>
          <a:blip r:embed="rId3"/>
          <a:stretch>
            <a:fillRect/>
          </a:stretch>
        </p:blipFill>
        <p:spPr>
          <a:xfrm>
            <a:off x="874166" y="2931566"/>
            <a:ext cx="263347" cy="263347"/>
          </a:xfrm>
          <a:prstGeom prst="rect">
            <a:avLst/>
          </a:prstGeom>
        </p:spPr>
      </p:pic>
      <p:sp>
        <p:nvSpPr>
          <p:cNvPr id="18" name="Text 13"/>
          <p:cNvSpPr/>
          <p:nvPr/>
        </p:nvSpPr>
        <p:spPr>
          <a:xfrm>
            <a:off x="1417320" y="2670048"/>
            <a:ext cx="4407408" cy="329184"/>
          </a:xfrm>
          <a:prstGeom prst="rect">
            <a:avLst/>
          </a:prstGeom>
          <a:noFill/>
          <a:ln/>
        </p:spPr>
        <p:txBody>
          <a:bodyPr wrap="square" lIns="0" tIns="0" rIns="0" bIns="0"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KB ingestion pipeline</a:t>
            </a:r>
            <a:endParaRPr lang="en-US" sz="1250" dirty="0"/>
          </a:p>
        </p:txBody>
      </p:sp>
      <p:sp>
        <p:nvSpPr>
          <p:cNvPr id="19" name="Text 14"/>
          <p:cNvSpPr/>
          <p:nvPr/>
        </p:nvSpPr>
        <p:spPr>
          <a:xfrm>
            <a:off x="1417320" y="2980944"/>
            <a:ext cx="4389120" cy="548640"/>
          </a:xfrm>
          <a:prstGeom prst="rect">
            <a:avLst/>
          </a:prstGeom>
          <a:noFill/>
          <a:ln/>
        </p:spPr>
        <p:txBody>
          <a:bodyPr wrap="square" lIns="0" tIns="0" rIns="0" bIns="0" rtlCol="0" anchor="ctr"/>
          <a:lstStyle/>
          <a:p>
            <a:pPr indent="0" marL="0">
              <a:lnSpc>
                <a:spcPct val="95000"/>
              </a:lnSpc>
              <a:buNone/>
            </a:pPr>
            <a:r>
              <a:rPr lang="en-US" sz="970" dirty="0">
                <a:solidFill>
                  <a:srgbClr val="33384F"/>
                </a:solidFill>
                <a:latin typeface="Calibri" pitchFamily="34" charset="0"/>
                <a:ea typeface="Calibri" pitchFamily="34" charset="-122"/>
                <a:cs typeface="Calibri" pitchFamily="34" charset="-120"/>
              </a:rPr>
              <a:t>Bedrock Knowledge Base ingestion IaC built out from the current stub, with grounding wired in.</a:t>
            </a:r>
            <a:endParaRPr lang="en-US" sz="970" dirty="0"/>
          </a:p>
        </p:txBody>
      </p:sp>
      <p:sp>
        <p:nvSpPr>
          <p:cNvPr id="20" name="Shape 15"/>
          <p:cNvSpPr/>
          <p:nvPr/>
        </p:nvSpPr>
        <p:spPr>
          <a:xfrm>
            <a:off x="6217920" y="2551176"/>
            <a:ext cx="5413248" cy="1033272"/>
          </a:xfrm>
          <a:prstGeom prst="roundRect">
            <a:avLst>
              <a:gd name="adj" fmla="val 6195"/>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21" name="Shape 16"/>
          <p:cNvSpPr/>
          <p:nvPr/>
        </p:nvSpPr>
        <p:spPr>
          <a:xfrm>
            <a:off x="6400800" y="2788920"/>
            <a:ext cx="548640" cy="548640"/>
          </a:xfrm>
          <a:prstGeom prst="ellipse">
            <a:avLst/>
          </a:prstGeom>
          <a:solidFill>
            <a:srgbClr val="1E2761"/>
          </a:solidFill>
          <a:ln/>
        </p:spPr>
      </p:sp>
      <p:pic>
        <p:nvPicPr>
          <p:cNvPr id="22" name="Image 3" descr="preencoded.png">    </p:cNvPr>
          <p:cNvPicPr>
            <a:picLocks noChangeAspect="1"/>
          </p:cNvPicPr>
          <p:nvPr/>
        </p:nvPicPr>
        <p:blipFill>
          <a:blip r:embed="rId4"/>
          <a:stretch>
            <a:fillRect/>
          </a:stretch>
        </p:blipFill>
        <p:spPr>
          <a:xfrm>
            <a:off x="6543446" y="2931566"/>
            <a:ext cx="263347" cy="263347"/>
          </a:xfrm>
          <a:prstGeom prst="rect">
            <a:avLst/>
          </a:prstGeom>
        </p:spPr>
      </p:pic>
      <p:sp>
        <p:nvSpPr>
          <p:cNvPr id="23" name="Text 17"/>
          <p:cNvSpPr/>
          <p:nvPr/>
        </p:nvSpPr>
        <p:spPr>
          <a:xfrm>
            <a:off x="7086600" y="2670048"/>
            <a:ext cx="4407408" cy="329184"/>
          </a:xfrm>
          <a:prstGeom prst="rect">
            <a:avLst/>
          </a:prstGeom>
          <a:noFill/>
          <a:ln/>
        </p:spPr>
        <p:txBody>
          <a:bodyPr wrap="square" lIns="0" tIns="0" rIns="0" bIns="0"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axe-core in CI</a:t>
            </a:r>
            <a:endParaRPr lang="en-US" sz="1250" dirty="0"/>
          </a:p>
        </p:txBody>
      </p:sp>
      <p:sp>
        <p:nvSpPr>
          <p:cNvPr id="24" name="Text 18"/>
          <p:cNvSpPr/>
          <p:nvPr/>
        </p:nvSpPr>
        <p:spPr>
          <a:xfrm>
            <a:off x="7086600" y="2980944"/>
            <a:ext cx="4389120" cy="548640"/>
          </a:xfrm>
          <a:prstGeom prst="rect">
            <a:avLst/>
          </a:prstGeom>
          <a:noFill/>
          <a:ln/>
        </p:spPr>
        <p:txBody>
          <a:bodyPr wrap="square" lIns="0" tIns="0" rIns="0" bIns="0" rtlCol="0" anchor="ctr"/>
          <a:lstStyle/>
          <a:p>
            <a:pPr indent="0" marL="0">
              <a:lnSpc>
                <a:spcPct val="95000"/>
              </a:lnSpc>
              <a:buNone/>
            </a:pPr>
            <a:r>
              <a:rPr lang="en-US" sz="970" dirty="0">
                <a:solidFill>
                  <a:srgbClr val="33384F"/>
                </a:solidFill>
                <a:latin typeface="Calibri" pitchFamily="34" charset="0"/>
                <a:ea typeface="Calibri" pitchFamily="34" charset="-122"/>
                <a:cs typeface="Calibri" pitchFamily="34" charset="-120"/>
              </a:rPr>
              <a:t>Automated accessibility checks in the pipeline plus a full WCAG 2.2 AA conformance pass.</a:t>
            </a:r>
            <a:endParaRPr lang="en-US" sz="970" dirty="0"/>
          </a:p>
        </p:txBody>
      </p:sp>
      <p:sp>
        <p:nvSpPr>
          <p:cNvPr id="25" name="Shape 19"/>
          <p:cNvSpPr/>
          <p:nvPr/>
        </p:nvSpPr>
        <p:spPr>
          <a:xfrm>
            <a:off x="548640" y="3730752"/>
            <a:ext cx="5413248" cy="1033272"/>
          </a:xfrm>
          <a:prstGeom prst="roundRect">
            <a:avLst>
              <a:gd name="adj" fmla="val 6195"/>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26" name="Shape 20"/>
          <p:cNvSpPr/>
          <p:nvPr/>
        </p:nvSpPr>
        <p:spPr>
          <a:xfrm>
            <a:off x="731520" y="3968496"/>
            <a:ext cx="548640" cy="548640"/>
          </a:xfrm>
          <a:prstGeom prst="ellipse">
            <a:avLst/>
          </a:prstGeom>
          <a:solidFill>
            <a:srgbClr val="1E2761"/>
          </a:solidFill>
          <a:ln/>
        </p:spPr>
      </p:sp>
      <p:pic>
        <p:nvPicPr>
          <p:cNvPr id="27" name="Image 4" descr="preencoded.png">    </p:cNvPr>
          <p:cNvPicPr>
            <a:picLocks noChangeAspect="1"/>
          </p:cNvPicPr>
          <p:nvPr/>
        </p:nvPicPr>
        <p:blipFill>
          <a:blip r:embed="rId5"/>
          <a:stretch>
            <a:fillRect/>
          </a:stretch>
        </p:blipFill>
        <p:spPr>
          <a:xfrm>
            <a:off x="874166" y="4111142"/>
            <a:ext cx="263347" cy="263347"/>
          </a:xfrm>
          <a:prstGeom prst="rect">
            <a:avLst/>
          </a:prstGeom>
        </p:spPr>
      </p:pic>
      <p:sp>
        <p:nvSpPr>
          <p:cNvPr id="28" name="Text 21"/>
          <p:cNvSpPr/>
          <p:nvPr/>
        </p:nvSpPr>
        <p:spPr>
          <a:xfrm>
            <a:off x="1417320" y="3849624"/>
            <a:ext cx="4407408" cy="329184"/>
          </a:xfrm>
          <a:prstGeom prst="rect">
            <a:avLst/>
          </a:prstGeom>
          <a:noFill/>
          <a:ln/>
        </p:spPr>
        <p:txBody>
          <a:bodyPr wrap="square" lIns="0" tIns="0" rIns="0" bIns="0"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Cedar / OPA policy export</a:t>
            </a:r>
            <a:endParaRPr lang="en-US" sz="1250" dirty="0"/>
          </a:p>
        </p:txBody>
      </p:sp>
      <p:sp>
        <p:nvSpPr>
          <p:cNvPr id="29" name="Text 22"/>
          <p:cNvSpPr/>
          <p:nvPr/>
        </p:nvSpPr>
        <p:spPr>
          <a:xfrm>
            <a:off x="1417320" y="4160520"/>
            <a:ext cx="4389120" cy="548640"/>
          </a:xfrm>
          <a:prstGeom prst="rect">
            <a:avLst/>
          </a:prstGeom>
          <a:noFill/>
          <a:ln/>
        </p:spPr>
        <p:txBody>
          <a:bodyPr wrap="square" lIns="0" tIns="0" rIns="0" bIns="0" rtlCol="0" anchor="ctr"/>
          <a:lstStyle/>
          <a:p>
            <a:pPr indent="0" marL="0">
              <a:lnSpc>
                <a:spcPct val="95000"/>
              </a:lnSpc>
              <a:buNone/>
            </a:pPr>
            <a:r>
              <a:rPr lang="en-US" sz="970" dirty="0">
                <a:solidFill>
                  <a:srgbClr val="33384F"/>
                </a:solidFill>
                <a:latin typeface="Calibri" pitchFamily="34" charset="0"/>
                <a:ea typeface="Calibri" pitchFamily="34" charset="-122"/>
                <a:cs typeface="Calibri" pitchFamily="34" charset="-120"/>
              </a:rPr>
              <a:t>Export the gateway authorization model to a standard policy engine for external review &amp; reuse.</a:t>
            </a:r>
            <a:endParaRPr lang="en-US" sz="970" dirty="0"/>
          </a:p>
        </p:txBody>
      </p:sp>
      <p:sp>
        <p:nvSpPr>
          <p:cNvPr id="30" name="Shape 23"/>
          <p:cNvSpPr/>
          <p:nvPr/>
        </p:nvSpPr>
        <p:spPr>
          <a:xfrm>
            <a:off x="6217920" y="3730752"/>
            <a:ext cx="5413248" cy="1033272"/>
          </a:xfrm>
          <a:prstGeom prst="roundRect">
            <a:avLst>
              <a:gd name="adj" fmla="val 6195"/>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31" name="Shape 24"/>
          <p:cNvSpPr/>
          <p:nvPr/>
        </p:nvSpPr>
        <p:spPr>
          <a:xfrm>
            <a:off x="6400800" y="3968496"/>
            <a:ext cx="548640" cy="548640"/>
          </a:xfrm>
          <a:prstGeom prst="ellipse">
            <a:avLst/>
          </a:prstGeom>
          <a:solidFill>
            <a:srgbClr val="1E2761"/>
          </a:solidFill>
          <a:ln/>
        </p:spPr>
      </p:sp>
      <p:pic>
        <p:nvPicPr>
          <p:cNvPr id="32" name="Image 5" descr="preencoded.png">    </p:cNvPr>
          <p:cNvPicPr>
            <a:picLocks noChangeAspect="1"/>
          </p:cNvPicPr>
          <p:nvPr/>
        </p:nvPicPr>
        <p:blipFill>
          <a:blip r:embed="rId6"/>
          <a:stretch>
            <a:fillRect/>
          </a:stretch>
        </p:blipFill>
        <p:spPr>
          <a:xfrm>
            <a:off x="6543446" y="4111142"/>
            <a:ext cx="263347" cy="263347"/>
          </a:xfrm>
          <a:prstGeom prst="rect">
            <a:avLst/>
          </a:prstGeom>
        </p:spPr>
      </p:pic>
      <p:sp>
        <p:nvSpPr>
          <p:cNvPr id="33" name="Text 25"/>
          <p:cNvSpPr/>
          <p:nvPr/>
        </p:nvSpPr>
        <p:spPr>
          <a:xfrm>
            <a:off x="7086600" y="3849624"/>
            <a:ext cx="4407408" cy="329184"/>
          </a:xfrm>
          <a:prstGeom prst="rect">
            <a:avLst/>
          </a:prstGeom>
          <a:noFill/>
          <a:ln/>
        </p:spPr>
        <p:txBody>
          <a:bodyPr wrap="square" lIns="0" tIns="0" rIns="0" bIns="0"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Penetration test</a:t>
            </a:r>
            <a:endParaRPr lang="en-US" sz="1250" dirty="0"/>
          </a:p>
        </p:txBody>
      </p:sp>
      <p:sp>
        <p:nvSpPr>
          <p:cNvPr id="34" name="Text 26"/>
          <p:cNvSpPr/>
          <p:nvPr/>
        </p:nvSpPr>
        <p:spPr>
          <a:xfrm>
            <a:off x="7086600" y="4160520"/>
            <a:ext cx="4389120" cy="548640"/>
          </a:xfrm>
          <a:prstGeom prst="rect">
            <a:avLst/>
          </a:prstGeom>
          <a:noFill/>
          <a:ln/>
        </p:spPr>
        <p:txBody>
          <a:bodyPr wrap="square" lIns="0" tIns="0" rIns="0" bIns="0" rtlCol="0" anchor="ctr"/>
          <a:lstStyle/>
          <a:p>
            <a:pPr indent="0" marL="0">
              <a:lnSpc>
                <a:spcPct val="95000"/>
              </a:lnSpc>
              <a:buNone/>
            </a:pPr>
            <a:r>
              <a:rPr lang="en-US" sz="970" dirty="0">
                <a:solidFill>
                  <a:srgbClr val="33384F"/>
                </a:solidFill>
                <a:latin typeface="Calibri" pitchFamily="34" charset="0"/>
                <a:ea typeface="Calibri" pitchFamily="34" charset="-122"/>
                <a:cs typeface="Calibri" pitchFamily="34" charset="-120"/>
              </a:rPr>
              <a:t>Independent pen test of the deployed surface — a production-readiness gate.</a:t>
            </a:r>
            <a:endParaRPr lang="en-US" sz="970" dirty="0"/>
          </a:p>
        </p:txBody>
      </p:sp>
      <p:sp>
        <p:nvSpPr>
          <p:cNvPr id="35" name="Shape 27"/>
          <p:cNvSpPr/>
          <p:nvPr/>
        </p:nvSpPr>
        <p:spPr>
          <a:xfrm>
            <a:off x="548640" y="4910328"/>
            <a:ext cx="5413248" cy="1033272"/>
          </a:xfrm>
          <a:prstGeom prst="roundRect">
            <a:avLst>
              <a:gd name="adj" fmla="val 6195"/>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36" name="Shape 28"/>
          <p:cNvSpPr/>
          <p:nvPr/>
        </p:nvSpPr>
        <p:spPr>
          <a:xfrm>
            <a:off x="731520" y="5148072"/>
            <a:ext cx="548640" cy="548640"/>
          </a:xfrm>
          <a:prstGeom prst="ellipse">
            <a:avLst/>
          </a:prstGeom>
          <a:solidFill>
            <a:srgbClr val="1E2761"/>
          </a:solidFill>
          <a:ln/>
        </p:spPr>
      </p:sp>
      <p:pic>
        <p:nvPicPr>
          <p:cNvPr id="37" name="Image 6" descr="preencoded.png">    </p:cNvPr>
          <p:cNvPicPr>
            <a:picLocks noChangeAspect="1"/>
          </p:cNvPicPr>
          <p:nvPr/>
        </p:nvPicPr>
        <p:blipFill>
          <a:blip r:embed="rId7"/>
          <a:stretch>
            <a:fillRect/>
          </a:stretch>
        </p:blipFill>
        <p:spPr>
          <a:xfrm>
            <a:off x="874166" y="5290718"/>
            <a:ext cx="263347" cy="263347"/>
          </a:xfrm>
          <a:prstGeom prst="rect">
            <a:avLst/>
          </a:prstGeom>
        </p:spPr>
      </p:pic>
      <p:sp>
        <p:nvSpPr>
          <p:cNvPr id="38" name="Text 29"/>
          <p:cNvSpPr/>
          <p:nvPr/>
        </p:nvSpPr>
        <p:spPr>
          <a:xfrm>
            <a:off x="1417320" y="5029200"/>
            <a:ext cx="4407408" cy="329184"/>
          </a:xfrm>
          <a:prstGeom prst="rect">
            <a:avLst/>
          </a:prstGeom>
          <a:noFill/>
          <a:ln/>
        </p:spPr>
        <p:txBody>
          <a:bodyPr wrap="square" lIns="0" tIns="0" rIns="0" bIns="0"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Reviewer UI</a:t>
            </a:r>
            <a:endParaRPr lang="en-US" sz="1250" dirty="0"/>
          </a:p>
        </p:txBody>
      </p:sp>
      <p:sp>
        <p:nvSpPr>
          <p:cNvPr id="39" name="Text 30"/>
          <p:cNvSpPr/>
          <p:nvPr/>
        </p:nvSpPr>
        <p:spPr>
          <a:xfrm>
            <a:off x="1417320" y="5340096"/>
            <a:ext cx="4389120" cy="548640"/>
          </a:xfrm>
          <a:prstGeom prst="rect">
            <a:avLst/>
          </a:prstGeom>
          <a:noFill/>
          <a:ln/>
        </p:spPr>
        <p:txBody>
          <a:bodyPr wrap="square" lIns="0" tIns="0" rIns="0" bIns="0" rtlCol="0" anchor="ctr"/>
          <a:lstStyle/>
          <a:p>
            <a:pPr indent="0" marL="0">
              <a:lnSpc>
                <a:spcPct val="95000"/>
              </a:lnSpc>
              <a:buNone/>
            </a:pPr>
            <a:r>
              <a:rPr lang="en-US" sz="970" dirty="0">
                <a:solidFill>
                  <a:srgbClr val="33384F"/>
                </a:solidFill>
                <a:latin typeface="Calibri" pitchFamily="34" charset="0"/>
                <a:ea typeface="Calibri" pitchFamily="34" charset="-122"/>
                <a:cs typeface="Calibri" pitchFamily="34" charset="-120"/>
              </a:rPr>
              <a:t>The HITL approve/reject surface that authenticates the reviewer and binds identity into the record.</a:t>
            </a:r>
            <a:endParaRPr lang="en-US" sz="970" dirty="0"/>
          </a:p>
        </p:txBody>
      </p:sp>
      <p:sp>
        <p:nvSpPr>
          <p:cNvPr id="40" name="Shape 31"/>
          <p:cNvSpPr/>
          <p:nvPr/>
        </p:nvSpPr>
        <p:spPr>
          <a:xfrm>
            <a:off x="6217920" y="4910328"/>
            <a:ext cx="5413248" cy="1033272"/>
          </a:xfrm>
          <a:prstGeom prst="roundRect">
            <a:avLst>
              <a:gd name="adj" fmla="val 6195"/>
            </a:avLst>
          </a:prstGeom>
          <a:solidFill>
            <a:srgbClr val="FFFFFF"/>
          </a:solidFill>
          <a:ln w="12700">
            <a:solidFill>
              <a:srgbClr val="D9E0EF"/>
            </a:solidFill>
            <a:prstDash val="solid"/>
          </a:ln>
          <a:effectLst>
            <a:outerShdw sx="100000" sy="100000" kx="0" ky="0" algn="bl" rotWithShape="0" blurRad="63500" dist="25400" dir="5400000">
              <a:srgbClr val="000000">
                <a:alpha val="10000"/>
              </a:srgbClr>
            </a:outerShdw>
          </a:effectLst>
        </p:spPr>
      </p:sp>
      <p:sp>
        <p:nvSpPr>
          <p:cNvPr id="41" name="Shape 32"/>
          <p:cNvSpPr/>
          <p:nvPr/>
        </p:nvSpPr>
        <p:spPr>
          <a:xfrm>
            <a:off x="6400800" y="5148072"/>
            <a:ext cx="548640" cy="548640"/>
          </a:xfrm>
          <a:prstGeom prst="ellipse">
            <a:avLst/>
          </a:prstGeom>
          <a:solidFill>
            <a:srgbClr val="1E2761"/>
          </a:solidFill>
          <a:ln/>
        </p:spPr>
      </p:sp>
      <p:pic>
        <p:nvPicPr>
          <p:cNvPr id="42" name="Image 7" descr="preencoded.png">    </p:cNvPr>
          <p:cNvPicPr>
            <a:picLocks noChangeAspect="1"/>
          </p:cNvPicPr>
          <p:nvPr/>
        </p:nvPicPr>
        <p:blipFill>
          <a:blip r:embed="rId8"/>
          <a:stretch>
            <a:fillRect/>
          </a:stretch>
        </p:blipFill>
        <p:spPr>
          <a:xfrm>
            <a:off x="6543446" y="5290718"/>
            <a:ext cx="263347" cy="263347"/>
          </a:xfrm>
          <a:prstGeom prst="rect">
            <a:avLst/>
          </a:prstGeom>
        </p:spPr>
      </p:pic>
      <p:sp>
        <p:nvSpPr>
          <p:cNvPr id="43" name="Text 33"/>
          <p:cNvSpPr/>
          <p:nvPr/>
        </p:nvSpPr>
        <p:spPr>
          <a:xfrm>
            <a:off x="7086600" y="5029200"/>
            <a:ext cx="4407408" cy="329184"/>
          </a:xfrm>
          <a:prstGeom prst="rect">
            <a:avLst/>
          </a:prstGeom>
          <a:noFill/>
          <a:ln/>
        </p:spPr>
        <p:txBody>
          <a:bodyPr wrap="square" lIns="0" tIns="0" rIns="0" bIns="0" rtlCol="0" anchor="ctr"/>
          <a:lstStyle/>
          <a:p>
            <a:pPr indent="0" marL="0">
              <a:buNone/>
            </a:pPr>
            <a:r>
              <a:rPr lang="en-US" sz="1250" b="1" dirty="0">
                <a:solidFill>
                  <a:srgbClr val="1E2761"/>
                </a:solidFill>
                <a:latin typeface="Cambria" pitchFamily="34" charset="0"/>
                <a:ea typeface="Cambria" pitchFamily="34" charset="-122"/>
                <a:cs typeface="Cambria" pitchFamily="34" charset="-120"/>
              </a:rPr>
              <a:t>Production-readiness review</a:t>
            </a:r>
            <a:endParaRPr lang="en-US" sz="1250" dirty="0"/>
          </a:p>
        </p:txBody>
      </p:sp>
      <p:sp>
        <p:nvSpPr>
          <p:cNvPr id="44" name="Text 34"/>
          <p:cNvSpPr/>
          <p:nvPr/>
        </p:nvSpPr>
        <p:spPr>
          <a:xfrm>
            <a:off x="7086600" y="5340096"/>
            <a:ext cx="4389120" cy="548640"/>
          </a:xfrm>
          <a:prstGeom prst="rect">
            <a:avLst/>
          </a:prstGeom>
          <a:noFill/>
          <a:ln/>
        </p:spPr>
        <p:txBody>
          <a:bodyPr wrap="square" lIns="0" tIns="0" rIns="0" bIns="0" rtlCol="0" anchor="ctr"/>
          <a:lstStyle/>
          <a:p>
            <a:pPr indent="0" marL="0">
              <a:lnSpc>
                <a:spcPct val="95000"/>
              </a:lnSpc>
              <a:buNone/>
            </a:pPr>
            <a:r>
              <a:rPr lang="en-US" sz="970" dirty="0">
                <a:solidFill>
                  <a:srgbClr val="33384F"/>
                </a:solidFill>
                <a:latin typeface="Calibri" pitchFamily="34" charset="0"/>
                <a:ea typeface="Calibri" pitchFamily="34" charset="-122"/>
                <a:cs typeface="Calibri" pitchFamily="34" charset="-120"/>
              </a:rPr>
              <a:t>Full security &amp; privacy review, IdP integration tested, and customer acceptance sign-off.</a:t>
            </a:r>
            <a:endParaRPr lang="en-US" sz="970" dirty="0"/>
          </a:p>
        </p:txBody>
      </p:sp>
      <p:sp>
        <p:nvSpPr>
          <p:cNvPr id="45" name="Text 35"/>
          <p:cNvSpPr/>
          <p:nvPr/>
        </p:nvSpPr>
        <p:spPr>
          <a:xfrm>
            <a:off x="548640" y="6528816"/>
            <a:ext cx="11064240" cy="256032"/>
          </a:xfrm>
          <a:prstGeom prst="rect">
            <a:avLst/>
          </a:prstGeom>
          <a:noFill/>
          <a:ln/>
        </p:spPr>
        <p:txBody>
          <a:bodyPr wrap="square" lIns="0" tIns="0" rIns="0" bIns="0" rtlCol="0" anchor="ctr"/>
          <a:lstStyle/>
          <a:p>
            <a:pPr indent="0" marL="0">
              <a:buNone/>
            </a:pPr>
            <a:r>
              <a:rPr lang="en-US" sz="850" dirty="0">
                <a:solidFill>
                  <a:srgbClr val="5A6485"/>
                </a:solidFill>
                <a:latin typeface="Calibri" pitchFamily="34" charset="0"/>
                <a:ea typeface="Calibri" pitchFamily="34" charset="-122"/>
                <a:cs typeface="Calibri" pitchFamily="34" charset="-120"/>
              </a:rPr>
              <a:t>EDU AI Agent Suite  ·  Infrastructure &amp; Adoption Review  ·  Governed accelerator, not a turnkey certified product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C"/>
        </a:solidFill>
      </p:bgPr>
    </p:bg>
    <p:spTree>
      <p:nvGrpSpPr>
        <p:cNvPr id="1" name=""/>
        <p:cNvGrpSpPr/>
        <p:nvPr/>
      </p:nvGrpSpPr>
      <p:grpSpPr>
        <a:xfrm>
          <a:off x="0" y="0"/>
          <a:ext cx="0" cy="0"/>
          <a:chOff x="0" y="0"/>
          <a:chExt cx="0" cy="0"/>
        </a:xfrm>
      </p:grpSpPr>
      <p:sp>
        <p:nvSpPr>
          <p:cNvPr id="2" name="Text 0"/>
          <p:cNvSpPr/>
          <p:nvPr/>
        </p:nvSpPr>
        <p:spPr>
          <a:xfrm>
            <a:off x="548640" y="310896"/>
            <a:ext cx="9601200" cy="274320"/>
          </a:xfrm>
          <a:prstGeom prst="rect">
            <a:avLst/>
          </a:prstGeom>
          <a:noFill/>
          <a:ln/>
        </p:spPr>
        <p:txBody>
          <a:bodyPr wrap="square" lIns="0" tIns="0" rIns="0" bIns="0"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RECOMMENDED ADOPTION PATH</a:t>
            </a:r>
            <a:endParaRPr lang="en-US" sz="1200" dirty="0"/>
          </a:p>
        </p:txBody>
      </p:sp>
      <p:sp>
        <p:nvSpPr>
          <p:cNvPr id="3" name="Text 1"/>
          <p:cNvSpPr/>
          <p:nvPr/>
        </p:nvSpPr>
        <p:spPr>
          <a:xfrm>
            <a:off x="548640" y="566928"/>
            <a:ext cx="10424160" cy="640080"/>
          </a:xfrm>
          <a:prstGeom prst="rect">
            <a:avLst/>
          </a:prstGeom>
          <a:noFill/>
          <a:ln/>
        </p:spPr>
        <p:txBody>
          <a:bodyPr wrap="square" lIns="0" tIns="0" rIns="0" bIns="0" rtlCol="0" anchor="ctr"/>
          <a:lstStyle/>
          <a:p>
            <a:pPr indent="0" marL="0">
              <a:buNone/>
            </a:pPr>
            <a:r>
              <a:rPr lang="en-US" sz="2700" b="1" dirty="0">
                <a:solidFill>
                  <a:srgbClr val="1E2761"/>
                </a:solidFill>
                <a:latin typeface="Cambria" pitchFamily="34" charset="0"/>
                <a:ea typeface="Cambria" pitchFamily="34" charset="-122"/>
                <a:cs typeface="Cambria" pitchFamily="34" charset="-120"/>
              </a:rPr>
              <a:t>Land low-risk, prove the controls, then expand</a:t>
            </a:r>
            <a:endParaRPr lang="en-US" sz="2700" dirty="0"/>
          </a:p>
        </p:txBody>
      </p:sp>
      <p:sp>
        <p:nvSpPr>
          <p:cNvPr id="4" name="Text 2"/>
          <p:cNvSpPr/>
          <p:nvPr/>
        </p:nvSpPr>
        <p:spPr>
          <a:xfrm>
            <a:off x="11350447" y="310896"/>
            <a:ext cx="457200" cy="310896"/>
          </a:xfrm>
          <a:prstGeom prst="rect">
            <a:avLst/>
          </a:prstGeom>
          <a:noFill/>
          <a:ln/>
        </p:spPr>
        <p:txBody>
          <a:bodyPr wrap="square" lIns="0" tIns="0" rIns="0" bIns="0" rtlCol="0" anchor="ctr"/>
          <a:lstStyle/>
          <a:p>
            <a:pPr algn="ctr" indent="0" marL="0">
              <a:buNone/>
            </a:pPr>
            <a:r>
              <a:rPr lang="en-US" sz="1200" b="1" dirty="0">
                <a:solidFill>
                  <a:srgbClr val="5A6485"/>
                </a:solidFill>
                <a:latin typeface="Calibri" pitchFamily="34" charset="0"/>
                <a:ea typeface="Calibri" pitchFamily="34" charset="-122"/>
                <a:cs typeface="Calibri" pitchFamily="34" charset="-120"/>
              </a:rPr>
              <a:t>11</a:t>
            </a:r>
            <a:endParaRPr lang="en-US" sz="1200" dirty="0"/>
          </a:p>
        </p:txBody>
      </p:sp>
      <p:sp>
        <p:nvSpPr>
          <p:cNvPr id="5" name="Shape 3"/>
          <p:cNvSpPr/>
          <p:nvPr/>
        </p:nvSpPr>
        <p:spPr>
          <a:xfrm>
            <a:off x="548640" y="1463040"/>
            <a:ext cx="3593592" cy="3246120"/>
          </a:xfrm>
          <a:prstGeom prst="roundRect">
            <a:avLst>
              <a:gd name="adj" fmla="val 2817"/>
            </a:avLst>
          </a:prstGeom>
          <a:solidFill>
            <a:srgbClr val="FFFFFF"/>
          </a:solidFill>
          <a:ln w="19050">
            <a:solidFill>
              <a:srgbClr val="00A896"/>
            </a:solidFill>
            <a:prstDash val="solid"/>
          </a:ln>
          <a:effectLst>
            <a:outerShdw sx="100000" sy="100000" kx="0" ky="0" algn="bl" rotWithShape="0" blurRad="63500" dist="25400" dir="5400000">
              <a:srgbClr val="000000">
                <a:alpha val="10000"/>
              </a:srgbClr>
            </a:outerShdw>
          </a:effectLst>
        </p:spPr>
      </p:sp>
      <p:sp>
        <p:nvSpPr>
          <p:cNvPr id="6" name="Shape 4"/>
          <p:cNvSpPr/>
          <p:nvPr/>
        </p:nvSpPr>
        <p:spPr>
          <a:xfrm>
            <a:off x="822960" y="1737360"/>
            <a:ext cx="713232" cy="713232"/>
          </a:xfrm>
          <a:prstGeom prst="ellipse">
            <a:avLst/>
          </a:prstGeom>
          <a:solidFill>
            <a:srgbClr val="00A896"/>
          </a:solidFill>
          <a:ln/>
        </p:spPr>
      </p:sp>
      <p:sp>
        <p:nvSpPr>
          <p:cNvPr id="7" name="Text 5"/>
          <p:cNvSpPr/>
          <p:nvPr/>
        </p:nvSpPr>
        <p:spPr>
          <a:xfrm>
            <a:off x="822960" y="1737360"/>
            <a:ext cx="713232" cy="713232"/>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1</a:t>
            </a:r>
            <a:endParaRPr lang="en-US" sz="3000" dirty="0"/>
          </a:p>
        </p:txBody>
      </p:sp>
      <p:sp>
        <p:nvSpPr>
          <p:cNvPr id="8" name="Text 6"/>
          <p:cNvSpPr/>
          <p:nvPr/>
        </p:nvSpPr>
        <p:spPr>
          <a:xfrm>
            <a:off x="1664208" y="1764792"/>
            <a:ext cx="2313432" cy="365760"/>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Pilot — land here</a:t>
            </a:r>
            <a:endParaRPr lang="en-US" sz="1650" dirty="0"/>
          </a:p>
        </p:txBody>
      </p:sp>
      <p:sp>
        <p:nvSpPr>
          <p:cNvPr id="9" name="Text 7"/>
          <p:cNvSpPr/>
          <p:nvPr/>
        </p:nvSpPr>
        <p:spPr>
          <a:xfrm>
            <a:off x="1664208" y="2121408"/>
            <a:ext cx="2313432" cy="329184"/>
          </a:xfrm>
          <a:prstGeom prst="rect">
            <a:avLst/>
          </a:prstGeom>
          <a:noFill/>
          <a:ln/>
        </p:spPr>
        <p:txBody>
          <a:bodyPr wrap="square" lIns="0" tIns="0" rIns="0" bIns="0" rtlCol="0" anchor="ctr"/>
          <a:lstStyle/>
          <a:p>
            <a:pPr indent="0" marL="0">
              <a:buNone/>
            </a:pPr>
            <a:r>
              <a:rPr lang="en-US" sz="1050" i="1" dirty="0">
                <a:solidFill>
                  <a:srgbClr val="00A896"/>
                </a:solidFill>
                <a:latin typeface="Calibri" pitchFamily="34" charset="0"/>
                <a:ea typeface="Calibri" pitchFamily="34" charset="-122"/>
                <a:cs typeface="Calibri" pitchFamily="34" charset="-120"/>
              </a:rPr>
              <a:t>Lowest decision-risk, highest visibility</a:t>
            </a:r>
            <a:endParaRPr lang="en-US" sz="1050" dirty="0"/>
          </a:p>
        </p:txBody>
      </p:sp>
      <p:sp>
        <p:nvSpPr>
          <p:cNvPr id="10" name="Text 8"/>
          <p:cNvSpPr/>
          <p:nvPr/>
        </p:nvSpPr>
        <p:spPr>
          <a:xfrm>
            <a:off x="822960" y="2670048"/>
            <a:ext cx="3044952" cy="219456"/>
          </a:xfrm>
          <a:prstGeom prst="rect">
            <a:avLst/>
          </a:prstGeom>
          <a:noFill/>
          <a:ln/>
        </p:spPr>
        <p:txBody>
          <a:bodyPr wrap="square" lIns="0" tIns="0" rIns="0" bIns="0" rtlCol="0" anchor="ctr"/>
          <a:lstStyle/>
          <a:p>
            <a:pPr indent="0" marL="0">
              <a:buNone/>
            </a:pPr>
            <a:r>
              <a:rPr lang="en-US" sz="850" b="1" spc="150" kern="0" dirty="0">
                <a:solidFill>
                  <a:srgbClr val="5A6485"/>
                </a:solidFill>
                <a:latin typeface="Calibri" pitchFamily="34" charset="0"/>
                <a:ea typeface="Calibri" pitchFamily="34" charset="-122"/>
                <a:cs typeface="Calibri" pitchFamily="34" charset="-120"/>
              </a:rPr>
              <a:t>AGENTS</a:t>
            </a:r>
            <a:endParaRPr lang="en-US" sz="850" dirty="0"/>
          </a:p>
        </p:txBody>
      </p:sp>
      <p:sp>
        <p:nvSpPr>
          <p:cNvPr id="11" name="Text 9"/>
          <p:cNvSpPr/>
          <p:nvPr/>
        </p:nvSpPr>
        <p:spPr>
          <a:xfrm>
            <a:off x="822960" y="2889504"/>
            <a:ext cx="3044952" cy="777240"/>
          </a:xfrm>
          <a:prstGeom prst="rect">
            <a:avLst/>
          </a:prstGeom>
          <a:noFill/>
          <a:ln/>
        </p:spPr>
        <p:txBody>
          <a:bodyPr wrap="square" lIns="0" tIns="0" rIns="0" bIns="0" rtlCol="0" anchor="ctr"/>
          <a:lstStyle/>
          <a:p>
            <a:pPr indent="0" marL="0">
              <a:lnSpc>
                <a:spcPct val="100000"/>
              </a:lnSpc>
              <a:buNone/>
            </a:pPr>
            <a:r>
              <a:rPr lang="en-US" sz="1100" b="1" dirty="0">
                <a:solidFill>
                  <a:srgbClr val="1E2761"/>
                </a:solidFill>
                <a:latin typeface="Calibri" pitchFamily="34" charset="0"/>
                <a:ea typeface="Calibri" pitchFamily="34" charset="-122"/>
                <a:cs typeface="Calibri" pitchFamily="34" charset="-120"/>
              </a:rPr>
              <a:t>01 Concierge · 03 Educator Copilot · 07 Document &amp; Accessibility · 08 Service Desk</a:t>
            </a:r>
            <a:endParaRPr lang="en-US" sz="1100" dirty="0"/>
          </a:p>
        </p:txBody>
      </p:sp>
      <p:sp>
        <p:nvSpPr>
          <p:cNvPr id="12" name="Text 10"/>
          <p:cNvSpPr/>
          <p:nvPr/>
        </p:nvSpPr>
        <p:spPr>
          <a:xfrm>
            <a:off x="822960" y="3657600"/>
            <a:ext cx="3044952" cy="219456"/>
          </a:xfrm>
          <a:prstGeom prst="rect">
            <a:avLst/>
          </a:prstGeom>
          <a:noFill/>
          <a:ln/>
        </p:spPr>
        <p:txBody>
          <a:bodyPr wrap="square" lIns="0" tIns="0" rIns="0" bIns="0" rtlCol="0" anchor="ctr"/>
          <a:lstStyle/>
          <a:p>
            <a:pPr indent="0" marL="0">
              <a:buNone/>
            </a:pPr>
            <a:r>
              <a:rPr lang="en-US" sz="850" b="1" spc="150" kern="0" dirty="0">
                <a:solidFill>
                  <a:srgbClr val="5A6485"/>
                </a:solidFill>
                <a:latin typeface="Calibri" pitchFamily="34" charset="0"/>
                <a:ea typeface="Calibri" pitchFamily="34" charset="-122"/>
                <a:cs typeface="Calibri" pitchFamily="34" charset="-120"/>
              </a:rPr>
              <a:t>GOAL / PHASE GATE</a:t>
            </a:r>
            <a:endParaRPr lang="en-US" sz="850" dirty="0"/>
          </a:p>
        </p:txBody>
      </p:sp>
      <p:sp>
        <p:nvSpPr>
          <p:cNvPr id="13" name="Text 11"/>
          <p:cNvSpPr/>
          <p:nvPr/>
        </p:nvSpPr>
        <p:spPr>
          <a:xfrm>
            <a:off x="822960" y="3877056"/>
            <a:ext cx="3044952" cy="777240"/>
          </a:xfrm>
          <a:prstGeom prst="rect">
            <a:avLst/>
          </a:prstGeom>
          <a:noFill/>
          <a:ln/>
        </p:spPr>
        <p:txBody>
          <a:bodyPr wrap="square" lIns="0" tIns="0" rIns="0" bIns="0" rtlCol="0" anchor="ctr"/>
          <a:lstStyle/>
          <a:p>
            <a:pPr indent="0" marL="0">
              <a:lnSpc>
                <a:spcPct val="100000"/>
              </a:lnSpc>
              <a:buNone/>
            </a:pPr>
            <a:r>
              <a:rPr lang="en-US" sz="1000" dirty="0">
                <a:solidFill>
                  <a:srgbClr val="33384F"/>
                </a:solidFill>
                <a:latin typeface="Calibri" pitchFamily="34" charset="0"/>
                <a:ea typeface="Calibri" pitchFamily="34" charset="-122"/>
                <a:cs typeface="Calibri" pitchFamily="34" charset="-120"/>
              </a:rPr>
              <a:t>Prove the gateway, audit trail, and HITL gate in production on real users. Measure deflection &amp; cycle-time.</a:t>
            </a:r>
            <a:endParaRPr lang="en-US" sz="1000" dirty="0"/>
          </a:p>
        </p:txBody>
      </p:sp>
      <p:sp>
        <p:nvSpPr>
          <p:cNvPr id="14" name="Shape 12"/>
          <p:cNvSpPr/>
          <p:nvPr/>
        </p:nvSpPr>
        <p:spPr>
          <a:xfrm rot="5400000">
            <a:off x="4146804" y="2939796"/>
            <a:ext cx="155448" cy="292608"/>
          </a:xfrm>
          <a:prstGeom prst="rtTriangle">
            <a:avLst/>
          </a:prstGeom>
          <a:solidFill>
            <a:srgbClr val="5A6485"/>
          </a:solidFill>
          <a:ln/>
        </p:spPr>
      </p:sp>
      <p:sp>
        <p:nvSpPr>
          <p:cNvPr id="15" name="Shape 13"/>
          <p:cNvSpPr/>
          <p:nvPr/>
        </p:nvSpPr>
        <p:spPr>
          <a:xfrm>
            <a:off x="4306824" y="1463040"/>
            <a:ext cx="3593592" cy="3246120"/>
          </a:xfrm>
          <a:prstGeom prst="roundRect">
            <a:avLst>
              <a:gd name="adj" fmla="val 2817"/>
            </a:avLst>
          </a:prstGeom>
          <a:solidFill>
            <a:srgbClr val="FFFFFF"/>
          </a:solidFill>
          <a:ln w="19050">
            <a:solidFill>
              <a:srgbClr val="1E2761"/>
            </a:solidFill>
            <a:prstDash val="solid"/>
          </a:ln>
          <a:effectLst>
            <a:outerShdw sx="100000" sy="100000" kx="0" ky="0" algn="bl" rotWithShape="0" blurRad="63500" dist="25400" dir="5400000">
              <a:srgbClr val="000000">
                <a:alpha val="10000"/>
              </a:srgbClr>
            </a:outerShdw>
          </a:effectLst>
        </p:spPr>
      </p:sp>
      <p:sp>
        <p:nvSpPr>
          <p:cNvPr id="16" name="Shape 14"/>
          <p:cNvSpPr/>
          <p:nvPr/>
        </p:nvSpPr>
        <p:spPr>
          <a:xfrm>
            <a:off x="4581144" y="1737360"/>
            <a:ext cx="713232" cy="713232"/>
          </a:xfrm>
          <a:prstGeom prst="ellipse">
            <a:avLst/>
          </a:prstGeom>
          <a:solidFill>
            <a:srgbClr val="1E2761"/>
          </a:solidFill>
          <a:ln/>
        </p:spPr>
      </p:sp>
      <p:sp>
        <p:nvSpPr>
          <p:cNvPr id="17" name="Text 15"/>
          <p:cNvSpPr/>
          <p:nvPr/>
        </p:nvSpPr>
        <p:spPr>
          <a:xfrm>
            <a:off x="4581144" y="1737360"/>
            <a:ext cx="713232" cy="713232"/>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18" name="Text 16"/>
          <p:cNvSpPr/>
          <p:nvPr/>
        </p:nvSpPr>
        <p:spPr>
          <a:xfrm>
            <a:off x="5422392" y="1764792"/>
            <a:ext cx="2313432" cy="365760"/>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Expand — on evidence</a:t>
            </a:r>
            <a:endParaRPr lang="en-US" sz="1650" dirty="0"/>
          </a:p>
        </p:txBody>
      </p:sp>
      <p:sp>
        <p:nvSpPr>
          <p:cNvPr id="19" name="Text 17"/>
          <p:cNvSpPr/>
          <p:nvPr/>
        </p:nvSpPr>
        <p:spPr>
          <a:xfrm>
            <a:off x="5422392" y="2121408"/>
            <a:ext cx="2313432" cy="329184"/>
          </a:xfrm>
          <a:prstGeom prst="rect">
            <a:avLst/>
          </a:prstGeom>
          <a:noFill/>
          <a:ln/>
        </p:spPr>
        <p:txBody>
          <a:bodyPr wrap="square" lIns="0" tIns="0" rIns="0" bIns="0" rtlCol="0" anchor="ctr"/>
          <a:lstStyle/>
          <a:p>
            <a:pPr indent="0" marL="0">
              <a:buNone/>
            </a:pPr>
            <a:r>
              <a:rPr lang="en-US" sz="1050" i="1" dirty="0">
                <a:solidFill>
                  <a:srgbClr val="1E2761"/>
                </a:solidFill>
                <a:latin typeface="Calibri" pitchFamily="34" charset="0"/>
                <a:ea typeface="Calibri" pitchFamily="34" charset="-122"/>
                <a:cs typeface="Calibri" pitchFamily="34" charset="-120"/>
              </a:rPr>
              <a:t>Higher-value, higher-governance</a:t>
            </a:r>
            <a:endParaRPr lang="en-US" sz="1050" dirty="0"/>
          </a:p>
        </p:txBody>
      </p:sp>
      <p:sp>
        <p:nvSpPr>
          <p:cNvPr id="20" name="Text 18"/>
          <p:cNvSpPr/>
          <p:nvPr/>
        </p:nvSpPr>
        <p:spPr>
          <a:xfrm>
            <a:off x="4581144" y="2670048"/>
            <a:ext cx="3044952" cy="219456"/>
          </a:xfrm>
          <a:prstGeom prst="rect">
            <a:avLst/>
          </a:prstGeom>
          <a:noFill/>
          <a:ln/>
        </p:spPr>
        <p:txBody>
          <a:bodyPr wrap="square" lIns="0" tIns="0" rIns="0" bIns="0" rtlCol="0" anchor="ctr"/>
          <a:lstStyle/>
          <a:p>
            <a:pPr indent="0" marL="0">
              <a:buNone/>
            </a:pPr>
            <a:r>
              <a:rPr lang="en-US" sz="850" b="1" spc="150" kern="0" dirty="0">
                <a:solidFill>
                  <a:srgbClr val="5A6485"/>
                </a:solidFill>
                <a:latin typeface="Calibri" pitchFamily="34" charset="0"/>
                <a:ea typeface="Calibri" pitchFamily="34" charset="-122"/>
                <a:cs typeface="Calibri" pitchFamily="34" charset="-120"/>
              </a:rPr>
              <a:t>AGENTS</a:t>
            </a:r>
            <a:endParaRPr lang="en-US" sz="850" dirty="0"/>
          </a:p>
        </p:txBody>
      </p:sp>
      <p:sp>
        <p:nvSpPr>
          <p:cNvPr id="21" name="Text 19"/>
          <p:cNvSpPr/>
          <p:nvPr/>
        </p:nvSpPr>
        <p:spPr>
          <a:xfrm>
            <a:off x="4581144" y="2889504"/>
            <a:ext cx="3044952" cy="777240"/>
          </a:xfrm>
          <a:prstGeom prst="rect">
            <a:avLst/>
          </a:prstGeom>
          <a:noFill/>
          <a:ln/>
        </p:spPr>
        <p:txBody>
          <a:bodyPr wrap="square" lIns="0" tIns="0" rIns="0" bIns="0" rtlCol="0" anchor="ctr"/>
          <a:lstStyle/>
          <a:p>
            <a:pPr indent="0" marL="0">
              <a:lnSpc>
                <a:spcPct val="100000"/>
              </a:lnSpc>
              <a:buNone/>
            </a:pPr>
            <a:r>
              <a:rPr lang="en-US" sz="1100" b="1" dirty="0">
                <a:solidFill>
                  <a:srgbClr val="1E2761"/>
                </a:solidFill>
                <a:latin typeface="Calibri" pitchFamily="34" charset="0"/>
                <a:ea typeface="Calibri" pitchFamily="34" charset="-122"/>
                <a:cs typeface="Calibri" pitchFamily="34" charset="-120"/>
              </a:rPr>
              <a:t>04 Assessment · 05 Student Success · 06 Pathway Navigator</a:t>
            </a:r>
            <a:endParaRPr lang="en-US" sz="1100" dirty="0"/>
          </a:p>
        </p:txBody>
      </p:sp>
      <p:sp>
        <p:nvSpPr>
          <p:cNvPr id="22" name="Text 20"/>
          <p:cNvSpPr/>
          <p:nvPr/>
        </p:nvSpPr>
        <p:spPr>
          <a:xfrm>
            <a:off x="4581144" y="3657600"/>
            <a:ext cx="3044952" cy="219456"/>
          </a:xfrm>
          <a:prstGeom prst="rect">
            <a:avLst/>
          </a:prstGeom>
          <a:noFill/>
          <a:ln/>
        </p:spPr>
        <p:txBody>
          <a:bodyPr wrap="square" lIns="0" tIns="0" rIns="0" bIns="0" rtlCol="0" anchor="ctr"/>
          <a:lstStyle/>
          <a:p>
            <a:pPr indent="0" marL="0">
              <a:buNone/>
            </a:pPr>
            <a:r>
              <a:rPr lang="en-US" sz="850" b="1" spc="150" kern="0" dirty="0">
                <a:solidFill>
                  <a:srgbClr val="5A6485"/>
                </a:solidFill>
                <a:latin typeface="Calibri" pitchFamily="34" charset="0"/>
                <a:ea typeface="Calibri" pitchFamily="34" charset="-122"/>
                <a:cs typeface="Calibri" pitchFamily="34" charset="-120"/>
              </a:rPr>
              <a:t>GOAL / PHASE GATE</a:t>
            </a:r>
            <a:endParaRPr lang="en-US" sz="850" dirty="0"/>
          </a:p>
        </p:txBody>
      </p:sp>
      <p:sp>
        <p:nvSpPr>
          <p:cNvPr id="23" name="Text 21"/>
          <p:cNvSpPr/>
          <p:nvPr/>
        </p:nvSpPr>
        <p:spPr>
          <a:xfrm>
            <a:off x="4581144" y="3877056"/>
            <a:ext cx="3044952" cy="777240"/>
          </a:xfrm>
          <a:prstGeom prst="rect">
            <a:avLst/>
          </a:prstGeom>
          <a:noFill/>
          <a:ln/>
        </p:spPr>
        <p:txBody>
          <a:bodyPr wrap="square" lIns="0" tIns="0" rIns="0" bIns="0" rtlCol="0" anchor="ctr"/>
          <a:lstStyle/>
          <a:p>
            <a:pPr indent="0" marL="0">
              <a:lnSpc>
                <a:spcPct val="100000"/>
              </a:lnSpc>
              <a:buNone/>
            </a:pPr>
            <a:r>
              <a:rPr lang="en-US" sz="1000" dirty="0">
                <a:solidFill>
                  <a:srgbClr val="33384F"/>
                </a:solidFill>
                <a:latin typeface="Calibri" pitchFamily="34" charset="0"/>
                <a:ea typeface="Calibri" pitchFamily="34" charset="-122"/>
                <a:cs typeface="Calibri" pitchFamily="34" charset="-120"/>
              </a:rPr>
              <a:t>Add agents that touch learning &amp; outcomes — only after stronger eval, bias testing, and evidence retention are proven.</a:t>
            </a:r>
            <a:endParaRPr lang="en-US" sz="1000" dirty="0"/>
          </a:p>
        </p:txBody>
      </p:sp>
      <p:sp>
        <p:nvSpPr>
          <p:cNvPr id="24" name="Shape 22"/>
          <p:cNvSpPr/>
          <p:nvPr/>
        </p:nvSpPr>
        <p:spPr>
          <a:xfrm rot="5400000">
            <a:off x="7904988" y="2939796"/>
            <a:ext cx="155448" cy="292608"/>
          </a:xfrm>
          <a:prstGeom prst="rtTriangle">
            <a:avLst/>
          </a:prstGeom>
          <a:solidFill>
            <a:srgbClr val="5A6485"/>
          </a:solidFill>
          <a:ln/>
        </p:spPr>
      </p:sp>
      <p:sp>
        <p:nvSpPr>
          <p:cNvPr id="25" name="Shape 23"/>
          <p:cNvSpPr/>
          <p:nvPr/>
        </p:nvSpPr>
        <p:spPr>
          <a:xfrm>
            <a:off x="8065008" y="1463040"/>
            <a:ext cx="3593592" cy="3246120"/>
          </a:xfrm>
          <a:prstGeom prst="roundRect">
            <a:avLst>
              <a:gd name="adj" fmla="val 2817"/>
            </a:avLst>
          </a:prstGeom>
          <a:solidFill>
            <a:srgbClr val="FFFFFF"/>
          </a:solidFill>
          <a:ln w="19050">
            <a:solidFill>
              <a:srgbClr val="E8A33D"/>
            </a:solidFill>
            <a:prstDash val="solid"/>
          </a:ln>
          <a:effectLst>
            <a:outerShdw sx="100000" sy="100000" kx="0" ky="0" algn="bl" rotWithShape="0" blurRad="63500" dist="25400" dir="5400000">
              <a:srgbClr val="000000">
                <a:alpha val="10000"/>
              </a:srgbClr>
            </a:outerShdw>
          </a:effectLst>
        </p:spPr>
      </p:sp>
      <p:sp>
        <p:nvSpPr>
          <p:cNvPr id="26" name="Shape 24"/>
          <p:cNvSpPr/>
          <p:nvPr/>
        </p:nvSpPr>
        <p:spPr>
          <a:xfrm>
            <a:off x="8339328" y="1737360"/>
            <a:ext cx="713232" cy="713232"/>
          </a:xfrm>
          <a:prstGeom prst="ellipse">
            <a:avLst/>
          </a:prstGeom>
          <a:solidFill>
            <a:srgbClr val="E8A33D"/>
          </a:solidFill>
          <a:ln/>
        </p:spPr>
      </p:sp>
      <p:sp>
        <p:nvSpPr>
          <p:cNvPr id="27" name="Text 25"/>
          <p:cNvSpPr/>
          <p:nvPr/>
        </p:nvSpPr>
        <p:spPr>
          <a:xfrm>
            <a:off x="8339328" y="1737360"/>
            <a:ext cx="713232" cy="713232"/>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3</a:t>
            </a:r>
            <a:endParaRPr lang="en-US" sz="3000" dirty="0"/>
          </a:p>
        </p:txBody>
      </p:sp>
      <p:sp>
        <p:nvSpPr>
          <p:cNvPr id="28" name="Text 26"/>
          <p:cNvSpPr/>
          <p:nvPr/>
        </p:nvSpPr>
        <p:spPr>
          <a:xfrm>
            <a:off x="9180576" y="1764792"/>
            <a:ext cx="2313432" cy="365760"/>
          </a:xfrm>
          <a:prstGeom prst="rect">
            <a:avLst/>
          </a:prstGeom>
          <a:noFill/>
          <a:ln/>
        </p:spPr>
        <p:txBody>
          <a:bodyPr wrap="square" lIns="0" tIns="0" rIns="0" bIns="0" rtlCol="0" anchor="ctr"/>
          <a:lstStyle/>
          <a:p>
            <a:pPr indent="0" marL="0">
              <a:buNone/>
            </a:pPr>
            <a:r>
              <a:rPr lang="en-US" sz="1650" b="1" dirty="0">
                <a:solidFill>
                  <a:srgbClr val="1E2761"/>
                </a:solidFill>
                <a:latin typeface="Cambria" pitchFamily="34" charset="0"/>
                <a:ea typeface="Cambria" pitchFamily="34" charset="-122"/>
                <a:cs typeface="Cambria" pitchFamily="34" charset="-120"/>
              </a:rPr>
              <a:t>Operate — at scale</a:t>
            </a:r>
            <a:endParaRPr lang="en-US" sz="1650" dirty="0"/>
          </a:p>
        </p:txBody>
      </p:sp>
      <p:sp>
        <p:nvSpPr>
          <p:cNvPr id="29" name="Text 27"/>
          <p:cNvSpPr/>
          <p:nvPr/>
        </p:nvSpPr>
        <p:spPr>
          <a:xfrm>
            <a:off x="9180576" y="2121408"/>
            <a:ext cx="2313432" cy="329184"/>
          </a:xfrm>
          <a:prstGeom prst="rect">
            <a:avLst/>
          </a:prstGeom>
          <a:noFill/>
          <a:ln/>
        </p:spPr>
        <p:txBody>
          <a:bodyPr wrap="square" lIns="0" tIns="0" rIns="0" bIns="0" rtlCol="0" anchor="ctr"/>
          <a:lstStyle/>
          <a:p>
            <a:pPr indent="0" marL="0">
              <a:buNone/>
            </a:pPr>
            <a:r>
              <a:rPr lang="en-US" sz="1050" i="1" dirty="0">
                <a:solidFill>
                  <a:srgbClr val="E8A33D"/>
                </a:solidFill>
                <a:latin typeface="Calibri" pitchFamily="34" charset="0"/>
                <a:ea typeface="Calibri" pitchFamily="34" charset="-122"/>
                <a:cs typeface="Calibri" pitchFamily="34" charset="-120"/>
              </a:rPr>
              <a:t>Managed service &amp; continuous assurance</a:t>
            </a:r>
            <a:endParaRPr lang="en-US" sz="1050" dirty="0"/>
          </a:p>
        </p:txBody>
      </p:sp>
      <p:sp>
        <p:nvSpPr>
          <p:cNvPr id="30" name="Text 28"/>
          <p:cNvSpPr/>
          <p:nvPr/>
        </p:nvSpPr>
        <p:spPr>
          <a:xfrm>
            <a:off x="8339328" y="2670048"/>
            <a:ext cx="3044952" cy="219456"/>
          </a:xfrm>
          <a:prstGeom prst="rect">
            <a:avLst/>
          </a:prstGeom>
          <a:noFill/>
          <a:ln/>
        </p:spPr>
        <p:txBody>
          <a:bodyPr wrap="square" lIns="0" tIns="0" rIns="0" bIns="0" rtlCol="0" anchor="ctr"/>
          <a:lstStyle/>
          <a:p>
            <a:pPr indent="0" marL="0">
              <a:buNone/>
            </a:pPr>
            <a:r>
              <a:rPr lang="en-US" sz="850" b="1" spc="150" kern="0" dirty="0">
                <a:solidFill>
                  <a:srgbClr val="5A6485"/>
                </a:solidFill>
                <a:latin typeface="Calibri" pitchFamily="34" charset="0"/>
                <a:ea typeface="Calibri" pitchFamily="34" charset="-122"/>
                <a:cs typeface="Calibri" pitchFamily="34" charset="-120"/>
              </a:rPr>
              <a:t>AGENTS</a:t>
            </a:r>
            <a:endParaRPr lang="en-US" sz="850" dirty="0"/>
          </a:p>
        </p:txBody>
      </p:sp>
      <p:sp>
        <p:nvSpPr>
          <p:cNvPr id="31" name="Text 29"/>
          <p:cNvSpPr/>
          <p:nvPr/>
        </p:nvSpPr>
        <p:spPr>
          <a:xfrm>
            <a:off x="8339328" y="2889504"/>
            <a:ext cx="3044952" cy="777240"/>
          </a:xfrm>
          <a:prstGeom prst="rect">
            <a:avLst/>
          </a:prstGeom>
          <a:noFill/>
          <a:ln/>
        </p:spPr>
        <p:txBody>
          <a:bodyPr wrap="square" lIns="0" tIns="0" rIns="0" bIns="0" rtlCol="0" anchor="ctr"/>
          <a:lstStyle/>
          <a:p>
            <a:pPr indent="0" marL="0">
              <a:lnSpc>
                <a:spcPct val="100000"/>
              </a:lnSpc>
              <a:buNone/>
            </a:pPr>
            <a:r>
              <a:rPr lang="en-US" sz="1100" b="1" dirty="0">
                <a:solidFill>
                  <a:srgbClr val="1E2761"/>
                </a:solidFill>
                <a:latin typeface="Calibri" pitchFamily="34" charset="0"/>
                <a:ea typeface="Calibri" pitchFamily="34" charset="-122"/>
                <a:cs typeface="Calibri" pitchFamily="34" charset="-120"/>
              </a:rPr>
              <a:t>Full suite under change control · model-drift monitoring · annual pen test</a:t>
            </a:r>
            <a:endParaRPr lang="en-US" sz="1100" dirty="0"/>
          </a:p>
        </p:txBody>
      </p:sp>
      <p:sp>
        <p:nvSpPr>
          <p:cNvPr id="32" name="Text 30"/>
          <p:cNvSpPr/>
          <p:nvPr/>
        </p:nvSpPr>
        <p:spPr>
          <a:xfrm>
            <a:off x="8339328" y="3657600"/>
            <a:ext cx="3044952" cy="219456"/>
          </a:xfrm>
          <a:prstGeom prst="rect">
            <a:avLst/>
          </a:prstGeom>
          <a:noFill/>
          <a:ln/>
        </p:spPr>
        <p:txBody>
          <a:bodyPr wrap="square" lIns="0" tIns="0" rIns="0" bIns="0" rtlCol="0" anchor="ctr"/>
          <a:lstStyle/>
          <a:p>
            <a:pPr indent="0" marL="0">
              <a:buNone/>
            </a:pPr>
            <a:r>
              <a:rPr lang="en-US" sz="850" b="1" spc="150" kern="0" dirty="0">
                <a:solidFill>
                  <a:srgbClr val="5A6485"/>
                </a:solidFill>
                <a:latin typeface="Calibri" pitchFamily="34" charset="0"/>
                <a:ea typeface="Calibri" pitchFamily="34" charset="-122"/>
                <a:cs typeface="Calibri" pitchFamily="34" charset="-120"/>
              </a:rPr>
              <a:t>GOAL / PHASE GATE</a:t>
            </a:r>
            <a:endParaRPr lang="en-US" sz="850" dirty="0"/>
          </a:p>
        </p:txBody>
      </p:sp>
      <p:sp>
        <p:nvSpPr>
          <p:cNvPr id="33" name="Text 31"/>
          <p:cNvSpPr/>
          <p:nvPr/>
        </p:nvSpPr>
        <p:spPr>
          <a:xfrm>
            <a:off x="8339328" y="3877056"/>
            <a:ext cx="3044952" cy="777240"/>
          </a:xfrm>
          <a:prstGeom prst="rect">
            <a:avLst/>
          </a:prstGeom>
          <a:noFill/>
          <a:ln/>
        </p:spPr>
        <p:txBody>
          <a:bodyPr wrap="square" lIns="0" tIns="0" rIns="0" bIns="0" rtlCol="0" anchor="ctr"/>
          <a:lstStyle/>
          <a:p>
            <a:pPr indent="0" marL="0">
              <a:lnSpc>
                <a:spcPct val="100000"/>
              </a:lnSpc>
              <a:buNone/>
            </a:pPr>
            <a:r>
              <a:rPr lang="en-US" sz="1000" dirty="0">
                <a:solidFill>
                  <a:srgbClr val="33384F"/>
                </a:solidFill>
                <a:latin typeface="Calibri" pitchFamily="34" charset="0"/>
                <a:ea typeface="Calibri" pitchFamily="34" charset="-122"/>
                <a:cs typeface="Calibri" pitchFamily="34" charset="-120"/>
              </a:rPr>
              <a:t>Steady-state operations with named reviewers, alarms, and a production-readiness review behind each promotion.</a:t>
            </a:r>
            <a:endParaRPr lang="en-US" sz="1000" dirty="0"/>
          </a:p>
        </p:txBody>
      </p:sp>
      <p:sp>
        <p:nvSpPr>
          <p:cNvPr id="34" name="Shape 32"/>
          <p:cNvSpPr/>
          <p:nvPr/>
        </p:nvSpPr>
        <p:spPr>
          <a:xfrm>
            <a:off x="548640" y="4956048"/>
            <a:ext cx="11091672" cy="1207008"/>
          </a:xfrm>
          <a:prstGeom prst="roundRect">
            <a:avLst>
              <a:gd name="adj" fmla="val 6061"/>
            </a:avLst>
          </a:prstGeom>
          <a:solidFill>
            <a:srgbClr val="1E2761"/>
          </a:solidFill>
          <a:ln/>
        </p:spPr>
      </p:sp>
      <p:sp>
        <p:nvSpPr>
          <p:cNvPr id="35" name="Shape 33"/>
          <p:cNvSpPr/>
          <p:nvPr/>
        </p:nvSpPr>
        <p:spPr>
          <a:xfrm>
            <a:off x="749808" y="5175504"/>
            <a:ext cx="768096" cy="768096"/>
          </a:xfrm>
          <a:prstGeom prst="ellipse">
            <a:avLst/>
          </a:prstGeom>
          <a:solidFill>
            <a:srgbClr val="00A896"/>
          </a:solidFill>
          <a:ln/>
        </p:spPr>
      </p:sp>
      <p:pic>
        <p:nvPicPr>
          <p:cNvPr id="36" name="Image 0" descr="preencoded.png">    </p:cNvPr>
          <p:cNvPicPr>
            <a:picLocks noChangeAspect="1"/>
          </p:cNvPicPr>
          <p:nvPr/>
        </p:nvPicPr>
        <p:blipFill>
          <a:blip r:embed="rId1"/>
          <a:stretch>
            <a:fillRect/>
          </a:stretch>
        </p:blipFill>
        <p:spPr>
          <a:xfrm>
            <a:off x="949513" y="5375209"/>
            <a:ext cx="368686" cy="368686"/>
          </a:xfrm>
          <a:prstGeom prst="rect">
            <a:avLst/>
          </a:prstGeom>
        </p:spPr>
      </p:pic>
      <p:sp>
        <p:nvSpPr>
          <p:cNvPr id="37" name="Text 34"/>
          <p:cNvSpPr/>
          <p:nvPr/>
        </p:nvSpPr>
        <p:spPr>
          <a:xfrm>
            <a:off x="1664208" y="5084064"/>
            <a:ext cx="9829800" cy="960120"/>
          </a:xfrm>
          <a:prstGeom prst="rect">
            <a:avLst/>
          </a:prstGeom>
          <a:noFill/>
          <a:ln/>
        </p:spPr>
        <p:txBody>
          <a:bodyPr wrap="square" lIns="0" tIns="0" rIns="0" bIns="0" rtlCol="0" anchor="ctr"/>
          <a:lstStyle/>
          <a:p>
            <a:pPr indent="0" marL="0">
              <a:lnSpc>
                <a:spcPct val="100000"/>
              </a:lnSpc>
              <a:buNone/>
            </a:pPr>
            <a:r>
              <a:rPr lang="en-US" sz="1300" b="1" dirty="0">
                <a:solidFill>
                  <a:srgbClr val="7FE3D2"/>
                </a:solidFill>
                <a:latin typeface="Calibri" pitchFamily="34" charset="0"/>
                <a:ea typeface="Calibri" pitchFamily="34" charset="-122"/>
                <a:cs typeface="Calibri" pitchFamily="34" charset="-120"/>
              </a:rPr>
              <a:t>Phase gates:  </a:t>
            </a:r>
            <a:pPr indent="0" marL="0">
              <a:lnSpc>
                <a:spcPct val="100000"/>
              </a:lnSpc>
              <a:buNone/>
            </a:pPr>
            <a:r>
              <a:rPr lang="en-US" sz="1200" dirty="0">
                <a:solidFill>
                  <a:srgbClr val="FFFFFF"/>
                </a:solidFill>
                <a:latin typeface="Calibri" pitchFamily="34" charset="0"/>
                <a:ea typeface="Calibri" pitchFamily="34" charset="-122"/>
                <a:cs typeface="Calibri" pitchFamily="34" charset="-120"/>
              </a:rPr>
              <a:t>Each phase advances only when the prior one clears its gate — clean audit trail, HITL gate exercised on real approvals, measured deflection/cycle-time, and a security sign-off. Single best entry point: Agent 01 (Concierge) — most visible, lowest-risk, easiest to measure.</a:t>
            </a:r>
            <a:endParaRPr lang="en-US" sz="1300" dirty="0"/>
          </a:p>
        </p:txBody>
      </p:sp>
      <p:sp>
        <p:nvSpPr>
          <p:cNvPr id="38" name="Text 35"/>
          <p:cNvSpPr/>
          <p:nvPr/>
        </p:nvSpPr>
        <p:spPr>
          <a:xfrm>
            <a:off x="548640" y="6528816"/>
            <a:ext cx="11064240" cy="256032"/>
          </a:xfrm>
          <a:prstGeom prst="rect">
            <a:avLst/>
          </a:prstGeom>
          <a:noFill/>
          <a:ln/>
        </p:spPr>
        <p:txBody>
          <a:bodyPr wrap="square" lIns="0" tIns="0" rIns="0" bIns="0" rtlCol="0" anchor="ctr"/>
          <a:lstStyle/>
          <a:p>
            <a:pPr indent="0" marL="0">
              <a:buNone/>
            </a:pPr>
            <a:r>
              <a:rPr lang="en-US" sz="850" dirty="0">
                <a:solidFill>
                  <a:srgbClr val="5A6485"/>
                </a:solidFill>
                <a:latin typeface="Calibri" pitchFamily="34" charset="0"/>
                <a:ea typeface="Calibri" pitchFamily="34" charset="-122"/>
                <a:cs typeface="Calibri" pitchFamily="34" charset="-120"/>
              </a:rPr>
              <a:t>EDU AI Agent Suite  ·  Infrastructure &amp; Adoption Review  ·  Governed accelerator, not a turnkey certified product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83A"/>
        </a:solidFill>
      </p:bgPr>
    </p:bg>
    <p:spTree>
      <p:nvGrpSpPr>
        <p:cNvPr id="1" name=""/>
        <p:cNvGrpSpPr/>
        <p:nvPr/>
      </p:nvGrpSpPr>
      <p:grpSpPr>
        <a:xfrm>
          <a:off x="0" y="0"/>
          <a:ext cx="0" cy="0"/>
          <a:chOff x="0" y="0"/>
          <a:chExt cx="0" cy="0"/>
        </a:xfrm>
      </p:grpSpPr>
      <p:sp>
        <p:nvSpPr>
          <p:cNvPr id="2" name="Shape 0"/>
          <p:cNvSpPr/>
          <p:nvPr/>
        </p:nvSpPr>
        <p:spPr>
          <a:xfrm>
            <a:off x="10058400" y="-1097280"/>
            <a:ext cx="3657600" cy="3657600"/>
          </a:xfrm>
          <a:prstGeom prst="ellipse">
            <a:avLst/>
          </a:prstGeom>
          <a:solidFill>
            <a:srgbClr val="232C57"/>
          </a:solidFill>
          <a:ln/>
        </p:spPr>
      </p:sp>
      <p:sp>
        <p:nvSpPr>
          <p:cNvPr id="3" name="Text 1"/>
          <p:cNvSpPr/>
          <p:nvPr/>
        </p:nvSpPr>
        <p:spPr>
          <a:xfrm>
            <a:off x="640080" y="457200"/>
            <a:ext cx="9144000" cy="365760"/>
          </a:xfrm>
          <a:prstGeom prst="rect">
            <a:avLst/>
          </a:prstGeom>
          <a:noFill/>
          <a:ln/>
        </p:spPr>
        <p:txBody>
          <a:bodyPr wrap="square" lIns="0" tIns="0" rIns="0" bIns="0" rtlCol="0" anchor="ctr"/>
          <a:lstStyle/>
          <a:p>
            <a:pPr indent="0" marL="0">
              <a:buNone/>
            </a:pPr>
            <a:r>
              <a:rPr lang="en-US" sz="1300" b="1" spc="200" kern="0" dirty="0">
                <a:solidFill>
                  <a:srgbClr val="00A896"/>
                </a:solidFill>
                <a:latin typeface="Calibri" pitchFamily="34" charset="0"/>
                <a:ea typeface="Calibri" pitchFamily="34" charset="-122"/>
                <a:cs typeface="Calibri" pitchFamily="34" charset="-120"/>
              </a:rPr>
              <a:t>DECISION SUMMARY</a:t>
            </a:r>
            <a:endParaRPr lang="en-US" sz="1300" dirty="0"/>
          </a:p>
        </p:txBody>
      </p:sp>
      <p:sp>
        <p:nvSpPr>
          <p:cNvPr id="4" name="Text 2"/>
          <p:cNvSpPr/>
          <p:nvPr/>
        </p:nvSpPr>
        <p:spPr>
          <a:xfrm>
            <a:off x="640080" y="786384"/>
            <a:ext cx="10972800" cy="64008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Go / no-go criteria</a:t>
            </a:r>
            <a:endParaRPr lang="en-US" sz="2900" dirty="0"/>
          </a:p>
        </p:txBody>
      </p:sp>
      <p:sp>
        <p:nvSpPr>
          <p:cNvPr id="5" name="Shape 3"/>
          <p:cNvSpPr/>
          <p:nvPr/>
        </p:nvSpPr>
        <p:spPr>
          <a:xfrm>
            <a:off x="640080" y="1691640"/>
            <a:ext cx="5349240" cy="3200400"/>
          </a:xfrm>
          <a:prstGeom prst="roundRect">
            <a:avLst>
              <a:gd name="adj" fmla="val 2857"/>
            </a:avLst>
          </a:prstGeom>
          <a:solidFill>
            <a:srgbClr val="232C57"/>
          </a:solidFill>
          <a:ln w="19050">
            <a:solidFill>
              <a:srgbClr val="2E7D5B"/>
            </a:solidFill>
            <a:prstDash val="solid"/>
          </a:ln>
          <a:effectLst>
            <a:outerShdw sx="100000" sy="100000" kx="0" ky="0" algn="bl" rotWithShape="0" blurRad="88900" dist="38100" dir="5400000">
              <a:srgbClr val="000000">
                <a:alpha val="16000"/>
              </a:srgbClr>
            </a:outerShdw>
          </a:effectLst>
        </p:spPr>
      </p:sp>
      <p:sp>
        <p:nvSpPr>
          <p:cNvPr id="6" name="Shape 4"/>
          <p:cNvSpPr/>
          <p:nvPr/>
        </p:nvSpPr>
        <p:spPr>
          <a:xfrm>
            <a:off x="896112" y="1947672"/>
            <a:ext cx="603504" cy="603504"/>
          </a:xfrm>
          <a:prstGeom prst="ellipse">
            <a:avLst/>
          </a:prstGeom>
          <a:solidFill>
            <a:srgbClr val="2E7D5B"/>
          </a:solidFill>
          <a:ln/>
        </p:spPr>
      </p:sp>
      <p:pic>
        <p:nvPicPr>
          <p:cNvPr id="7" name="Image 0" descr="preencoded.png">    </p:cNvPr>
          <p:cNvPicPr>
            <a:picLocks noChangeAspect="1"/>
          </p:cNvPicPr>
          <p:nvPr/>
        </p:nvPicPr>
        <p:blipFill>
          <a:blip r:embed="rId1"/>
          <a:stretch>
            <a:fillRect/>
          </a:stretch>
        </p:blipFill>
        <p:spPr>
          <a:xfrm>
            <a:off x="1053023" y="2104583"/>
            <a:ext cx="289682" cy="289682"/>
          </a:xfrm>
          <a:prstGeom prst="rect">
            <a:avLst/>
          </a:prstGeom>
        </p:spPr>
      </p:pic>
      <p:sp>
        <p:nvSpPr>
          <p:cNvPr id="8" name="Text 5"/>
          <p:cNvSpPr/>
          <p:nvPr/>
        </p:nvSpPr>
        <p:spPr>
          <a:xfrm>
            <a:off x="1609344" y="1984248"/>
            <a:ext cx="4251960" cy="53035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GO if you can commit to…</a:t>
            </a:r>
            <a:endParaRPr lang="en-US" sz="1700" dirty="0"/>
          </a:p>
        </p:txBody>
      </p:sp>
      <p:sp>
        <p:nvSpPr>
          <p:cNvPr id="9" name="Text 6"/>
          <p:cNvSpPr/>
          <p:nvPr/>
        </p:nvSpPr>
        <p:spPr>
          <a:xfrm>
            <a:off x="932688" y="2715768"/>
            <a:ext cx="4800600" cy="2011680"/>
          </a:xfrm>
          <a:prstGeom prst="rect">
            <a:avLst/>
          </a:prstGeom>
          <a:noFill/>
          <a:ln/>
        </p:spPr>
        <p:txBody>
          <a:bodyPr wrap="square" lIns="0" tIns="0" rIns="0" bIns="0" rtlCol="0" anchor="ctr"/>
          <a:lstStyle/>
          <a:p>
            <a:pPr marL="342900" indent="-342900">
              <a:lnSpc>
                <a:spcPct val="100000"/>
              </a:lnSpc>
              <a:spcAft>
                <a:spcPts val="700"/>
              </a:spcAft>
              <a:buSzPct val="100000"/>
              <a:buChar char="•"/>
            </a:pPr>
            <a:r>
              <a:rPr lang="en-US" sz="1200" dirty="0">
                <a:solidFill>
                  <a:srgbClr val="CADCFC"/>
                </a:solidFill>
                <a:latin typeface="Calibri" pitchFamily="34" charset="0"/>
                <a:ea typeface="Calibri" pitchFamily="34" charset="-122"/>
                <a:cs typeface="Calibri" pitchFamily="34" charset="-120"/>
              </a:rPr>
              <a:t>A funded SI-led engagement, not a product purchase</a:t>
            </a:r>
            <a:endParaRPr lang="en-US" sz="1200" dirty="0"/>
          </a:p>
          <a:p>
            <a:pPr marL="342900" indent="-342900">
              <a:lnSpc>
                <a:spcPct val="100000"/>
              </a:lnSpc>
              <a:spcAft>
                <a:spcPts val="700"/>
              </a:spcAft>
              <a:buSzPct val="100000"/>
              <a:buChar char="•"/>
            </a:pPr>
            <a:r>
              <a:rPr lang="en-US" sz="1200" dirty="0">
                <a:solidFill>
                  <a:srgbClr val="CADCFC"/>
                </a:solidFill>
                <a:latin typeface="Calibri" pitchFamily="34" charset="0"/>
                <a:ea typeface="Calibri" pitchFamily="34" charset="-122"/>
                <a:cs typeface="Calibri" pitchFamily="34" charset="-120"/>
              </a:rPr>
              <a:t>Owning the FERPA/COPPA program, IdP, and reviewer roster</a:t>
            </a:r>
            <a:endParaRPr lang="en-US" sz="1200" dirty="0"/>
          </a:p>
          <a:p>
            <a:pPr marL="342900" indent="-342900">
              <a:lnSpc>
                <a:spcPct val="100000"/>
              </a:lnSpc>
              <a:spcAft>
                <a:spcPts val="700"/>
              </a:spcAft>
              <a:buSzPct val="100000"/>
              <a:buChar char="•"/>
            </a:pPr>
            <a:r>
              <a:rPr lang="en-US" sz="1200" dirty="0">
                <a:solidFill>
                  <a:srgbClr val="CADCFC"/>
                </a:solidFill>
                <a:latin typeface="Calibri" pitchFamily="34" charset="0"/>
                <a:ea typeface="Calibri" pitchFamily="34" charset="-122"/>
                <a:cs typeface="Calibri" pitchFamily="34" charset="-120"/>
              </a:rPr>
              <a:t>A pilot scoped to Agents 01 / 03 / 07 / 08 with phase gates</a:t>
            </a:r>
            <a:endParaRPr lang="en-US" sz="1200" dirty="0"/>
          </a:p>
          <a:p>
            <a:pPr marL="342900" indent="-342900">
              <a:lnSpc>
                <a:spcPct val="100000"/>
              </a:lnSpc>
              <a:spcAft>
                <a:spcPts val="700"/>
              </a:spcAft>
              <a:buSzPct val="100000"/>
              <a:buChar char="•"/>
            </a:pPr>
            <a:r>
              <a:rPr lang="en-US" sz="1200" dirty="0">
                <a:solidFill>
                  <a:srgbClr val="CADCFC"/>
                </a:solidFill>
                <a:latin typeface="Calibri" pitchFamily="34" charset="0"/>
                <a:ea typeface="Calibri" pitchFamily="34" charset="-122"/>
                <a:cs typeface="Calibri" pitchFamily="34" charset="-120"/>
              </a:rPr>
              <a:t>Budget for accessibility conformance + a pen test before go-live</a:t>
            </a:r>
            <a:endParaRPr lang="en-US" sz="1200" dirty="0"/>
          </a:p>
          <a:p>
            <a:pPr marL="342900" indent="-342900">
              <a:lnSpc>
                <a:spcPct val="100000"/>
              </a:lnSpc>
              <a:spcAft>
                <a:spcPts val="700"/>
              </a:spcAft>
              <a:buSzPct val="100000"/>
              <a:buChar char="•"/>
            </a:pPr>
            <a:r>
              <a:rPr lang="en-US" sz="1200" dirty="0">
                <a:solidFill>
                  <a:srgbClr val="CADCFC"/>
                </a:solidFill>
                <a:latin typeface="Calibri" pitchFamily="34" charset="0"/>
                <a:ea typeface="Calibri" pitchFamily="34" charset="-122"/>
                <a:cs typeface="Calibri" pitchFamily="34" charset="-120"/>
              </a:rPr>
              <a:t>Validating Bedrock cost &amp; accuracy against your own data</a:t>
            </a:r>
            <a:endParaRPr lang="en-US" sz="1200" dirty="0"/>
          </a:p>
        </p:txBody>
      </p:sp>
      <p:sp>
        <p:nvSpPr>
          <p:cNvPr id="10" name="Shape 7"/>
          <p:cNvSpPr/>
          <p:nvPr/>
        </p:nvSpPr>
        <p:spPr>
          <a:xfrm>
            <a:off x="6291072" y="1691640"/>
            <a:ext cx="5349240" cy="3200400"/>
          </a:xfrm>
          <a:prstGeom prst="roundRect">
            <a:avLst>
              <a:gd name="adj" fmla="val 2857"/>
            </a:avLst>
          </a:prstGeom>
          <a:solidFill>
            <a:srgbClr val="232C57"/>
          </a:solidFill>
          <a:ln w="19050">
            <a:solidFill>
              <a:srgbClr val="C2543B"/>
            </a:solidFill>
            <a:prstDash val="solid"/>
          </a:ln>
          <a:effectLst>
            <a:outerShdw sx="100000" sy="100000" kx="0" ky="0" algn="bl" rotWithShape="0" blurRad="88900" dist="38100" dir="5400000">
              <a:srgbClr val="000000">
                <a:alpha val="16000"/>
              </a:srgbClr>
            </a:outerShdw>
          </a:effectLst>
        </p:spPr>
      </p:sp>
      <p:sp>
        <p:nvSpPr>
          <p:cNvPr id="11" name="Shape 8"/>
          <p:cNvSpPr/>
          <p:nvPr/>
        </p:nvSpPr>
        <p:spPr>
          <a:xfrm>
            <a:off x="6547104" y="1947672"/>
            <a:ext cx="603504" cy="603504"/>
          </a:xfrm>
          <a:prstGeom prst="ellipse">
            <a:avLst/>
          </a:prstGeom>
          <a:solidFill>
            <a:srgbClr val="C2543B"/>
          </a:solidFill>
          <a:ln/>
        </p:spPr>
      </p:sp>
      <p:pic>
        <p:nvPicPr>
          <p:cNvPr id="12" name="Image 1" descr="preencoded.png">    </p:cNvPr>
          <p:cNvPicPr>
            <a:picLocks noChangeAspect="1"/>
          </p:cNvPicPr>
          <p:nvPr/>
        </p:nvPicPr>
        <p:blipFill>
          <a:blip r:embed="rId2"/>
          <a:stretch>
            <a:fillRect/>
          </a:stretch>
        </p:blipFill>
        <p:spPr>
          <a:xfrm>
            <a:off x="6704015" y="2104583"/>
            <a:ext cx="289682" cy="289682"/>
          </a:xfrm>
          <a:prstGeom prst="rect">
            <a:avLst/>
          </a:prstGeom>
        </p:spPr>
      </p:pic>
      <p:sp>
        <p:nvSpPr>
          <p:cNvPr id="13" name="Text 9"/>
          <p:cNvSpPr/>
          <p:nvPr/>
        </p:nvSpPr>
        <p:spPr>
          <a:xfrm>
            <a:off x="7260336" y="1984248"/>
            <a:ext cx="4251960" cy="53035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NO-GO / wait if…</a:t>
            </a:r>
            <a:endParaRPr lang="en-US" sz="1700" dirty="0"/>
          </a:p>
        </p:txBody>
      </p:sp>
      <p:sp>
        <p:nvSpPr>
          <p:cNvPr id="14" name="Text 10"/>
          <p:cNvSpPr/>
          <p:nvPr/>
        </p:nvSpPr>
        <p:spPr>
          <a:xfrm>
            <a:off x="6583680" y="2715768"/>
            <a:ext cx="4800600" cy="2011680"/>
          </a:xfrm>
          <a:prstGeom prst="rect">
            <a:avLst/>
          </a:prstGeom>
          <a:noFill/>
          <a:ln/>
        </p:spPr>
        <p:txBody>
          <a:bodyPr wrap="square" lIns="0" tIns="0" rIns="0" bIns="0" rtlCol="0" anchor="ctr"/>
          <a:lstStyle/>
          <a:p>
            <a:pPr marL="342900" indent="-342900">
              <a:lnSpc>
                <a:spcPct val="100000"/>
              </a:lnSpc>
              <a:spcAft>
                <a:spcPts val="700"/>
              </a:spcAft>
              <a:buSzPct val="100000"/>
              <a:buChar char="•"/>
            </a:pPr>
            <a:r>
              <a:rPr lang="en-US" sz="1200" dirty="0">
                <a:solidFill>
                  <a:srgbClr val="CADCFC"/>
                </a:solidFill>
                <a:latin typeface="Calibri" pitchFamily="34" charset="0"/>
                <a:ea typeface="Calibri" pitchFamily="34" charset="-122"/>
                <a:cs typeface="Calibri" pitchFamily="34" charset="-120"/>
              </a:rPr>
              <a:t>You need a certified, turnkey product to switch on now</a:t>
            </a:r>
            <a:endParaRPr lang="en-US" sz="1200" dirty="0"/>
          </a:p>
          <a:p>
            <a:pPr marL="342900" indent="-342900">
              <a:lnSpc>
                <a:spcPct val="100000"/>
              </a:lnSpc>
              <a:spcAft>
                <a:spcPts val="700"/>
              </a:spcAft>
              <a:buSzPct val="100000"/>
              <a:buChar char="•"/>
            </a:pPr>
            <a:r>
              <a:rPr lang="en-US" sz="1200" dirty="0">
                <a:solidFill>
                  <a:srgbClr val="CADCFC"/>
                </a:solidFill>
                <a:latin typeface="Calibri" pitchFamily="34" charset="0"/>
                <a:ea typeface="Calibri" pitchFamily="34" charset="-122"/>
                <a:cs typeface="Calibri" pitchFamily="34" charset="-120"/>
              </a:rPr>
              <a:t>There is no budget or partner for SI delivery &amp; maintenance</a:t>
            </a:r>
            <a:endParaRPr lang="en-US" sz="1200" dirty="0"/>
          </a:p>
          <a:p>
            <a:pPr marL="342900" indent="-342900">
              <a:lnSpc>
                <a:spcPct val="100000"/>
              </a:lnSpc>
              <a:spcAft>
                <a:spcPts val="700"/>
              </a:spcAft>
              <a:buSzPct val="100000"/>
              <a:buChar char="•"/>
            </a:pPr>
            <a:r>
              <a:rPr lang="en-US" sz="1200" dirty="0">
                <a:solidFill>
                  <a:srgbClr val="CADCFC"/>
                </a:solidFill>
                <a:latin typeface="Calibri" pitchFamily="34" charset="0"/>
                <a:ea typeface="Calibri" pitchFamily="34" charset="-122"/>
                <a:cs typeface="Calibri" pitchFamily="34" charset="-120"/>
              </a:rPr>
              <a:t>Your IdP cannot express guardian / age-of-majority and there is no plan to fix it</a:t>
            </a:r>
            <a:endParaRPr lang="en-US" sz="1200" dirty="0"/>
          </a:p>
          <a:p>
            <a:pPr marL="342900" indent="-342900">
              <a:lnSpc>
                <a:spcPct val="100000"/>
              </a:lnSpc>
              <a:spcAft>
                <a:spcPts val="700"/>
              </a:spcAft>
              <a:buSzPct val="100000"/>
              <a:buChar char="•"/>
            </a:pPr>
            <a:r>
              <a:rPr lang="en-US" sz="1200" dirty="0">
                <a:solidFill>
                  <a:srgbClr val="CADCFC"/>
                </a:solidFill>
                <a:latin typeface="Calibri" pitchFamily="34" charset="0"/>
                <a:ea typeface="Calibri" pitchFamily="34" charset="-122"/>
                <a:cs typeface="Calibri" pitchFamily="34" charset="-120"/>
              </a:rPr>
              <a:t>You expect the vendor to assume FERPA accountability</a:t>
            </a:r>
            <a:endParaRPr lang="en-US" sz="1200" dirty="0"/>
          </a:p>
          <a:p>
            <a:pPr marL="342900" indent="-342900">
              <a:lnSpc>
                <a:spcPct val="100000"/>
              </a:lnSpc>
              <a:spcAft>
                <a:spcPts val="700"/>
              </a:spcAft>
              <a:buSzPct val="100000"/>
              <a:buChar char="•"/>
            </a:pPr>
            <a:r>
              <a:rPr lang="en-US" sz="1200" dirty="0">
                <a:solidFill>
                  <a:srgbClr val="CADCFC"/>
                </a:solidFill>
                <a:latin typeface="Calibri" pitchFamily="34" charset="0"/>
                <a:ea typeface="Calibri" pitchFamily="34" charset="-122"/>
                <a:cs typeface="Calibri" pitchFamily="34" charset="-120"/>
              </a:rPr>
              <a:t>You cannot staff qualified HITL reviewers</a:t>
            </a:r>
            <a:endParaRPr lang="en-US" sz="1200" dirty="0"/>
          </a:p>
        </p:txBody>
      </p:sp>
      <p:sp>
        <p:nvSpPr>
          <p:cNvPr id="15" name="Shape 11"/>
          <p:cNvSpPr/>
          <p:nvPr/>
        </p:nvSpPr>
        <p:spPr>
          <a:xfrm>
            <a:off x="640080" y="5138928"/>
            <a:ext cx="11000232" cy="1170432"/>
          </a:xfrm>
          <a:prstGeom prst="roundRect">
            <a:avLst>
              <a:gd name="adj" fmla="val 6250"/>
            </a:avLst>
          </a:prstGeom>
          <a:solidFill>
            <a:srgbClr val="00A896"/>
          </a:solidFill>
          <a:ln/>
        </p:spPr>
      </p:sp>
      <p:sp>
        <p:nvSpPr>
          <p:cNvPr id="16" name="Text 12"/>
          <p:cNvSpPr/>
          <p:nvPr/>
        </p:nvSpPr>
        <p:spPr>
          <a:xfrm>
            <a:off x="960120" y="5230368"/>
            <a:ext cx="10332720" cy="969264"/>
          </a:xfrm>
          <a:prstGeom prst="rect">
            <a:avLst/>
          </a:prstGeom>
          <a:noFill/>
          <a:ln/>
        </p:spPr>
        <p:txBody>
          <a:bodyPr wrap="square" lIns="0" tIns="0" rIns="0" bIns="0" rtlCol="0" anchor="ctr"/>
          <a:lstStyle/>
          <a:p>
            <a:pPr indent="0" marL="0">
              <a:lnSpc>
                <a:spcPct val="100000"/>
              </a:lnSpc>
              <a:buNone/>
            </a:pPr>
            <a:r>
              <a:rPr lang="en-US" sz="1500" b="1" dirty="0">
                <a:solidFill>
                  <a:srgbClr val="12183A"/>
                </a:solidFill>
                <a:latin typeface="Calibri" pitchFamily="34" charset="0"/>
                <a:ea typeface="Calibri" pitchFamily="34" charset="-122"/>
                <a:cs typeface="Calibri" pitchFamily="34" charset="-120"/>
              </a:rPr>
              <a:t>Recommendation:  </a:t>
            </a:r>
            <a:pPr indent="0" marL="0">
              <a:lnSpc>
                <a:spcPct val="100000"/>
              </a:lnSpc>
              <a:buNone/>
            </a:pPr>
            <a:r>
              <a:rPr lang="en-US" sz="1300" dirty="0">
                <a:solidFill>
                  <a:srgbClr val="12183A"/>
                </a:solidFill>
                <a:latin typeface="Calibri" pitchFamily="34" charset="0"/>
                <a:ea typeface="Calibri" pitchFamily="34" charset="-122"/>
                <a:cs typeface="Calibri" pitchFamily="34" charset="-120"/>
              </a:rPr>
              <a:t>Approve a funded Phase-1 pilot on Agents 01 / 03 / 07 / 08. It compresses an SI-led build with a governance spine your CISO and privacy officer can stand behind — while you keep FERPA accountability and prove the controls in production before expanding.</a:t>
            </a:r>
            <a:endParaRPr lang="en-US" sz="15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32F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051560"/>
            <a:ext cx="2011680" cy="82296"/>
          </a:xfrm>
          <a:prstGeom prst="rect">
            <a:avLst/>
          </a:prstGeom>
          <a:solidFill>
            <a:srgbClr val="FF9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234440"/>
            <a:ext cx="10546080" cy="914400"/>
          </a:xfrm>
          <a:prstGeom prst="rect">
            <a:avLst/>
          </a:prstGeom>
          <a:noFill/>
        </p:spPr>
        <p:txBody>
          <a:bodyPr wrap="square">
            <a:spAutoFit/>
          </a:bodyPr>
          <a:lstStyle/>
          <a:p>
            <a:r>
              <a:rPr sz="3400" b="1">
                <a:solidFill>
                  <a:srgbClr val="FFFFFF"/>
                </a:solidFill>
              </a:rPr>
              <a:t>Disclaimer &amp; Shared Responsibility</a:t>
            </a:r>
          </a:p>
        </p:txBody>
      </p:sp>
      <p:sp>
        <p:nvSpPr>
          <p:cNvPr id="5" name="TextBox 4"/>
          <p:cNvSpPr txBox="1"/>
          <p:nvPr/>
        </p:nvSpPr>
        <p:spPr>
          <a:xfrm>
            <a:off x="822960" y="2468880"/>
            <a:ext cx="10546080" cy="3108960"/>
          </a:xfrm>
          <a:prstGeom prst="rect">
            <a:avLst/>
          </a:prstGeom>
          <a:noFill/>
        </p:spPr>
        <p:txBody>
          <a:bodyPr wrap="square">
            <a:spAutoFit/>
          </a:bodyPr>
          <a:lstStyle/>
          <a:p>
            <a:pPr>
              <a:spcAft>
                <a:spcPts val="1200"/>
              </a:spcAft>
            </a:pPr>
            <a:r>
              <a:rPr sz="1600">
                <a:solidFill>
                  <a:srgbClr val="D5DBDB"/>
                </a:solidFill>
              </a:rPr>
              <a:t>Reference accelerator — not an AWS service, not AWS-supported software, not a compliance certification, and not production-ready for regulated data without customer-specific engineering, testing, authorization, and operational ownership.</a:t>
            </a:r>
          </a:p>
          <a:p>
            <a:pPr>
              <a:spcAft>
                <a:spcPts val="1200"/>
              </a:spcAft>
            </a:pPr>
            <a:r>
              <a:rPr sz="1600">
                <a:solidFill>
                  <a:srgbClr val="D5DBDB"/>
                </a:solidFill>
              </a:rPr>
              <a:t>Built on AWS; not affiliated with or endorsed by Amazon Web Services.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32F3E"/>
      </a:dk2>
      <a:lt2>
        <a:srgbClr val="E7E6E6"/>
      </a:lt2>
      <a:accent1>
        <a:srgbClr val="FF9900"/>
      </a:accent1>
      <a:accent2>
        <a:srgbClr val="232F3E"/>
      </a:accent2>
      <a:accent3>
        <a:srgbClr val="01A88D"/>
      </a:accent3>
      <a:accent4>
        <a:srgbClr val="8C4FFF"/>
      </a:accent4>
      <a:accent5>
        <a:srgbClr val="DD344C"/>
      </a:accent5>
      <a:accent6>
        <a:srgbClr val="ED7100"/>
      </a:accent6>
      <a:hlink>
        <a:srgbClr val="0563C1"/>
      </a:hlink>
      <a:folHlink>
        <a:srgbClr val="954F72"/>
      </a:folHlink>
    </a:clrScheme>
    <a:fontScheme name="Office">
      <a:majorFont>
        <a:latin typeface="Amazon Ember"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mazon Ember"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 AI Agent Suite — Infrastructure &amp; Adoption Review</dc:title>
  <dc:subject>PptxGenJS Presentation</dc:subject>
  <dc:creator>EDU AI Agent Suite</dc:creator>
  <cp:lastModifiedBy>EDU AI Agent Suite</cp:lastModifiedBy>
  <cp:revision>1</cp:revision>
  <dcterms:created xsi:type="dcterms:W3CDTF">2026-06-24T02:58:13Z</dcterms:created>
  <dcterms:modified xsi:type="dcterms:W3CDTF">2026-06-24T02:58:13Z</dcterms:modified>
</cp:coreProperties>
</file>