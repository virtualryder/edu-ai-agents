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[00:00] Open the suite story. This is the executive frame for the whole portfolio. Say: 'Everyone in education is moving on AI — few are governing it.' Set expectation: we'll cover the thesis, the shared platform, the 8 agents, the governance spine, where we are on maturity, how it deploys, where to start, and the ROI. POSITION: this is the CIO/CISO/provost room — the message is that governance is the product.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[00:40] State the thesis plainly: the agents are not the product — the governed platform is. POSITION: this reframes the buying decision for a CISO from 'which AI tool' to 'which control plane.' The three cards are the 'why this architecture saves you money and risk' argument: build once, govern once, decision-support by design. If someone says 'a competitor has a flashier agent,' this slide is your rebuttal — flashy agents without this control plane are the liability.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The shared platform — this is the slide-4 architecture, generalized. Trace the same path you'll show on every agent deck: edge, identity, the deny-by-default gateway, Bedrock+Guardrails in-VPC, then per-agent scoped tools, then the WORM audit. The point to hammer: this is IDENTICAL for all eight agents. HOW IT DEPLOYS / WHAT THE CUSTOMER NEEDS: runs in the customer's AWS account; they bring IdP, data systems, and a KMS key; inference stays in-account so PII never egresses. POSITION: cloud-architect and CISO slide — they should leave convinced they certify one platform, not eight. ~70s.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The portfolio at a glance — eight agents, each a tile with its value line and headline metric. Don't read every tile; let them scan. Make two points: (1) the four 'land-first' agents (01, 03, 07, 08) are visible, low-decision-risk, and measurable; (2) the higher-governance agents (02, 04, 05, 06) come online after the control plane is proven. POSITION: for a provost/academic leader this shows breadth of impact; for a CIO it shows a sequenced roadmap, not a big-bang. Metrics here are cited on each agent's own deck. ~55s.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[03:40] The governance spine — the six controls that make the suite safe to deploy. This is the CISO's slide; walk all six, but spend time on deny-by-default and HITL. Connect to frameworks they answer to: NIST AI RMF mapping, the four-fifths fairness rule, and WCAG 2.1 AA for the looming ADA Title II deadlines. POSITION: for a CISO/compliance officer, these are the boxes their risk committee needs ticked; for a provost, these are the assurances that let them say yes to faculty and parents. Say: 'These are the same six controls on every agent — not bolted on per use case.' ~60s.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[04:40] The maturity ladder — be candid about where things stand. The suite is Documented and Demonstrated, and Deployable into the customer's AWS account via the runbooks; Production-ready is something you reach together against their baseline. POSITION: this honesty is a trust-builder with a CIO/PMO who has been burned by 'production-ready' demos. Don't overclaim. Frame Production-ready as the joint goal of a pilot.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[05:25] Deployment story — show it's repeatable and asset-backed, not bespoke. Left: the four-phase path (foundation built once, then per-agent). Right: what actually ships — eight runbooks, one reference architecture, a CloudFormation quick-deploy, all running in the CUSTOMER's account. HOW IT DEPLOYS / WHAT THE CUSTOMER NEEDS: AWS account access, IdP federation, the systems to connect, approved content, and a KMS key. POSITION: for a CIO/PMO this de-risks timeline and ownership; for a CISO it confirms tenancy and least-privilege.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[06:15] The land-and-expand path — the single most actionable slide for the buyer. Start with 01/03/07/08: they're visible to the most people, carry the least decision risk, and are measurable from day one — and they build the shared control plane. Then expand to the higher-governance agents (02/04/05/06) once that plane is proven. POSITION: for a CIO this is the de-risked roadmap and budget story; for a CISO, governance is established before the consequential agents arrive. Recommend Concierge (01) as the single best first deployment.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[07:05] ROI summary — four representative outcomes across the portfolio, each tagged to its institution and source class. Call out which are gov/peer-reviewed vs vendor. Then the source-discipline panel: we lead with the strongest evidence, flag vendor figures, and full citations live in EDU-DECK-SOURCES.md. POSITION: this candor is the close-strengthener for a CISO/CFO — say 'we'll model these against your actual volumes before you commit.' Don't present any number as a promise. ~50s.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[07:55] Standards alignment — the suite maps to the external frameworks the institution is already accountable to: NIST AI RMF, ADA Title II / WCAG 2.1 AA, four-fifths fairness monitoring, and FERPA-aware data handling. POSITION: this is the CISO/compliance/legal slide — it lets them connect 'this product' to 'the audits and laws I report against.' Offer to share the governance crosswalk.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[08:40] Close on the thesis — the agents are not the product, the governed platform is. Restate the frame: everyone is moving, few are governing; build the control plane once, prove it, inherit it across eight. Then the explicit ask: a scoped, governed pilot starting with the Concierge (01). POSITION: leave the CIO/CISO with one decision — approve a contained pilot — not eight. End on confidence: 'You govern once, and the portfolio compounds from there.'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77449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13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 Agentic AI Suite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58368" y="2697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governed AI agents for education — one shared, auditable platform on AWS.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58368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on AWS</a:t>
            </a:r>
            <a:pPr indent="0" marL="0">
              <a:buNone/>
            </a:pPr>
            <a:r>
              <a:rPr lang="en-US" sz="1250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Deny-by-default · Human-in-the-loop · Audited end-to-end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agents are not the product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" y="1481328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platform is the product.  </a:t>
            </a:r>
            <a:pPr algn="l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vendor can demo an agent. The hard part — and the durable value — is the control plane: who is allowed to do what, where data is allowed to go, and proof of every action.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2889504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inherit eight times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3504" y="3493008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gateway, identity, audit, and HITL framework are built with Agent 01 and reused by 02–08. Pay the integration tax once.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55264" y="2743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1568" y="2889504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once, not per agent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01568" y="3493008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deny-by-default control plane means one thing to certify, monitor, and trust — across the whole portfolio.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27432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99632" y="2889504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Decision-support by design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99632" y="3493008"/>
            <a:ext cx="2359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own every consequential call. The platform makes that boundary enforceable and provable, not a policy on paper.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PLATFORM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AWS architecture, every agent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54350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545336"/>
            <a:ext cx="14520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929384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000707" y="180136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28723" y="1417320"/>
            <a:ext cx="154350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74443" y="1545336"/>
            <a:ext cx="14520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 + WAF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74443" y="1929384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72230" y="180136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00246" y="1417320"/>
            <a:ext cx="154350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45966" y="1545336"/>
            <a:ext cx="14520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5966" y="1929384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identity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43754" y="180136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1770" y="1417320"/>
            <a:ext cx="154350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17490" y="1545336"/>
            <a:ext cx="14520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Gateway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17490" y="1929384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015277" y="180136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43293" y="1417320"/>
            <a:ext cx="154350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189013" y="1545336"/>
            <a:ext cx="14520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+ Guardrails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89013" y="1929384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· PII masked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860182" y="2322576"/>
            <a:ext cx="109728" cy="201168"/>
          </a:xfrm>
          <a:prstGeom prst="down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578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TOOLS &amp; CONNECTORS  (gateway-scoped, least-privilege)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2852928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12064" y="2852928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 / LMS / gradebook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46604" y="2852928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2601468" y="2852928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Connect / chat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636008" y="2852928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90872" y="2852928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Textract · Translate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725412" y="2852928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780276" y="2852928"/>
            <a:ext cx="18516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EventBridge · Step Fns HITL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60273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66928" y="3694176"/>
            <a:ext cx="329184" cy="329184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779764"/>
            <a:ext cx="158008" cy="15800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005840" y="36027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EVIDENCE   </a:t>
            </a:r>
            <a:pPr algn="l" indent="0" marL="0">
              <a:buNone/>
            </a:pPr>
            <a:r>
              <a:rPr lang="en-US" sz="95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+ DynamoDB append-only — identical across all eight agents. Govern once.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7200" y="47228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CloudFront/WAF → Cognito → AgentCore Gateway (deny-by-default) → Bedrock+Guardrails (in-VPC, PII masked) → scoped tools → HITL for consequential → WORM audit.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agents, one platform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14081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1389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&amp; Family Services Concierge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193852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24/7 governed front door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" y="250317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of 4 FAFSA calls unanswered (GAO)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51176" y="1280160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79192" y="14081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2679192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09544" y="1389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Tutor &amp; Study Companion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97480" y="193852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Socratic help grounded in the course's own materials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97480" y="250317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&gt;2x learned vs class (Harvard RCT)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45152" y="1280160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73168" y="14081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4773168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3520" y="1389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 Copilot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91456" y="193852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lessons, rubrics, quizzes and differentiated variants in minutes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91456" y="250317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 hr/wk teacher workload (RAND)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739128" y="1280160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67144" y="14081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3"/>
          <p:cNvSpPr/>
          <p:nvPr/>
        </p:nvSpPr>
        <p:spPr>
          <a:xfrm>
            <a:off x="6867144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97496" y="1389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Assessment, Grading &amp; Feedback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85432" y="193852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Rubric-grounded draft scores and feedback, faster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85432" y="250317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human grading (RCT)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3033522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5216" y="316153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29"/>
          <p:cNvSpPr/>
          <p:nvPr/>
        </p:nvSpPr>
        <p:spPr>
          <a:xfrm>
            <a:off x="585216" y="3161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15568" y="314325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Success &amp; Proactive Engagement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3504" y="369189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at-risk signals early and draft the nudge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03504" y="425653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 don't return yr 2 (NSC)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551176" y="3033522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679192" y="316153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8" name="Text 35"/>
          <p:cNvSpPr/>
          <p:nvPr/>
        </p:nvSpPr>
        <p:spPr>
          <a:xfrm>
            <a:off x="2679192" y="3161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209544" y="314325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/ College / Career Pathway Navigator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97480" y="369189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degree audits and transfer-credit mapping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697480" y="425653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~43% transfer credits lost (GAO)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645152" y="3033522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773168" y="316153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4" name="Text 41"/>
          <p:cNvSpPr/>
          <p:nvPr/>
        </p:nvSpPr>
        <p:spPr>
          <a:xfrm>
            <a:off x="4773168" y="3161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303520" y="314325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Accessibility Services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791456" y="369189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classify, remediate and translate documents to WCAG 2.1 AA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91456" y="425653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a11y complaints are PDFs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739128" y="3033522"/>
            <a:ext cx="1947672" cy="1607058"/>
          </a:xfrm>
          <a:prstGeom prst="roundRect">
            <a:avLst>
              <a:gd name="adj" fmla="val 398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867144" y="316153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0" name="Text 47"/>
          <p:cNvSpPr/>
          <p:nvPr/>
        </p:nvSpPr>
        <p:spPr>
          <a:xfrm>
            <a:off x="6867144" y="3161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397496" y="314325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/ IT Service Desk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885432" y="369189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self-resolvable tickets to knowledge-grounded answers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885432" y="425653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~$70 per password reset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SPINE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safe to deploy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444752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6362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142646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Deny-by-default gateway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" y="1975104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only use tools it was explicitly granted; everything else is refused.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55264" y="1280160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01568" y="1444752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56362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8496" y="142646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19856" y="1975104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action — grades, awards, interventions, account changes — passes a human gate.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053328" y="1280160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99632" y="1444752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156362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1426464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audit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17920" y="1975104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+ DynamoDB append-only: every access, draft, approval, and action.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57200" y="3042666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03504" y="3207258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32613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70432" y="318897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masking in-VPC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21792" y="373761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 run in-account; student PII is masked and never egresses.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55264" y="3042666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401568" y="3207258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32613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68496" y="318897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/ WCAG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419856" y="373761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aligned for the ADA Title II 2027/2028 deadlines.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053328" y="3042666"/>
            <a:ext cx="2633472" cy="1597914"/>
          </a:xfrm>
          <a:prstGeom prst="roundRect">
            <a:avLst>
              <a:gd name="adj" fmla="val 4006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99632" y="3207258"/>
            <a:ext cx="457200" cy="4572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332613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0" y="3188970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+ NIST AI RMF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17920" y="373761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Four-fifths rule monitoring; governance mapped to the NIST AI Risk Management Framework.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capability stands today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947672" cy="24688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905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56716" y="1618488"/>
            <a:ext cx="548640" cy="548640"/>
          </a:xfrm>
          <a:prstGeom prst="ellipse">
            <a:avLst/>
          </a:prstGeom>
          <a:solidFill>
            <a:srgbClr val="3AA6A4"/>
          </a:solidFill>
          <a:ln/>
        </p:spPr>
      </p:sp>
      <p:sp>
        <p:nvSpPr>
          <p:cNvPr id="8" name="Text 5"/>
          <p:cNvSpPr/>
          <p:nvPr/>
        </p:nvSpPr>
        <p:spPr>
          <a:xfrm>
            <a:off x="1156716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352" y="225856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269748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governance, runbooks, and ROI written and sourced.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14016" y="2596896"/>
            <a:ext cx="128016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1176" y="1417320"/>
            <a:ext cx="1947672" cy="24688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50692" y="161848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3250692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624328" y="225856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60904" y="269748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and demo storyboard proven in a contained environment.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07992" y="2596896"/>
            <a:ext cx="128016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1417320"/>
            <a:ext cx="1947672" cy="24688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44668" y="161848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5344668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18304" y="225856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269748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runbooks + shared reference architecture; stands up in the customer's AWS account.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01968" y="2596896"/>
            <a:ext cx="128016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39128" y="1417320"/>
            <a:ext cx="1947672" cy="2468880"/>
          </a:xfrm>
          <a:prstGeom prst="roundRect">
            <a:avLst>
              <a:gd name="adj" fmla="val 3756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38644" y="161848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3"/>
          <p:cNvSpPr/>
          <p:nvPr/>
        </p:nvSpPr>
        <p:spPr>
          <a:xfrm>
            <a:off x="7438644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812280" y="225856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48856" y="269748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Hardened, monitored, and operated against the customer's baseline and SLAs.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7200" y="46863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the suite is Documented and Demonstrated, and Deployable into your account via the runbooks. Production-ready is reached together, against your baseline.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Runbooks + one reference architecture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49961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88720" y="1463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foundation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737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CMK/KMS, isolated network, Cognito/JWT, CloudFront/WAF — built once with Agent 01.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" y="23225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88720" y="2286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+ scoped tools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25603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agent deployed; only that agent's tools granted (deny-by-default).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" y="314553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8872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+ content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3383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SIS/LMS/ITSM/etc.; index approved KB; set HITL gates.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5120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504" y="396849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603504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18872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WORM audit + smoke test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88720" y="4206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+ DynamoDB audit on; end-to-end path verified.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254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9893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WITH THE SUITE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89320" y="1883664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per-agent runbooks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reference architecture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docs/AWS-DEPLOYMENT-REFERENCE.md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customer's AWS account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control plane for all 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four, expand to eight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— visible, low decision-risk, measurable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59105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DF3F4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7373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Concierge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69464" y="159105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DF3F4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15768" y="17373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271576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27832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Educator Copilot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81728" y="159105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DF3F4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28032" y="17373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482803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0096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Accessibility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793992" y="1591056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DF3F4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40296" y="17373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8"/>
          <p:cNvSpPr/>
          <p:nvPr/>
        </p:nvSpPr>
        <p:spPr>
          <a:xfrm>
            <a:off x="69402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52360" y="171907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Desk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462272" y="2761488"/>
            <a:ext cx="219456" cy="27432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EXPAND — higher-governance, once the control plane is proven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40156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3504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4"/>
          <p:cNvSpPr/>
          <p:nvPr/>
        </p:nvSpPr>
        <p:spPr>
          <a:xfrm>
            <a:off x="603504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15568" y="35295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569464" y="340156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15768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8"/>
          <p:cNvSpPr/>
          <p:nvPr/>
        </p:nvSpPr>
        <p:spPr>
          <a:xfrm>
            <a:off x="271576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227832" y="35295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681728" y="340156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828032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2"/>
          <p:cNvSpPr/>
          <p:nvPr/>
        </p:nvSpPr>
        <p:spPr>
          <a:xfrm>
            <a:off x="482803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340096" y="35295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Success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793992" y="3401568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940296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6"/>
          <p:cNvSpPr/>
          <p:nvPr/>
        </p:nvSpPr>
        <p:spPr>
          <a:xfrm>
            <a:off x="6940296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52360" y="352958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Pathway Navigator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SUMMARY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Modeled to your baseline, not guaranteed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325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" y="1417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697480" y="14173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aid status contacts (Highline) — Concierge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54296" y="1325880"/>
            <a:ext cx="40325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4173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&gt;2x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894576" y="1417320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gain vs class (Harvard RCT) — Tutor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523744"/>
            <a:ext cx="40325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" y="26151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22.4%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697480" y="2615184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non-return rate targeted (NSC) — Success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54296" y="2523744"/>
            <a:ext cx="403250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261518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wk → 1 day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94576" y="2615184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evaluation (Illinois Tech) — Docs/Pathway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" y="4078224"/>
            <a:ext cx="420624" cy="420624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66" y="4187586"/>
            <a:ext cx="201900" cy="2019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33856" y="39319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discipline: </a:t>
            </a:r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gov/peer-reviewed and foundation/research figures lead; vendor and industry-estimate figures are flagged and never the headline. Full citations in gtm/EDU-DECK-SOURCES.md. Outcomes are modeled to your baseline volumes and staffing — not guaranteed.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ALIGNMENT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frameworks you answer to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0325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36192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AI RMF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029968"/>
            <a:ext cx="3666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/ Map / Measure / Manage functions mapped across the platform controls.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54296" y="1371600"/>
            <a:ext cx="40325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37176" y="1536192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 Title II · WCAG 2.1 AA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37176" y="2029968"/>
            <a:ext cx="3666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aligned for the April 2027 (≥50k) / 2028 deadlines.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907792"/>
            <a:ext cx="40325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072384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Four-fifths fairness rule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3666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Adverse-impact monitoring on consequential, model-influenced flows.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54296" y="2907792"/>
            <a:ext cx="40325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37176" y="3072384"/>
            <a:ext cx="3666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FERPA-aware data handling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37176" y="3566160"/>
            <a:ext cx="3666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in-VPC; role-scoped access; append-only audit of every record touch.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22960" cy="82296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780898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76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agents are not the product.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governed platform is.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58368" y="3063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education is moving on AI. Few are governing it. Build the control plane once with the best-first agents, prove it, and inherit it across all eight.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</a:t>
            </a:r>
            <a:pPr indent="0" marL="0">
              <a:buNone/>
            </a:pPr>
            <a:r>
              <a:rPr lang="en-US" sz="140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scoped, governed pilot — start with the Concierge (01).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46680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Agentic AI Suite — Executive Overview</dc:title>
  <dc:subject>PptxGenJS Presentation</dc:subject>
  <dc:creator>EDU AI Agent Suite</dc:creator>
  <cp:lastModifiedBy>EDU AI Agent Suite</cp:lastModifiedBy>
  <cp:revision>1</cp:revision>
  <dcterms:created xsi:type="dcterms:W3CDTF">2026-06-24T02:54:27Z</dcterms:created>
  <dcterms:modified xsi:type="dcterms:W3CDTF">2026-06-24T02:54:27Z</dcterms:modified>
</cp:coreProperties>
</file>