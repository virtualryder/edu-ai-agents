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Open with the thesis: everyone in education is moving on AI, almost no one is governed. This suite is eight reference agents sharing ONE governed AWS control plane. For a CIO/CFO, the platform is the asset — the agents are interchangeable workloads on top of it. Set the agenda: thesis, shared architecture, portfolio, governance spine, maturity, deployment, land-and-expand, cost of inaction,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[00:55] The frame the whole suite answers. EDUCAUSE: 57% strategic priority but &lt;40% have governance. RAND: district AI training doubled. The gap between adoption and governance IS the opportunity. To the CIO: you can move now without owning ungoverned shadow AI. To the CFO: one platform amortized across eight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The shared platform — every agent inherits this. One control plane: CloudFront/WAF edge, Cognito federation, MCP authorization gateway (deny-by-default, short-lived scoped tokens), Bedrock + Guardrails in-VPC, HITL gate, S3 Object Lock + DynamoDB append-only audit, per-customer VPC + dedicated account. Agent-specific blocks (Textract, Translate, Connect, EventBridge, Step Functions HITL) bolt onto this spine. To the CISO: PII never egresses after masking; least-privilege IAM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 The portfolio, part 1 — the land-first agents: Concierge (01), Educator Copilot (03), Document/Accessibility (07), Service Desk (08). Each tile shows value, the strongest headline metric, and the cost of doing nothing. These four are visible, measurable, and low decision-risk — they prove the control plane. Walk the cost-of-nothing column for the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 The portfolio, part 2 — the higher-governance agents: Tutor (02), Assessment (04), Student Success (05), Pathway (06). These touch grades, interventions, and degree plans, so they carry mandatory human gates. Sequence them after the platform is proven by the land-first four. The cost-of-nothing here is larger — retained tuition (05) and transfer cost (06) are the biggest CFO numbers in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[03:30] The compliance spine is the reason a CISO or general counsel signs off. Each regulation education buyers are examined against maps to a concrete control already in the platform — not a policy promise. FERPA, COPPA, IDEA/ADA Title II, GLBA, Title VI, and NIST AI RMF. This is the slide that turns 'interesting AI demo' into 'defensible institutional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The maturity ladder lets an institution self-pace. Rung 1 (assist) is read-only and the safest start; rung 4 is multiple orchestrated agents on one platform. The key governance message: the control plane is identical at every rung — you only dial up how much autonomy you grant. A board can approve rung 1 today and rung 3 next year without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[04:30] Deployment is a repeatable six-stage path: foundation, identity, edge, agent+tools, connectors+data, governance+go-live. The customer provides identity, network reachability, connectors, and approved content; the reference templates provide everything else. Per-customer isolation (dedicated account + VPC) is what regulated buyers require. Point them at the runbooks and the AWS deployment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 Land-and-expand de-risks the buy. Land with the four low-decision-risk agents (01/03/07/08) — they prove identity, the gateway, audit, and Guardrails in production. Expand to grade- and integrity-touching agents (04/02). Scale to the highest-governance, highest-value agents (05/06) where the CFO numbers are biggest. Every phase reuses the same control plane — no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[05:30] The CFO summary slide. Eight cost-of-doing-nothing figures on one view. Be disciplined: most are modeled at a reference baseline (show that label), while 03 (teacher turnover), 06 (transfer credit), and 07 (litigation exposure) use direct published figures. None are guaranteed — they substitute the customer's own volumes. The point: inaction has a recurring, quantifiable price across the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[06:00] Close on the thesis restated: the agent isn't the product — the governed platform is. That's what an institution actually buys, and what its examiner actually evaluates. Recommend landing with 01/03/07/08 to prove the control plane, then expanding at their own pace. Hand off to the runbooks and AWS deployment reference. Invite the architecture deep-dive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554480"/>
            <a:ext cx="10607040" cy="1188720"/>
          </a:xfrm>
          <a:prstGeom prst="rect">
            <a:avLst/>
          </a:prstGeom>
          <a:noFill/>
          <a:ln/>
        </p:spPr>
        <p:txBody>
          <a:bodyPr wrap="square" lIns="0" tIns="0" rIns="0" bIns="0" rtlCol="0" anchor="ctr"/>
          <a:lstStyle/>
          <a:p>
            <a:pPr algn="l" indent="0" marL="0">
              <a:buNone/>
            </a:pPr>
            <a:r>
              <a:rPr lang="en-US" sz="5000" b="1" dirty="0">
                <a:solidFill>
                  <a:srgbClr val="FFFFFF"/>
                </a:solidFill>
                <a:latin typeface="Arial" pitchFamily="34" charset="0"/>
                <a:ea typeface="Arial" pitchFamily="34" charset="-122"/>
                <a:cs typeface="Arial" pitchFamily="34" charset="-120"/>
              </a:rPr>
              <a:t>EDU AI Agent Suite</a:t>
            </a:r>
            <a:endParaRPr lang="en-US" sz="5000" dirty="0"/>
          </a:p>
        </p:txBody>
      </p:sp>
      <p:sp>
        <p:nvSpPr>
          <p:cNvPr id="4" name="Text 2"/>
          <p:cNvSpPr/>
          <p:nvPr/>
        </p:nvSpPr>
        <p:spPr>
          <a:xfrm>
            <a:off x="795528" y="2880360"/>
            <a:ext cx="10424160" cy="54864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Governed Agentic AI for Education — Built on AWS</a:t>
            </a:r>
            <a:endParaRPr lang="en-US" sz="2200" dirty="0"/>
          </a:p>
        </p:txBody>
      </p:sp>
      <p:sp>
        <p:nvSpPr>
          <p:cNvPr id="5" name="Text 3"/>
          <p:cNvSpPr/>
          <p:nvPr/>
        </p:nvSpPr>
        <p:spPr>
          <a:xfrm>
            <a:off x="804672" y="35661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on one FERPA/ADA-defensible platform — the agent isn't the product, the governance is.</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Executive Overview  ·  Built on AWS  ·  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777240"/>
            <a:ext cx="10789920" cy="914400"/>
          </a:xfrm>
          <a:prstGeom prst="rect">
            <a:avLst/>
          </a:prstGeom>
          <a:noFill/>
          <a:ln/>
        </p:spPr>
        <p:txBody>
          <a:bodyPr wrap="square" lIns="0" tIns="0" rIns="0" bIns="0" rtlCol="0" anchor="ctr"/>
          <a:lstStyle/>
          <a:p>
            <a:pPr algn="l" indent="0" marL="0">
              <a:buNone/>
            </a:pPr>
            <a:r>
              <a:rPr lang="en-US" sz="3600" b="1" spc="50" kern="0" dirty="0">
                <a:solidFill>
                  <a:srgbClr val="FFFFFF"/>
                </a:solidFill>
                <a:latin typeface="Arial" pitchFamily="34" charset="0"/>
                <a:ea typeface="Arial" pitchFamily="34" charset="-122"/>
                <a:cs typeface="Arial" pitchFamily="34" charset="-120"/>
              </a:rPr>
              <a:t>EVERYONE'S MOVING. FEW ARE GOVERNED.</a:t>
            </a:r>
            <a:endParaRPr lang="en-US" sz="3600" dirty="0"/>
          </a:p>
        </p:txBody>
      </p:sp>
      <p:sp>
        <p:nvSpPr>
          <p:cNvPr id="4" name="Text 2"/>
          <p:cNvSpPr/>
          <p:nvPr/>
        </p:nvSpPr>
        <p:spPr>
          <a:xfrm>
            <a:off x="804672" y="1783080"/>
            <a:ext cx="10332720" cy="45720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Adoption is near-universal; governance is the gap this platform closes.</a:t>
            </a:r>
            <a:endParaRPr lang="en-US" sz="1600" dirty="0"/>
          </a:p>
        </p:txBody>
      </p:sp>
      <p:sp>
        <p:nvSpPr>
          <p:cNvPr id="5" name="Shape 3"/>
          <p:cNvSpPr/>
          <p:nvPr/>
        </p:nvSpPr>
        <p:spPr>
          <a:xfrm>
            <a:off x="777240" y="2743200"/>
            <a:ext cx="3310128" cy="1920240"/>
          </a:xfrm>
          <a:prstGeom prst="rect">
            <a:avLst/>
          </a:prstGeom>
          <a:solidFill>
            <a:srgbClr val="2E3B4E"/>
          </a:solidFill>
          <a:ln w="12700">
            <a:solidFill>
              <a:srgbClr val="3A485A"/>
            </a:solidFill>
            <a:prstDash val="solid"/>
          </a:ln>
        </p:spPr>
      </p:sp>
      <p:sp>
        <p:nvSpPr>
          <p:cNvPr id="6" name="Text 4"/>
          <p:cNvSpPr/>
          <p:nvPr/>
        </p:nvSpPr>
        <p:spPr>
          <a:xfrm>
            <a:off x="1033272"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57%</a:t>
            </a:r>
            <a:endParaRPr lang="en-US" sz="4000" dirty="0"/>
          </a:p>
        </p:txBody>
      </p:sp>
      <p:sp>
        <p:nvSpPr>
          <p:cNvPr id="7" name="Text 5"/>
          <p:cNvSpPr/>
          <p:nvPr/>
        </p:nvSpPr>
        <p:spPr>
          <a:xfrm>
            <a:off x="1051560"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higher-ed institutions now treat AI as a strategic priority</a:t>
            </a:r>
            <a:endParaRPr lang="en-US" sz="1200" dirty="0"/>
          </a:p>
        </p:txBody>
      </p:sp>
      <p:sp>
        <p:nvSpPr>
          <p:cNvPr id="8" name="Text 6"/>
          <p:cNvSpPr/>
          <p:nvPr/>
        </p:nvSpPr>
        <p:spPr>
          <a:xfrm>
            <a:off x="1051560" y="4389120"/>
            <a:ext cx="2189074"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 2025]</a:t>
            </a:r>
            <a:endParaRPr lang="en-US" sz="750" dirty="0"/>
          </a:p>
        </p:txBody>
      </p:sp>
      <p:sp>
        <p:nvSpPr>
          <p:cNvPr id="9" name="Shape 7"/>
          <p:cNvSpPr/>
          <p:nvPr/>
        </p:nvSpPr>
        <p:spPr>
          <a:xfrm>
            <a:off x="4379976" y="2743200"/>
            <a:ext cx="3310128" cy="1920240"/>
          </a:xfrm>
          <a:prstGeom prst="rect">
            <a:avLst/>
          </a:prstGeom>
          <a:solidFill>
            <a:srgbClr val="2E3B4E"/>
          </a:solidFill>
          <a:ln w="12700">
            <a:solidFill>
              <a:srgbClr val="3A485A"/>
            </a:solidFill>
            <a:prstDash val="solid"/>
          </a:ln>
        </p:spPr>
      </p:sp>
      <p:sp>
        <p:nvSpPr>
          <p:cNvPr id="10" name="Text 8"/>
          <p:cNvSpPr/>
          <p:nvPr/>
        </p:nvSpPr>
        <p:spPr>
          <a:xfrm>
            <a:off x="4636008"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&lt;40%</a:t>
            </a:r>
            <a:endParaRPr lang="en-US" sz="4000" dirty="0"/>
          </a:p>
        </p:txBody>
      </p:sp>
      <p:sp>
        <p:nvSpPr>
          <p:cNvPr id="11" name="Text 9"/>
          <p:cNvSpPr/>
          <p:nvPr/>
        </p:nvSpPr>
        <p:spPr>
          <a:xfrm>
            <a:off x="4654296"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have a formal AI governance framework / acceptable-use policy</a:t>
            </a:r>
            <a:endParaRPr lang="en-US" sz="1200" dirty="0"/>
          </a:p>
        </p:txBody>
      </p:sp>
      <p:sp>
        <p:nvSpPr>
          <p:cNvPr id="12" name="Text 10"/>
          <p:cNvSpPr/>
          <p:nvPr/>
        </p:nvSpPr>
        <p:spPr>
          <a:xfrm>
            <a:off x="4654296" y="4389120"/>
            <a:ext cx="2245766"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EDUCAUSE/Tyton]</a:t>
            </a:r>
            <a:endParaRPr lang="en-US" sz="750" dirty="0"/>
          </a:p>
        </p:txBody>
      </p:sp>
      <p:sp>
        <p:nvSpPr>
          <p:cNvPr id="13" name="Shape 11"/>
          <p:cNvSpPr/>
          <p:nvPr/>
        </p:nvSpPr>
        <p:spPr>
          <a:xfrm>
            <a:off x="7982712" y="2743200"/>
            <a:ext cx="3310128" cy="1920240"/>
          </a:xfrm>
          <a:prstGeom prst="rect">
            <a:avLst/>
          </a:prstGeom>
          <a:solidFill>
            <a:srgbClr val="2E3B4E"/>
          </a:solidFill>
          <a:ln w="12700">
            <a:solidFill>
              <a:srgbClr val="3A485A"/>
            </a:solidFill>
            <a:prstDash val="solid"/>
          </a:ln>
        </p:spPr>
      </p:sp>
      <p:sp>
        <p:nvSpPr>
          <p:cNvPr id="14" name="Text 12"/>
          <p:cNvSpPr/>
          <p:nvPr/>
        </p:nvSpPr>
        <p:spPr>
          <a:xfrm>
            <a:off x="8238744"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23%→48%</a:t>
            </a:r>
            <a:endParaRPr lang="en-US" sz="4000" dirty="0"/>
          </a:p>
        </p:txBody>
      </p:sp>
      <p:sp>
        <p:nvSpPr>
          <p:cNvPr id="15" name="Text 13"/>
          <p:cNvSpPr/>
          <p:nvPr/>
        </p:nvSpPr>
        <p:spPr>
          <a:xfrm>
            <a:off x="8257032"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districts now train teachers on AI (more than doubled)</a:t>
            </a:r>
            <a:endParaRPr lang="en-US" sz="1200" dirty="0"/>
          </a:p>
        </p:txBody>
      </p:sp>
      <p:sp>
        <p:nvSpPr>
          <p:cNvPr id="16" name="Text 14"/>
          <p:cNvSpPr/>
          <p:nvPr/>
        </p:nvSpPr>
        <p:spPr>
          <a:xfrm>
            <a:off x="8257032" y="4389120"/>
            <a:ext cx="1565453"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[gov/peer-reviewed — RAND]</a:t>
            </a:r>
            <a:endParaRPr lang="en-US" sz="750" dirty="0"/>
          </a:p>
        </p:txBody>
      </p:sp>
      <p:sp>
        <p:nvSpPr>
          <p:cNvPr id="17" name="Text 15"/>
          <p:cNvSpPr/>
          <p:nvPr/>
        </p:nvSpPr>
        <p:spPr>
          <a:xfrm>
            <a:off x="777240" y="5029200"/>
            <a:ext cx="10789920" cy="640080"/>
          </a:xfrm>
          <a:prstGeom prst="rect">
            <a:avLst/>
          </a:prstGeom>
          <a:noFill/>
          <a:ln/>
        </p:spPr>
        <p:txBody>
          <a:bodyPr wrap="square" lIns="0" tIns="0" rIns="0" bIns="0" rtlCol="0" anchor="ctr"/>
          <a:lstStyle/>
          <a:p>
            <a:pPr algn="l" indent="0" marL="0">
              <a:buNone/>
            </a:pPr>
            <a:r>
              <a:rPr lang="en-US" sz="1400" i="1" dirty="0">
                <a:solidFill>
                  <a:srgbClr val="C9D2DC"/>
                </a:solidFill>
                <a:latin typeface="Calibri" pitchFamily="34" charset="0"/>
                <a:ea typeface="Calibri" pitchFamily="34" charset="-122"/>
                <a:cs typeface="Calibri" pitchFamily="34" charset="-120"/>
              </a:rPr>
              <a:t>The takeaway: this platform is the governance layer that lets an institution adopt AI as fast as everyone else — and defend it to an examiner.</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9AA7B4"/>
                </a:solidFill>
                <a:latin typeface="Calibri" pitchFamily="34" charset="0"/>
                <a:ea typeface="Calibri" pitchFamily="34" charset="-122"/>
                <a:cs typeface="Calibri" pitchFamily="34" charset="-120"/>
              </a:rPr>
              <a:t>EDU AI Agent Suite  ·  Built on AWS  ·  June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640080" y="182880"/>
            <a:ext cx="11155680" cy="502920"/>
          </a:xfrm>
          <a:prstGeom prst="rect">
            <a:avLst/>
          </a:prstGeom>
          <a:noFill/>
          <a:ln/>
        </p:spPr>
        <p:txBody>
          <a:bodyPr wrap="square" lIns="0" tIns="0" rIns="0" bIns="0" rtlCol="0" anchor="ctr"/>
          <a:lstStyle/>
          <a:p>
            <a:pPr algn="l" indent="0" marL="0">
              <a:buNone/>
            </a:pPr>
            <a:r>
              <a:rPr lang="en-US" sz="2900" b="1" dirty="0">
                <a:solidFill>
                  <a:srgbClr val="232F3E"/>
                </a:solidFill>
                <a:latin typeface="Arial" pitchFamily="34" charset="0"/>
                <a:ea typeface="Arial" pitchFamily="34" charset="-122"/>
                <a:cs typeface="Arial" pitchFamily="34" charset="-120"/>
              </a:rPr>
              <a:t>Shared AWS Architecture &amp; Traffic Flow</a:t>
            </a:r>
            <a:endParaRPr lang="en-US" sz="2900" dirty="0"/>
          </a:p>
        </p:txBody>
      </p:sp>
      <p:sp>
        <p:nvSpPr>
          <p:cNvPr id="4" name="Shape 2"/>
          <p:cNvSpPr/>
          <p:nvPr/>
        </p:nvSpPr>
        <p:spPr>
          <a:xfrm>
            <a:off x="548640" y="868680"/>
            <a:ext cx="2331720" cy="4160520"/>
          </a:xfrm>
          <a:prstGeom prst="rect">
            <a:avLst/>
          </a:prstGeom>
          <a:ln w="12700">
            <a:solidFill>
              <a:srgbClr val="9AA7B4"/>
            </a:solidFill>
            <a:prstDash val="dash"/>
          </a:ln>
        </p:spPr>
      </p:sp>
      <p:sp>
        <p:nvSpPr>
          <p:cNvPr id="5" name="Text 3"/>
          <p:cNvSpPr/>
          <p:nvPr/>
        </p:nvSpPr>
        <p:spPr>
          <a:xfrm>
            <a:off x="658368" y="923544"/>
            <a:ext cx="2112264" cy="256032"/>
          </a:xfrm>
          <a:prstGeom prst="rect">
            <a:avLst/>
          </a:prstGeom>
          <a:noFill/>
          <a:ln/>
        </p:spPr>
        <p:txBody>
          <a:bodyPr wrap="square" lIns="0" tIns="0" rIns="0" bIns="0" rtlCol="0" anchor="ctr"/>
          <a:lstStyle/>
          <a:p>
            <a:pPr algn="l" indent="0" marL="0">
              <a:buNone/>
            </a:pPr>
            <a:r>
              <a:rPr lang="en-US" sz="900" b="1" spc="50" kern="0" dirty="0">
                <a:solidFill>
                  <a:srgbClr val="6B7785"/>
                </a:solidFill>
                <a:latin typeface="Arial" pitchFamily="34" charset="0"/>
                <a:ea typeface="Arial" pitchFamily="34" charset="-122"/>
                <a:cs typeface="Arial" pitchFamily="34" charset="-120"/>
              </a:rPr>
              <a:t>INSTITUTION / EXTERNAL</a:t>
            </a:r>
            <a:endParaRPr lang="en-US" sz="900" dirty="0"/>
          </a:p>
        </p:txBody>
      </p:sp>
      <p:sp>
        <p:nvSpPr>
          <p:cNvPr id="6" name="Shape 4"/>
          <p:cNvSpPr/>
          <p:nvPr/>
        </p:nvSpPr>
        <p:spPr>
          <a:xfrm>
            <a:off x="667512" y="1252728"/>
            <a:ext cx="2093976" cy="548640"/>
          </a:xfrm>
          <a:prstGeom prst="rect">
            <a:avLst/>
          </a:prstGeom>
          <a:solidFill>
            <a:srgbClr val="232F3E"/>
          </a:solidFill>
          <a:ln/>
        </p:spPr>
      </p:sp>
      <p:sp>
        <p:nvSpPr>
          <p:cNvPr id="7" name="Text 5"/>
          <p:cNvSpPr/>
          <p:nvPr/>
        </p:nvSpPr>
        <p:spPr>
          <a:xfrm>
            <a:off x="758952" y="1280160"/>
            <a:ext cx="1929384" cy="493776"/>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Students · families · educators · staff</a:t>
            </a:r>
            <a:endParaRPr lang="en-US" sz="900" dirty="0"/>
          </a:p>
        </p:txBody>
      </p:sp>
      <p:sp>
        <p:nvSpPr>
          <p:cNvPr id="8" name="Shape 6"/>
          <p:cNvSpPr/>
          <p:nvPr/>
        </p:nvSpPr>
        <p:spPr>
          <a:xfrm>
            <a:off x="667512" y="1947672"/>
            <a:ext cx="2093976" cy="548640"/>
          </a:xfrm>
          <a:prstGeom prst="rect">
            <a:avLst/>
          </a:prstGeom>
          <a:solidFill>
            <a:srgbClr val="232F3E"/>
          </a:solidFill>
          <a:ln/>
        </p:spPr>
      </p:sp>
      <p:sp>
        <p:nvSpPr>
          <p:cNvPr id="9" name="Text 7"/>
          <p:cNvSpPr/>
          <p:nvPr/>
        </p:nvSpPr>
        <p:spPr>
          <a:xfrm>
            <a:off x="758952" y="1975104"/>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IdP — Okta / Azure AD / Google</a:t>
            </a:r>
            <a:endParaRPr lang="en-US" sz="85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SAML/OIDC + MFA</a:t>
            </a:r>
            <a:endParaRPr lang="en-US" sz="850" dirty="0"/>
          </a:p>
        </p:txBody>
      </p:sp>
      <p:sp>
        <p:nvSpPr>
          <p:cNvPr id="10" name="Shape 8"/>
          <p:cNvSpPr/>
          <p:nvPr/>
        </p:nvSpPr>
        <p:spPr>
          <a:xfrm>
            <a:off x="667512" y="2642616"/>
            <a:ext cx="2093976" cy="640080"/>
          </a:xfrm>
          <a:prstGeom prst="rect">
            <a:avLst/>
          </a:prstGeom>
          <a:solidFill>
            <a:srgbClr val="232F3E"/>
          </a:solidFill>
          <a:ln/>
        </p:spPr>
      </p:sp>
      <p:sp>
        <p:nvSpPr>
          <p:cNvPr id="11" name="Text 9"/>
          <p:cNvSpPr/>
          <p:nvPr/>
        </p:nvSpPr>
        <p:spPr>
          <a:xfrm>
            <a:off x="758952" y="2670048"/>
            <a:ext cx="1929384" cy="58521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SIS · LMS · ERP · ITSM</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on-prem · PrivateLink / Direct Connect</a:t>
            </a:r>
            <a:endParaRPr lang="en-US" sz="850" dirty="0"/>
          </a:p>
        </p:txBody>
      </p:sp>
      <p:sp>
        <p:nvSpPr>
          <p:cNvPr id="12" name="Shape 10"/>
          <p:cNvSpPr/>
          <p:nvPr/>
        </p:nvSpPr>
        <p:spPr>
          <a:xfrm>
            <a:off x="667512" y="3429000"/>
            <a:ext cx="2093976" cy="548640"/>
          </a:xfrm>
          <a:prstGeom prst="rect">
            <a:avLst/>
          </a:prstGeom>
          <a:solidFill>
            <a:srgbClr val="232F3E"/>
          </a:solidFill>
          <a:ln/>
        </p:spPr>
      </p:sp>
      <p:sp>
        <p:nvSpPr>
          <p:cNvPr id="13" name="Text 11"/>
          <p:cNvSpPr/>
          <p:nvPr/>
        </p:nvSpPr>
        <p:spPr>
          <a:xfrm>
            <a:off x="758952" y="3456432"/>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Approved KB · external data</a:t>
            </a:r>
            <a:endParaRPr lang="en-US" sz="850" dirty="0"/>
          </a:p>
        </p:txBody>
      </p:sp>
      <p:sp>
        <p:nvSpPr>
          <p:cNvPr id="14" name="Text 12"/>
          <p:cNvSpPr/>
          <p:nvPr/>
        </p:nvSpPr>
        <p:spPr>
          <a:xfrm>
            <a:off x="667512" y="4069080"/>
            <a:ext cx="2093976" cy="228600"/>
          </a:xfrm>
          <a:prstGeom prst="rect">
            <a:avLst/>
          </a:prstGeom>
          <a:noFill/>
          <a:ln/>
        </p:spPr>
        <p:txBody>
          <a:bodyPr wrap="square" lIns="0" tIns="0" rIns="0" bIns="0" rtlCol="0" anchor="ctr"/>
          <a:lstStyle/>
          <a:p>
            <a:pPr algn="l" indent="0" marL="0">
              <a:buNone/>
            </a:pPr>
            <a:r>
              <a:rPr lang="en-US" sz="750" i="1" dirty="0">
                <a:solidFill>
                  <a:srgbClr val="6B7785"/>
                </a:solidFill>
                <a:latin typeface="Calibri" pitchFamily="34" charset="0"/>
                <a:ea typeface="Calibri" pitchFamily="34" charset="-122"/>
                <a:cs typeface="Calibri" pitchFamily="34" charset="-120"/>
              </a:rPr>
              <a:t>PrivateLink / Direct Connect</a:t>
            </a:r>
            <a:endParaRPr lang="en-US" sz="750" dirty="0"/>
          </a:p>
        </p:txBody>
      </p:sp>
      <p:sp>
        <p:nvSpPr>
          <p:cNvPr id="15" name="Shape 13"/>
          <p:cNvSpPr/>
          <p:nvPr/>
        </p:nvSpPr>
        <p:spPr>
          <a:xfrm>
            <a:off x="3063240" y="868680"/>
            <a:ext cx="8549640" cy="4663440"/>
          </a:xfrm>
          <a:prstGeom prst="rect">
            <a:avLst/>
          </a:prstGeom>
          <a:ln w="12700">
            <a:solidFill>
              <a:srgbClr val="9AA7B4"/>
            </a:solidFill>
            <a:prstDash val="dash"/>
          </a:ln>
        </p:spPr>
      </p:sp>
      <p:sp>
        <p:nvSpPr>
          <p:cNvPr id="16" name="Text 14"/>
          <p:cNvSpPr/>
          <p:nvPr/>
        </p:nvSpPr>
        <p:spPr>
          <a:xfrm>
            <a:off x="3172968" y="923544"/>
            <a:ext cx="8330184" cy="256032"/>
          </a:xfrm>
          <a:prstGeom prst="rect">
            <a:avLst/>
          </a:prstGeom>
          <a:noFill/>
          <a:ln/>
        </p:spPr>
        <p:txBody>
          <a:bodyPr wrap="square" lIns="0" tIns="0" rIns="0" bIns="0" rtlCol="0" anchor="ctr"/>
          <a:lstStyle/>
          <a:p>
            <a:pPr algn="l" indent="0" marL="0">
              <a:buNone/>
            </a:pPr>
            <a:r>
              <a:rPr lang="en-US" sz="900" b="1" spc="50" kern="0" dirty="0">
                <a:solidFill>
                  <a:srgbClr val="232F3E"/>
                </a:solidFill>
                <a:latin typeface="Arial" pitchFamily="34" charset="0"/>
                <a:ea typeface="Arial" pitchFamily="34" charset="-122"/>
                <a:cs typeface="Arial" pitchFamily="34" charset="-120"/>
              </a:rPr>
              <a:t>AWS CLOUD — PER-CUSTOMER VPC (dedicated account per institution)</a:t>
            </a:r>
            <a:endParaRPr lang="en-US" sz="900" dirty="0"/>
          </a:p>
        </p:txBody>
      </p:sp>
      <p:sp>
        <p:nvSpPr>
          <p:cNvPr id="17" name="Shape 15"/>
          <p:cNvSpPr/>
          <p:nvPr/>
        </p:nvSpPr>
        <p:spPr>
          <a:xfrm>
            <a:off x="3227832" y="1307592"/>
            <a:ext cx="2468880" cy="1783080"/>
          </a:xfrm>
          <a:prstGeom prst="rect">
            <a:avLst/>
          </a:prstGeom>
          <a:ln w="12700">
            <a:solidFill>
              <a:srgbClr val="9AA7B4"/>
            </a:solidFill>
            <a:prstDash val="dash"/>
          </a:ln>
        </p:spPr>
      </p:sp>
      <p:sp>
        <p:nvSpPr>
          <p:cNvPr id="18" name="Text 16"/>
          <p:cNvSpPr/>
          <p:nvPr/>
        </p:nvSpPr>
        <p:spPr>
          <a:xfrm>
            <a:off x="3337560" y="1362456"/>
            <a:ext cx="2249424" cy="256032"/>
          </a:xfrm>
          <a:prstGeom prst="rect">
            <a:avLst/>
          </a:prstGeom>
          <a:noFill/>
          <a:ln/>
        </p:spPr>
        <p:txBody>
          <a:bodyPr wrap="square" lIns="0" tIns="0" rIns="0" bIns="0" rtlCol="0" anchor="ctr"/>
          <a:lstStyle/>
          <a:p>
            <a:pPr algn="l" indent="0" marL="0">
              <a:buNone/>
            </a:pPr>
            <a:r>
              <a:rPr lang="en-US" sz="900" b="1" spc="50" kern="0" dirty="0">
                <a:solidFill>
                  <a:srgbClr val="8C4FFF"/>
                </a:solidFill>
                <a:latin typeface="Arial" pitchFamily="34" charset="0"/>
                <a:ea typeface="Arial" pitchFamily="34" charset="-122"/>
                <a:cs typeface="Arial" pitchFamily="34" charset="-120"/>
              </a:rPr>
              <a:t>EDGE / PUBLIC SUBNET</a:t>
            </a:r>
            <a:endParaRPr lang="en-US" sz="900" dirty="0"/>
          </a:p>
        </p:txBody>
      </p:sp>
      <p:sp>
        <p:nvSpPr>
          <p:cNvPr id="19" name="Shape 17"/>
          <p:cNvSpPr/>
          <p:nvPr/>
        </p:nvSpPr>
        <p:spPr>
          <a:xfrm>
            <a:off x="3337560" y="1673352"/>
            <a:ext cx="2249424" cy="402336"/>
          </a:xfrm>
          <a:prstGeom prst="rect">
            <a:avLst/>
          </a:prstGeom>
          <a:solidFill>
            <a:srgbClr val="8C4FFF"/>
          </a:solidFill>
          <a:ln/>
        </p:spPr>
      </p:sp>
      <p:sp>
        <p:nvSpPr>
          <p:cNvPr id="20" name="Text 18"/>
          <p:cNvSpPr/>
          <p:nvPr/>
        </p:nvSpPr>
        <p:spPr>
          <a:xfrm>
            <a:off x="3429000" y="1700784"/>
            <a:ext cx="2084832" cy="347472"/>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CloudFront + WAF</a:t>
            </a:r>
            <a:endParaRPr lang="en-US" sz="900" dirty="0"/>
          </a:p>
        </p:txBody>
      </p:sp>
      <p:sp>
        <p:nvSpPr>
          <p:cNvPr id="21" name="Shape 19"/>
          <p:cNvSpPr/>
          <p:nvPr/>
        </p:nvSpPr>
        <p:spPr>
          <a:xfrm>
            <a:off x="3337560" y="2148840"/>
            <a:ext cx="2249424" cy="402336"/>
          </a:xfrm>
          <a:prstGeom prst="rect">
            <a:avLst/>
          </a:prstGeom>
          <a:solidFill>
            <a:srgbClr val="8C4FFF"/>
          </a:solidFill>
          <a:ln/>
        </p:spPr>
      </p:sp>
      <p:sp>
        <p:nvSpPr>
          <p:cNvPr id="22" name="Text 20"/>
          <p:cNvSpPr/>
          <p:nvPr/>
        </p:nvSpPr>
        <p:spPr>
          <a:xfrm>
            <a:off x="3429000" y="2176272"/>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ALB — TLS 1.3 + Cognito auth</a:t>
            </a:r>
            <a:endParaRPr lang="en-US" sz="800" dirty="0"/>
          </a:p>
        </p:txBody>
      </p:sp>
      <p:sp>
        <p:nvSpPr>
          <p:cNvPr id="23" name="Shape 21"/>
          <p:cNvSpPr/>
          <p:nvPr/>
        </p:nvSpPr>
        <p:spPr>
          <a:xfrm>
            <a:off x="3337560" y="2624328"/>
            <a:ext cx="2249424" cy="402336"/>
          </a:xfrm>
          <a:prstGeom prst="rect">
            <a:avLst/>
          </a:prstGeom>
          <a:solidFill>
            <a:srgbClr val="8C4FFF"/>
          </a:solidFill>
          <a:ln/>
        </p:spPr>
      </p:sp>
      <p:sp>
        <p:nvSpPr>
          <p:cNvPr id="24" name="Text 22"/>
          <p:cNvSpPr/>
          <p:nvPr/>
        </p:nvSpPr>
        <p:spPr>
          <a:xfrm>
            <a:off x="3429000" y="2651760"/>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Amazon Cognito — SAML→JWT</a:t>
            </a:r>
            <a:endParaRPr lang="en-US" sz="800" dirty="0"/>
          </a:p>
        </p:txBody>
      </p:sp>
      <p:sp>
        <p:nvSpPr>
          <p:cNvPr id="25" name="Shape 23"/>
          <p:cNvSpPr/>
          <p:nvPr/>
        </p:nvSpPr>
        <p:spPr>
          <a:xfrm>
            <a:off x="5897880" y="1307592"/>
            <a:ext cx="2788920" cy="1783080"/>
          </a:xfrm>
          <a:prstGeom prst="rect">
            <a:avLst/>
          </a:prstGeom>
          <a:ln w="12700">
            <a:solidFill>
              <a:srgbClr val="9AA7B4"/>
            </a:solidFill>
            <a:prstDash val="dash"/>
          </a:ln>
        </p:spPr>
      </p:sp>
      <p:sp>
        <p:nvSpPr>
          <p:cNvPr id="26" name="Text 24"/>
          <p:cNvSpPr/>
          <p:nvPr/>
        </p:nvSpPr>
        <p:spPr>
          <a:xfrm>
            <a:off x="6007608" y="1362456"/>
            <a:ext cx="2569464" cy="256032"/>
          </a:xfrm>
          <a:prstGeom prst="rect">
            <a:avLst/>
          </a:prstGeom>
          <a:noFill/>
          <a:ln/>
        </p:spPr>
        <p:txBody>
          <a:bodyPr wrap="square" lIns="0" tIns="0" rIns="0" bIns="0" rtlCol="0" anchor="ctr"/>
          <a:lstStyle/>
          <a:p>
            <a:pPr algn="l" indent="0" marL="0">
              <a:buNone/>
            </a:pPr>
            <a:r>
              <a:rPr lang="en-US" sz="900" b="1" spc="50" kern="0" dirty="0">
                <a:solidFill>
                  <a:srgbClr val="FF9900"/>
                </a:solidFill>
                <a:latin typeface="Arial" pitchFamily="34" charset="0"/>
                <a:ea typeface="Arial" pitchFamily="34" charset="-122"/>
                <a:cs typeface="Arial" pitchFamily="34" charset="-120"/>
              </a:rPr>
              <a:t>PRIVATE SUBNET — ECS FARGATE / AGENTCORE</a:t>
            </a:r>
            <a:endParaRPr lang="en-US" sz="900" dirty="0"/>
          </a:p>
        </p:txBody>
      </p:sp>
      <p:sp>
        <p:nvSpPr>
          <p:cNvPr id="27" name="Shape 25"/>
          <p:cNvSpPr/>
          <p:nvPr/>
        </p:nvSpPr>
        <p:spPr>
          <a:xfrm>
            <a:off x="6007608" y="1673352"/>
            <a:ext cx="2569464" cy="402336"/>
          </a:xfrm>
          <a:prstGeom prst="rect">
            <a:avLst/>
          </a:prstGeom>
          <a:solidFill>
            <a:srgbClr val="FF9900"/>
          </a:solidFill>
          <a:ln/>
        </p:spPr>
      </p:sp>
      <p:sp>
        <p:nvSpPr>
          <p:cNvPr id="28" name="Text 26"/>
          <p:cNvSpPr/>
          <p:nvPr/>
        </p:nvSpPr>
        <p:spPr>
          <a:xfrm>
            <a:off x="6099048" y="1700784"/>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UI task (per-agent console)</a:t>
            </a:r>
            <a:endParaRPr lang="en-US" sz="800" dirty="0"/>
          </a:p>
        </p:txBody>
      </p:sp>
      <p:sp>
        <p:nvSpPr>
          <p:cNvPr id="29" name="Shape 27"/>
          <p:cNvSpPr/>
          <p:nvPr/>
        </p:nvSpPr>
        <p:spPr>
          <a:xfrm>
            <a:off x="6007608" y="2139696"/>
            <a:ext cx="2569464" cy="402336"/>
          </a:xfrm>
          <a:prstGeom prst="rect">
            <a:avLst/>
          </a:prstGeom>
          <a:solidFill>
            <a:srgbClr val="FF9900"/>
          </a:solidFill>
          <a:ln/>
        </p:spPr>
      </p:sp>
      <p:sp>
        <p:nvSpPr>
          <p:cNvPr id="30" name="Text 28"/>
          <p:cNvSpPr/>
          <p:nvPr/>
        </p:nvSpPr>
        <p:spPr>
          <a:xfrm>
            <a:off x="6099048" y="2167128"/>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Agent worker + SQS/EventBridge</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event-driven agents</a:t>
            </a:r>
            <a:endParaRPr lang="en-US" sz="800" dirty="0"/>
          </a:p>
        </p:txBody>
      </p:sp>
      <p:sp>
        <p:nvSpPr>
          <p:cNvPr id="31" name="Shape 29"/>
          <p:cNvSpPr/>
          <p:nvPr/>
        </p:nvSpPr>
        <p:spPr>
          <a:xfrm>
            <a:off x="6007608" y="2606040"/>
            <a:ext cx="2569464" cy="402336"/>
          </a:xfrm>
          <a:prstGeom prst="rect">
            <a:avLst/>
          </a:prstGeom>
          <a:solidFill>
            <a:srgbClr val="E7157B"/>
          </a:solidFill>
          <a:ln/>
        </p:spPr>
      </p:sp>
      <p:sp>
        <p:nvSpPr>
          <p:cNvPr id="32" name="Text 30"/>
          <p:cNvSpPr/>
          <p:nvPr/>
        </p:nvSpPr>
        <p:spPr>
          <a:xfrm>
            <a:off x="6099048" y="2633472"/>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MCP auth gateway</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all outbound tool calls</a:t>
            </a:r>
            <a:endParaRPr lang="en-US" sz="800" dirty="0"/>
          </a:p>
        </p:txBody>
      </p:sp>
      <p:sp>
        <p:nvSpPr>
          <p:cNvPr id="33" name="Shape 31"/>
          <p:cNvSpPr/>
          <p:nvPr/>
        </p:nvSpPr>
        <p:spPr>
          <a:xfrm>
            <a:off x="8887968" y="1307592"/>
            <a:ext cx="2331720" cy="1783080"/>
          </a:xfrm>
          <a:prstGeom prst="rect">
            <a:avLst/>
          </a:prstGeom>
          <a:ln w="12700">
            <a:solidFill>
              <a:srgbClr val="9AA7B4"/>
            </a:solidFill>
            <a:prstDash val="dash"/>
          </a:ln>
        </p:spPr>
      </p:sp>
      <p:sp>
        <p:nvSpPr>
          <p:cNvPr id="34" name="Text 32"/>
          <p:cNvSpPr/>
          <p:nvPr/>
        </p:nvSpPr>
        <p:spPr>
          <a:xfrm>
            <a:off x="8997696" y="1362456"/>
            <a:ext cx="2112264" cy="256032"/>
          </a:xfrm>
          <a:prstGeom prst="rect">
            <a:avLst/>
          </a:prstGeom>
          <a:noFill/>
          <a:ln/>
        </p:spPr>
        <p:txBody>
          <a:bodyPr wrap="square" lIns="0" tIns="0" rIns="0" bIns="0" rtlCol="0" anchor="ctr"/>
          <a:lstStyle/>
          <a:p>
            <a:pPr algn="l" indent="0" marL="0">
              <a:buNone/>
            </a:pPr>
            <a:r>
              <a:rPr lang="en-US" sz="900" b="1" spc="50" kern="0" dirty="0">
                <a:solidFill>
                  <a:srgbClr val="16A085"/>
                </a:solidFill>
                <a:latin typeface="Arial" pitchFamily="34" charset="0"/>
                <a:ea typeface="Arial" pitchFamily="34" charset="-122"/>
                <a:cs typeface="Arial" pitchFamily="34" charset="-120"/>
              </a:rPr>
              <a:t>MODEL LAYER — VPC ENDPOINT</a:t>
            </a:r>
            <a:endParaRPr lang="en-US" sz="900" dirty="0"/>
          </a:p>
        </p:txBody>
      </p:sp>
      <p:sp>
        <p:nvSpPr>
          <p:cNvPr id="35" name="Shape 33"/>
          <p:cNvSpPr/>
          <p:nvPr/>
        </p:nvSpPr>
        <p:spPr>
          <a:xfrm>
            <a:off x="8997696" y="1691640"/>
            <a:ext cx="2112264" cy="566928"/>
          </a:xfrm>
          <a:prstGeom prst="rect">
            <a:avLst/>
          </a:prstGeom>
          <a:solidFill>
            <a:srgbClr val="16A085"/>
          </a:solidFill>
          <a:ln/>
        </p:spPr>
      </p:sp>
      <p:sp>
        <p:nvSpPr>
          <p:cNvPr id="36" name="Text 34"/>
          <p:cNvSpPr/>
          <p:nvPr/>
        </p:nvSpPr>
        <p:spPr>
          <a:xfrm>
            <a:off x="9089136" y="1719072"/>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Amazon Bedrock</a:t>
            </a:r>
            <a:endParaRPr lang="en-US" sz="90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Claude (analysis + draft)</a:t>
            </a:r>
            <a:endParaRPr lang="en-US" sz="900" dirty="0"/>
          </a:p>
        </p:txBody>
      </p:sp>
      <p:sp>
        <p:nvSpPr>
          <p:cNvPr id="37" name="Shape 35"/>
          <p:cNvSpPr/>
          <p:nvPr/>
        </p:nvSpPr>
        <p:spPr>
          <a:xfrm>
            <a:off x="8997696" y="2350008"/>
            <a:ext cx="2112264" cy="566928"/>
          </a:xfrm>
          <a:prstGeom prst="rect">
            <a:avLst/>
          </a:prstGeom>
          <a:solidFill>
            <a:srgbClr val="16A085"/>
          </a:solidFill>
          <a:ln/>
        </p:spPr>
      </p:sp>
      <p:sp>
        <p:nvSpPr>
          <p:cNvPr id="38" name="Text 36"/>
          <p:cNvSpPr/>
          <p:nvPr/>
        </p:nvSpPr>
        <p:spPr>
          <a:xfrm>
            <a:off x="9089136" y="2377440"/>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Bedrock Guardrails</a:t>
            </a:r>
            <a:endParaRPr lang="en-US" sz="90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PII + content filters (mandatory)</a:t>
            </a:r>
            <a:endParaRPr lang="en-US" sz="900" dirty="0"/>
          </a:p>
        </p:txBody>
      </p:sp>
      <p:sp>
        <p:nvSpPr>
          <p:cNvPr id="39" name="Shape 37"/>
          <p:cNvSpPr/>
          <p:nvPr/>
        </p:nvSpPr>
        <p:spPr>
          <a:xfrm>
            <a:off x="3227832" y="3246120"/>
            <a:ext cx="8220456" cy="1143000"/>
          </a:xfrm>
          <a:prstGeom prst="rect">
            <a:avLst/>
          </a:prstGeom>
          <a:ln w="12700">
            <a:solidFill>
              <a:srgbClr val="9AA7B4"/>
            </a:solidFill>
            <a:prstDash val="dash"/>
          </a:ln>
        </p:spPr>
      </p:sp>
      <p:sp>
        <p:nvSpPr>
          <p:cNvPr id="40" name="Text 38"/>
          <p:cNvSpPr/>
          <p:nvPr/>
        </p:nvSpPr>
        <p:spPr>
          <a:xfrm>
            <a:off x="3337560" y="3300984"/>
            <a:ext cx="8001000" cy="256032"/>
          </a:xfrm>
          <a:prstGeom prst="rect">
            <a:avLst/>
          </a:prstGeom>
          <a:noFill/>
          <a:ln/>
        </p:spPr>
        <p:txBody>
          <a:bodyPr wrap="square" lIns="0" tIns="0" rIns="0" bIns="0" rtlCol="0" anchor="ctr"/>
          <a:lstStyle/>
          <a:p>
            <a:pPr algn="l" indent="0" marL="0">
              <a:buNone/>
            </a:pPr>
            <a:r>
              <a:rPr lang="en-US" sz="900" b="1" spc="50" kern="0" dirty="0">
                <a:solidFill>
                  <a:srgbClr val="7AA116"/>
                </a:solidFill>
                <a:latin typeface="Arial" pitchFamily="34" charset="0"/>
                <a:ea typeface="Arial" pitchFamily="34" charset="-122"/>
                <a:cs typeface="Arial" pitchFamily="34" charset="-120"/>
              </a:rPr>
              <a:t>DATA TIER — KMS CMK-ENCRYPTED</a:t>
            </a:r>
            <a:endParaRPr lang="en-US" sz="900" dirty="0"/>
          </a:p>
        </p:txBody>
      </p:sp>
      <p:sp>
        <p:nvSpPr>
          <p:cNvPr id="41" name="Shape 39"/>
          <p:cNvSpPr/>
          <p:nvPr/>
        </p:nvSpPr>
        <p:spPr>
          <a:xfrm>
            <a:off x="3337560" y="3630168"/>
            <a:ext cx="1876806" cy="621792"/>
          </a:xfrm>
          <a:prstGeom prst="rect">
            <a:avLst/>
          </a:prstGeom>
          <a:solidFill>
            <a:srgbClr val="16A085"/>
          </a:solidFill>
          <a:ln/>
        </p:spPr>
      </p:sp>
      <p:sp>
        <p:nvSpPr>
          <p:cNvPr id="42" name="Text 40"/>
          <p:cNvSpPr/>
          <p:nvPr/>
        </p:nvSpPr>
        <p:spPr>
          <a:xfrm>
            <a:off x="3429000"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Aurora / DynamoDB</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state</a:t>
            </a:r>
            <a:endParaRPr lang="en-US" sz="850" dirty="0"/>
          </a:p>
        </p:txBody>
      </p:sp>
      <p:sp>
        <p:nvSpPr>
          <p:cNvPr id="43" name="Shape 41"/>
          <p:cNvSpPr/>
          <p:nvPr/>
        </p:nvSpPr>
        <p:spPr>
          <a:xfrm>
            <a:off x="5378958" y="3630168"/>
            <a:ext cx="1876806" cy="621792"/>
          </a:xfrm>
          <a:prstGeom prst="rect">
            <a:avLst/>
          </a:prstGeom>
          <a:solidFill>
            <a:srgbClr val="E7157B"/>
          </a:solidFill>
          <a:ln/>
        </p:spPr>
      </p:sp>
      <p:sp>
        <p:nvSpPr>
          <p:cNvPr id="44" name="Text 42"/>
          <p:cNvSpPr/>
          <p:nvPr/>
        </p:nvSpPr>
        <p:spPr>
          <a:xfrm>
            <a:off x="5470398"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DynamoDB audit</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append-only</a:t>
            </a:r>
            <a:endParaRPr lang="en-US" sz="850" dirty="0"/>
          </a:p>
        </p:txBody>
      </p:sp>
      <p:sp>
        <p:nvSpPr>
          <p:cNvPr id="45" name="Shape 43"/>
          <p:cNvSpPr/>
          <p:nvPr/>
        </p:nvSpPr>
        <p:spPr>
          <a:xfrm>
            <a:off x="7420356" y="3630168"/>
            <a:ext cx="1876806" cy="621792"/>
          </a:xfrm>
          <a:prstGeom prst="rect">
            <a:avLst/>
          </a:prstGeom>
          <a:solidFill>
            <a:srgbClr val="7AA116"/>
          </a:solidFill>
          <a:ln/>
        </p:spPr>
      </p:sp>
      <p:sp>
        <p:nvSpPr>
          <p:cNvPr id="46" name="Text 44"/>
          <p:cNvSpPr/>
          <p:nvPr/>
        </p:nvSpPr>
        <p:spPr>
          <a:xfrm>
            <a:off x="7511796"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S3 Object Lock</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WORM</a:t>
            </a:r>
            <a:endParaRPr lang="en-US" sz="850" dirty="0"/>
          </a:p>
        </p:txBody>
      </p:sp>
      <p:sp>
        <p:nvSpPr>
          <p:cNvPr id="47" name="Shape 45"/>
          <p:cNvSpPr/>
          <p:nvPr/>
        </p:nvSpPr>
        <p:spPr>
          <a:xfrm>
            <a:off x="9461754" y="3630168"/>
            <a:ext cx="1876806" cy="621792"/>
          </a:xfrm>
          <a:prstGeom prst="rect">
            <a:avLst/>
          </a:prstGeom>
          <a:solidFill>
            <a:srgbClr val="7AA116"/>
          </a:solidFill>
          <a:ln/>
        </p:spPr>
      </p:sp>
      <p:sp>
        <p:nvSpPr>
          <p:cNvPr id="48" name="Text 46"/>
          <p:cNvSpPr/>
          <p:nvPr/>
        </p:nvSpPr>
        <p:spPr>
          <a:xfrm>
            <a:off x="9553194"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Secrets Manager</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scoped tokens</a:t>
            </a:r>
            <a:endParaRPr lang="en-US" sz="850" dirty="0"/>
          </a:p>
        </p:txBody>
      </p:sp>
      <p:sp>
        <p:nvSpPr>
          <p:cNvPr id="49" name="Shape 47"/>
          <p:cNvSpPr/>
          <p:nvPr/>
        </p:nvSpPr>
        <p:spPr>
          <a:xfrm>
            <a:off x="3227832" y="4544568"/>
            <a:ext cx="8220456" cy="713232"/>
          </a:xfrm>
          <a:prstGeom prst="rect">
            <a:avLst/>
          </a:prstGeom>
          <a:solidFill>
            <a:srgbClr val="1B2530"/>
          </a:solidFill>
          <a:ln/>
        </p:spPr>
      </p:sp>
      <p:sp>
        <p:nvSpPr>
          <p:cNvPr id="50" name="Text 48"/>
          <p:cNvSpPr/>
          <p:nvPr/>
        </p:nvSpPr>
        <p:spPr>
          <a:xfrm>
            <a:off x="3429000" y="4544568"/>
            <a:ext cx="7854696" cy="713232"/>
          </a:xfrm>
          <a:prstGeom prst="rect">
            <a:avLst/>
          </a:prstGeom>
          <a:noFill/>
          <a:ln/>
        </p:spPr>
        <p:txBody>
          <a:bodyPr wrap="square" lIns="0" tIns="0" rIns="0" bIns="0" rtlCol="0" anchor="ctr"/>
          <a:lstStyle/>
          <a:p>
            <a:pPr algn="l" indent="0" marL="0">
              <a:buNone/>
            </a:pPr>
            <a:r>
              <a:rPr lang="en-US" sz="1050" b="1" dirty="0">
                <a:solidFill>
                  <a:srgbClr val="FF9900"/>
                </a:solidFill>
                <a:latin typeface="Calibri" pitchFamily="34" charset="0"/>
                <a:ea typeface="Calibri" pitchFamily="34" charset="-122"/>
                <a:cs typeface="Calibri" pitchFamily="34" charset="-120"/>
              </a:rPr>
              <a:t>SECURITY &amp; OPS:  </a:t>
            </a:r>
            <a:pPr algn="l" indent="0" marL="0">
              <a:buNone/>
            </a:pPr>
            <a:r>
              <a:rPr lang="en-US" sz="1050" dirty="0">
                <a:solidFill>
                  <a:srgbClr val="E6ECF1"/>
                </a:solidFill>
                <a:latin typeface="Calibri" pitchFamily="34" charset="0"/>
                <a:ea typeface="Calibri" pitchFamily="34" charset="-122"/>
                <a:cs typeface="Calibri" pitchFamily="34" charset="-120"/>
              </a:rPr>
              <a:t>KMS CMK per data class  ·  IAM least privilege  ·  CloudWatch  ·  X-Ray  ·  CloudTrail  ·  Security Hub + Config</a:t>
            </a:r>
            <a:endParaRPr lang="en-US" sz="1050" dirty="0"/>
          </a:p>
        </p:txBody>
      </p:sp>
      <p:sp>
        <p:nvSpPr>
          <p:cNvPr id="51" name="Shape 49"/>
          <p:cNvSpPr/>
          <p:nvPr/>
        </p:nvSpPr>
        <p:spPr>
          <a:xfrm>
            <a:off x="2843784" y="1325880"/>
            <a:ext cx="292608" cy="292608"/>
          </a:xfrm>
          <a:prstGeom prst="ellipse">
            <a:avLst/>
          </a:prstGeom>
          <a:solidFill>
            <a:srgbClr val="FF9900"/>
          </a:solidFill>
          <a:ln w="19050">
            <a:solidFill>
              <a:srgbClr val="FFFFFF"/>
            </a:solidFill>
            <a:prstDash val="solid"/>
          </a:ln>
        </p:spPr>
      </p:sp>
      <p:sp>
        <p:nvSpPr>
          <p:cNvPr id="52" name="Text 50"/>
          <p:cNvSpPr/>
          <p:nvPr/>
        </p:nvSpPr>
        <p:spPr>
          <a:xfrm>
            <a:off x="2843784" y="132588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1</a:t>
            </a:r>
            <a:endParaRPr lang="en-US" sz="1100" dirty="0"/>
          </a:p>
        </p:txBody>
      </p:sp>
      <p:sp>
        <p:nvSpPr>
          <p:cNvPr id="53" name="Shape 51"/>
          <p:cNvSpPr/>
          <p:nvPr/>
        </p:nvSpPr>
        <p:spPr>
          <a:xfrm>
            <a:off x="2843784" y="2039112"/>
            <a:ext cx="292608" cy="292608"/>
          </a:xfrm>
          <a:prstGeom prst="ellipse">
            <a:avLst/>
          </a:prstGeom>
          <a:solidFill>
            <a:srgbClr val="FF9900"/>
          </a:solidFill>
          <a:ln w="19050">
            <a:solidFill>
              <a:srgbClr val="FFFFFF"/>
            </a:solidFill>
            <a:prstDash val="solid"/>
          </a:ln>
        </p:spPr>
      </p:sp>
      <p:sp>
        <p:nvSpPr>
          <p:cNvPr id="54" name="Text 52"/>
          <p:cNvSpPr/>
          <p:nvPr/>
        </p:nvSpPr>
        <p:spPr>
          <a:xfrm>
            <a:off x="2843784" y="203911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2</a:t>
            </a:r>
            <a:endParaRPr lang="en-US" sz="1100" dirty="0"/>
          </a:p>
        </p:txBody>
      </p:sp>
      <p:sp>
        <p:nvSpPr>
          <p:cNvPr id="55" name="Shape 53"/>
          <p:cNvSpPr/>
          <p:nvPr/>
        </p:nvSpPr>
        <p:spPr>
          <a:xfrm>
            <a:off x="5678424" y="2176272"/>
            <a:ext cx="292608" cy="292608"/>
          </a:xfrm>
          <a:prstGeom prst="ellipse">
            <a:avLst/>
          </a:prstGeom>
          <a:solidFill>
            <a:srgbClr val="FF9900"/>
          </a:solidFill>
          <a:ln w="19050">
            <a:solidFill>
              <a:srgbClr val="FFFFFF"/>
            </a:solidFill>
            <a:prstDash val="solid"/>
          </a:ln>
        </p:spPr>
      </p:sp>
      <p:sp>
        <p:nvSpPr>
          <p:cNvPr id="56" name="Text 54"/>
          <p:cNvSpPr/>
          <p:nvPr/>
        </p:nvSpPr>
        <p:spPr>
          <a:xfrm>
            <a:off x="5678424" y="217627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3</a:t>
            </a:r>
            <a:endParaRPr lang="en-US" sz="1100" dirty="0"/>
          </a:p>
        </p:txBody>
      </p:sp>
      <p:sp>
        <p:nvSpPr>
          <p:cNvPr id="57" name="Shape 55"/>
          <p:cNvSpPr/>
          <p:nvPr/>
        </p:nvSpPr>
        <p:spPr>
          <a:xfrm>
            <a:off x="2843784" y="2788920"/>
            <a:ext cx="292608" cy="292608"/>
          </a:xfrm>
          <a:prstGeom prst="ellipse">
            <a:avLst/>
          </a:prstGeom>
          <a:solidFill>
            <a:srgbClr val="FF9900"/>
          </a:solidFill>
          <a:ln w="19050">
            <a:solidFill>
              <a:srgbClr val="FFFFFF"/>
            </a:solidFill>
            <a:prstDash val="solid"/>
          </a:ln>
        </p:spPr>
      </p:sp>
      <p:sp>
        <p:nvSpPr>
          <p:cNvPr id="58" name="Text 56"/>
          <p:cNvSpPr/>
          <p:nvPr/>
        </p:nvSpPr>
        <p:spPr>
          <a:xfrm>
            <a:off x="2843784" y="278892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4</a:t>
            </a:r>
            <a:endParaRPr lang="en-US" sz="1100" dirty="0"/>
          </a:p>
        </p:txBody>
      </p:sp>
      <p:sp>
        <p:nvSpPr>
          <p:cNvPr id="59" name="Shape 57"/>
          <p:cNvSpPr/>
          <p:nvPr/>
        </p:nvSpPr>
        <p:spPr>
          <a:xfrm>
            <a:off x="7146036" y="3054096"/>
            <a:ext cx="292608" cy="292608"/>
          </a:xfrm>
          <a:prstGeom prst="ellipse">
            <a:avLst/>
          </a:prstGeom>
          <a:solidFill>
            <a:srgbClr val="FF9900"/>
          </a:solidFill>
          <a:ln w="19050">
            <a:solidFill>
              <a:srgbClr val="FFFFFF"/>
            </a:solidFill>
            <a:prstDash val="solid"/>
          </a:ln>
        </p:spPr>
      </p:sp>
      <p:sp>
        <p:nvSpPr>
          <p:cNvPr id="60" name="Text 58"/>
          <p:cNvSpPr/>
          <p:nvPr/>
        </p:nvSpPr>
        <p:spPr>
          <a:xfrm>
            <a:off x="7146036"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5</a:t>
            </a:r>
            <a:endParaRPr lang="en-US" sz="1100" dirty="0"/>
          </a:p>
        </p:txBody>
      </p:sp>
      <p:sp>
        <p:nvSpPr>
          <p:cNvPr id="61" name="Shape 59"/>
          <p:cNvSpPr/>
          <p:nvPr/>
        </p:nvSpPr>
        <p:spPr>
          <a:xfrm>
            <a:off x="8705088" y="1856232"/>
            <a:ext cx="292608" cy="292608"/>
          </a:xfrm>
          <a:prstGeom prst="ellipse">
            <a:avLst/>
          </a:prstGeom>
          <a:solidFill>
            <a:srgbClr val="FF9900"/>
          </a:solidFill>
          <a:ln w="19050">
            <a:solidFill>
              <a:srgbClr val="FFFFFF"/>
            </a:solidFill>
            <a:prstDash val="solid"/>
          </a:ln>
        </p:spPr>
      </p:sp>
      <p:sp>
        <p:nvSpPr>
          <p:cNvPr id="62" name="Text 60"/>
          <p:cNvSpPr/>
          <p:nvPr/>
        </p:nvSpPr>
        <p:spPr>
          <a:xfrm>
            <a:off x="8705088" y="185623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6</a:t>
            </a:r>
            <a:endParaRPr lang="en-US" sz="1100" dirty="0"/>
          </a:p>
        </p:txBody>
      </p:sp>
      <p:sp>
        <p:nvSpPr>
          <p:cNvPr id="63" name="Shape 61"/>
          <p:cNvSpPr/>
          <p:nvPr/>
        </p:nvSpPr>
        <p:spPr>
          <a:xfrm>
            <a:off x="11082528" y="3099816"/>
            <a:ext cx="292608" cy="292608"/>
          </a:xfrm>
          <a:prstGeom prst="ellipse">
            <a:avLst/>
          </a:prstGeom>
          <a:solidFill>
            <a:srgbClr val="FF9900"/>
          </a:solidFill>
          <a:ln w="19050">
            <a:solidFill>
              <a:srgbClr val="FFFFFF"/>
            </a:solidFill>
            <a:prstDash val="solid"/>
          </a:ln>
        </p:spPr>
      </p:sp>
      <p:sp>
        <p:nvSpPr>
          <p:cNvPr id="64" name="Text 62"/>
          <p:cNvSpPr/>
          <p:nvPr/>
        </p:nvSpPr>
        <p:spPr>
          <a:xfrm>
            <a:off x="11082528" y="309981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7</a:t>
            </a:r>
            <a:endParaRPr lang="en-US" sz="1100" dirty="0"/>
          </a:p>
        </p:txBody>
      </p:sp>
      <p:sp>
        <p:nvSpPr>
          <p:cNvPr id="65" name="Shape 63"/>
          <p:cNvSpPr/>
          <p:nvPr/>
        </p:nvSpPr>
        <p:spPr>
          <a:xfrm>
            <a:off x="8321040" y="3054096"/>
            <a:ext cx="292608" cy="292608"/>
          </a:xfrm>
          <a:prstGeom prst="ellipse">
            <a:avLst/>
          </a:prstGeom>
          <a:solidFill>
            <a:srgbClr val="FF9900"/>
          </a:solidFill>
          <a:ln w="19050">
            <a:solidFill>
              <a:srgbClr val="FFFFFF"/>
            </a:solidFill>
            <a:prstDash val="solid"/>
          </a:ln>
        </p:spPr>
      </p:sp>
      <p:sp>
        <p:nvSpPr>
          <p:cNvPr id="66" name="Text 64"/>
          <p:cNvSpPr/>
          <p:nvPr/>
        </p:nvSpPr>
        <p:spPr>
          <a:xfrm>
            <a:off x="8321040"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8</a:t>
            </a:r>
            <a:endParaRPr lang="en-US" sz="1100" dirty="0"/>
          </a:p>
        </p:txBody>
      </p:sp>
      <p:sp>
        <p:nvSpPr>
          <p:cNvPr id="67" name="Text 65"/>
          <p:cNvSpPr/>
          <p:nvPr/>
        </p:nvSpPr>
        <p:spPr>
          <a:xfrm>
            <a:off x="548640" y="5715000"/>
            <a:ext cx="11155680" cy="868680"/>
          </a:xfrm>
          <a:prstGeom prst="rect">
            <a:avLst/>
          </a:prstGeom>
          <a:noFill/>
          <a:ln/>
        </p:spPr>
        <p:txBody>
          <a:bodyPr wrap="square" lIns="0" tIns="0" rIns="0" bIns="0" rtlCol="0" anchor="t"/>
          <a:lstStyle/>
          <a:p>
            <a:pPr algn="l" indent="0" marL="0">
              <a:lnSpc>
                <a:spcPct val="103000"/>
              </a:lnSpc>
              <a:buNone/>
            </a:pPr>
            <a:r>
              <a:rPr lang="en-US" sz="900" dirty="0">
                <a:solidFill>
                  <a:srgbClr val="232F3E"/>
                </a:solidFill>
                <a:latin typeface="Calibri" pitchFamily="34" charset="0"/>
                <a:ea typeface="Calibri" pitchFamily="34" charset="-122"/>
                <a:cs typeface="Calibri" pitchFamily="34" charset="-120"/>
              </a:rPr>
              <a:t>1 sign-in   2 SAML federation (MFA at IdP; Cognito issues JWT — no credentials in AWS)   3 authenticated session   4 systems-of-record read over private connectivity   5 queue/scale for event-driven agents   6 model calls stay in-VPC via Bedrock + Guardrails endpoint   7 every action persisted to append-only audit   8 tools reachable only through the governed MCP gateway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Land-first (low decision-risk)</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01</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&amp; Family Services Concierge</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routine inquiries, 24/7 and multilingual — humans own every account action</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~4M of 5.4M — FAFSA-cycle calls to the federal center went UNANSWERED (2024-25)</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~$1.2M–$1.6M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03</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Educator Copilot</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first-draft lessons, rubrics, quizzes &amp; differentiation in minutes — the educator edits and owns every output</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~53 hrs/wk — teachers work vs. 44 for comparable adults — a 9-hr gap (RAND 2024)</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~$11.9K–$24.9K / teacher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07</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Document &amp; Accessibility Services</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Textract intake, WCAG 2.1 AA remediation and multilingual output — staff sign off on accessibility</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Apr 26 2027 — ADA Title II WCAG 2.1 AA deadline (≥50k pop.) / 2028 smaller</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$30K–$815K exposure</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08</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Operations / IT Service Desk</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repetitive tickets, ground answers in approved runbooks — humans gate privileged actions</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20–50% — of help-desk calls are password issues (~$70/reset loaded)</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~$300K / yr</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Higher-governance (sequence after)</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02</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Personalized Tutor &amp; Study Companion</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24/7 Socratic help grounded in the course's own materials — escalates to a human on distress</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&gt;2× — more learned, in less time, vs. an active-learning class (Harvard RCT)</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~$1.2M–$2.5M+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04</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Assessment, Grading &amp; Feedback</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draft score + rationale against the approved rubric — the instructor stays grader of record</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~9.9 hrs/wk — teachers spend grading; 95% take it home (2025 survey)</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~$4,270 / instructor / yr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05</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Success &amp; Proactive Engagement</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surface at-risk signals early and draft the nudge — an advisor approves every intervention</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22.4% — of first-year students don't return for year two (NSC 2025)</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~$5.6M / yr</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06</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Pathway Navigator</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plain-language degree audits and transfer-credit mapping — an advisor verifies every plan</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~43% — of credits lost on average when students transfer (~a semester)</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~$13,081–$26,396 / student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Governance &amp; Compliance Spine</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Every agent inherits the same controls — mapped to the regulations education buyers are examined against.</a:t>
            </a:r>
            <a:endParaRPr lang="en-US" sz="1300" dirty="0"/>
          </a:p>
        </p:txBody>
      </p:sp>
      <p:sp>
        <p:nvSpPr>
          <p:cNvPr id="5" name="Shape 3"/>
          <p:cNvSpPr/>
          <p:nvPr/>
        </p:nvSpPr>
        <p:spPr>
          <a:xfrm>
            <a:off x="713232" y="1463040"/>
            <a:ext cx="10771632" cy="411480"/>
          </a:xfrm>
          <a:prstGeom prst="rect">
            <a:avLst/>
          </a:prstGeom>
          <a:solidFill>
            <a:srgbClr val="232F3E"/>
          </a:solidFill>
          <a:ln/>
        </p:spPr>
      </p:sp>
      <p:sp>
        <p:nvSpPr>
          <p:cNvPr id="6" name="Text 4"/>
          <p:cNvSpPr/>
          <p:nvPr/>
        </p:nvSpPr>
        <p:spPr>
          <a:xfrm>
            <a:off x="850392" y="1463040"/>
            <a:ext cx="310896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Regulation / framework</a:t>
            </a:r>
            <a:endParaRPr lang="en-US" sz="1200" dirty="0"/>
          </a:p>
        </p:txBody>
      </p:sp>
      <p:sp>
        <p:nvSpPr>
          <p:cNvPr id="7" name="Text 5"/>
          <p:cNvSpPr/>
          <p:nvPr/>
        </p:nvSpPr>
        <p:spPr>
          <a:xfrm>
            <a:off x="4233672" y="1463040"/>
            <a:ext cx="7114032"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Mapped control on the platform</a:t>
            </a:r>
            <a:endParaRPr lang="en-US" sz="1200" dirty="0"/>
          </a:p>
        </p:txBody>
      </p:sp>
      <p:sp>
        <p:nvSpPr>
          <p:cNvPr id="8" name="Shape 6"/>
          <p:cNvSpPr/>
          <p:nvPr/>
        </p:nvSpPr>
        <p:spPr>
          <a:xfrm>
            <a:off x="713232" y="1874520"/>
            <a:ext cx="10771632" cy="658368"/>
          </a:xfrm>
          <a:prstGeom prst="rect">
            <a:avLst/>
          </a:prstGeom>
          <a:solidFill>
            <a:srgbClr val="FFFFFF"/>
          </a:solidFill>
          <a:ln w="6350">
            <a:solidFill>
              <a:srgbClr val="D5DBE1"/>
            </a:solidFill>
            <a:prstDash val="solid"/>
          </a:ln>
        </p:spPr>
      </p:sp>
      <p:sp>
        <p:nvSpPr>
          <p:cNvPr id="9" name="Shape 7"/>
          <p:cNvSpPr/>
          <p:nvPr/>
        </p:nvSpPr>
        <p:spPr>
          <a:xfrm>
            <a:off x="4096512" y="1874520"/>
            <a:ext cx="10973" cy="658368"/>
          </a:xfrm>
          <a:prstGeom prst="rect">
            <a:avLst/>
          </a:prstGeom>
          <a:solidFill>
            <a:srgbClr val="D5DBE1"/>
          </a:solidFill>
          <a:ln/>
        </p:spPr>
      </p:sp>
      <p:sp>
        <p:nvSpPr>
          <p:cNvPr id="10" name="Text 8"/>
          <p:cNvSpPr/>
          <p:nvPr/>
        </p:nvSpPr>
        <p:spPr>
          <a:xfrm>
            <a:off x="850392" y="187452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FERPA (student records)</a:t>
            </a:r>
            <a:endParaRPr lang="en-US" sz="1150" dirty="0"/>
          </a:p>
        </p:txBody>
      </p:sp>
      <p:sp>
        <p:nvSpPr>
          <p:cNvPr id="11" name="Text 9"/>
          <p:cNvSpPr/>
          <p:nvPr/>
        </p:nvSpPr>
        <p:spPr>
          <a:xfrm>
            <a:off x="4261104" y="187452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Per-customer VPC + KMS CMK; gateway-scoped reads; PII masked before model calls; append-only access audit</a:t>
            </a:r>
            <a:endParaRPr lang="en-US" sz="1100" dirty="0"/>
          </a:p>
        </p:txBody>
      </p:sp>
      <p:sp>
        <p:nvSpPr>
          <p:cNvPr id="12" name="Shape 10"/>
          <p:cNvSpPr/>
          <p:nvPr/>
        </p:nvSpPr>
        <p:spPr>
          <a:xfrm>
            <a:off x="713232" y="2532888"/>
            <a:ext cx="10771632" cy="658368"/>
          </a:xfrm>
          <a:prstGeom prst="rect">
            <a:avLst/>
          </a:prstGeom>
          <a:solidFill>
            <a:srgbClr val="E9ECEF"/>
          </a:solidFill>
          <a:ln w="6350">
            <a:solidFill>
              <a:srgbClr val="D5DBE1"/>
            </a:solidFill>
            <a:prstDash val="solid"/>
          </a:ln>
        </p:spPr>
      </p:sp>
      <p:sp>
        <p:nvSpPr>
          <p:cNvPr id="13" name="Shape 11"/>
          <p:cNvSpPr/>
          <p:nvPr/>
        </p:nvSpPr>
        <p:spPr>
          <a:xfrm>
            <a:off x="4096512" y="2532888"/>
            <a:ext cx="10973" cy="658368"/>
          </a:xfrm>
          <a:prstGeom prst="rect">
            <a:avLst/>
          </a:prstGeom>
          <a:solidFill>
            <a:srgbClr val="D5DBE1"/>
          </a:solidFill>
          <a:ln/>
        </p:spPr>
      </p:sp>
      <p:sp>
        <p:nvSpPr>
          <p:cNvPr id="14" name="Text 12"/>
          <p:cNvSpPr/>
          <p:nvPr/>
        </p:nvSpPr>
        <p:spPr>
          <a:xfrm>
            <a:off x="850392" y="2532888"/>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COPPA (under-13)</a:t>
            </a:r>
            <a:endParaRPr lang="en-US" sz="1150" dirty="0"/>
          </a:p>
        </p:txBody>
      </p:sp>
      <p:sp>
        <p:nvSpPr>
          <p:cNvPr id="15" name="Text 13"/>
          <p:cNvSpPr/>
          <p:nvPr/>
        </p:nvSpPr>
        <p:spPr>
          <a:xfrm>
            <a:off x="4261104" y="2532888"/>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Role-scoped federation; data-minimizing retention boundaries; consent-gated connectors</a:t>
            </a:r>
            <a:endParaRPr lang="en-US" sz="1100" dirty="0"/>
          </a:p>
        </p:txBody>
      </p:sp>
      <p:sp>
        <p:nvSpPr>
          <p:cNvPr id="16" name="Shape 14"/>
          <p:cNvSpPr/>
          <p:nvPr/>
        </p:nvSpPr>
        <p:spPr>
          <a:xfrm>
            <a:off x="713232" y="3191256"/>
            <a:ext cx="10771632" cy="658368"/>
          </a:xfrm>
          <a:prstGeom prst="rect">
            <a:avLst/>
          </a:prstGeom>
          <a:solidFill>
            <a:srgbClr val="FFFFFF"/>
          </a:solidFill>
          <a:ln w="6350">
            <a:solidFill>
              <a:srgbClr val="D5DBE1"/>
            </a:solidFill>
            <a:prstDash val="solid"/>
          </a:ln>
        </p:spPr>
      </p:sp>
      <p:sp>
        <p:nvSpPr>
          <p:cNvPr id="17" name="Shape 15"/>
          <p:cNvSpPr/>
          <p:nvPr/>
        </p:nvSpPr>
        <p:spPr>
          <a:xfrm>
            <a:off x="4096512" y="3191256"/>
            <a:ext cx="10973" cy="658368"/>
          </a:xfrm>
          <a:prstGeom prst="rect">
            <a:avLst/>
          </a:prstGeom>
          <a:solidFill>
            <a:srgbClr val="D5DBE1"/>
          </a:solidFill>
          <a:ln/>
        </p:spPr>
      </p:sp>
      <p:sp>
        <p:nvSpPr>
          <p:cNvPr id="18" name="Text 16"/>
          <p:cNvSpPr/>
          <p:nvPr/>
        </p:nvSpPr>
        <p:spPr>
          <a:xfrm>
            <a:off x="850392" y="3191256"/>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IDEA / ADA Title II (accessibility)</a:t>
            </a:r>
            <a:endParaRPr lang="en-US" sz="1150" dirty="0"/>
          </a:p>
        </p:txBody>
      </p:sp>
      <p:sp>
        <p:nvSpPr>
          <p:cNvPr id="19" name="Text 17"/>
          <p:cNvSpPr/>
          <p:nvPr/>
        </p:nvSpPr>
        <p:spPr>
          <a:xfrm>
            <a:off x="4261104" y="3191256"/>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WCAG 2.1 AA remediation pipeline (Textract); staff accessibility sign-off; 2027/2028-deadline ready</a:t>
            </a:r>
            <a:endParaRPr lang="en-US" sz="1100" dirty="0"/>
          </a:p>
        </p:txBody>
      </p:sp>
      <p:sp>
        <p:nvSpPr>
          <p:cNvPr id="20" name="Shape 18"/>
          <p:cNvSpPr/>
          <p:nvPr/>
        </p:nvSpPr>
        <p:spPr>
          <a:xfrm>
            <a:off x="713232" y="3849624"/>
            <a:ext cx="10771632" cy="658368"/>
          </a:xfrm>
          <a:prstGeom prst="rect">
            <a:avLst/>
          </a:prstGeom>
          <a:solidFill>
            <a:srgbClr val="E9ECEF"/>
          </a:solidFill>
          <a:ln w="6350">
            <a:solidFill>
              <a:srgbClr val="D5DBE1"/>
            </a:solidFill>
            <a:prstDash val="solid"/>
          </a:ln>
        </p:spPr>
      </p:sp>
      <p:sp>
        <p:nvSpPr>
          <p:cNvPr id="21" name="Shape 19"/>
          <p:cNvSpPr/>
          <p:nvPr/>
        </p:nvSpPr>
        <p:spPr>
          <a:xfrm>
            <a:off x="4096512" y="3849624"/>
            <a:ext cx="10973" cy="658368"/>
          </a:xfrm>
          <a:prstGeom prst="rect">
            <a:avLst/>
          </a:prstGeom>
          <a:solidFill>
            <a:srgbClr val="D5DBE1"/>
          </a:solidFill>
          <a:ln/>
        </p:spPr>
      </p:sp>
      <p:sp>
        <p:nvSpPr>
          <p:cNvPr id="22" name="Text 20"/>
          <p:cNvSpPr/>
          <p:nvPr/>
        </p:nvSpPr>
        <p:spPr>
          <a:xfrm>
            <a:off x="850392" y="3849624"/>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GLBA (financial-aid data)</a:t>
            </a:r>
            <a:endParaRPr lang="en-US" sz="1150" dirty="0"/>
          </a:p>
        </p:txBody>
      </p:sp>
      <p:sp>
        <p:nvSpPr>
          <p:cNvPr id="23" name="Text 21"/>
          <p:cNvSpPr/>
          <p:nvPr/>
        </p:nvSpPr>
        <p:spPr>
          <a:xfrm>
            <a:off x="4261104" y="3849624"/>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Encryption in transit/at rest; least-privilege IAM; Secrets Manager; CloudTrail + Security Hub</a:t>
            </a:r>
            <a:endParaRPr lang="en-US" sz="1100" dirty="0"/>
          </a:p>
        </p:txBody>
      </p:sp>
      <p:sp>
        <p:nvSpPr>
          <p:cNvPr id="24" name="Shape 22"/>
          <p:cNvSpPr/>
          <p:nvPr/>
        </p:nvSpPr>
        <p:spPr>
          <a:xfrm>
            <a:off x="713232" y="4507992"/>
            <a:ext cx="10771632" cy="658368"/>
          </a:xfrm>
          <a:prstGeom prst="rect">
            <a:avLst/>
          </a:prstGeom>
          <a:solidFill>
            <a:srgbClr val="FFFFFF"/>
          </a:solidFill>
          <a:ln w="6350">
            <a:solidFill>
              <a:srgbClr val="D5DBE1"/>
            </a:solidFill>
            <a:prstDash val="solid"/>
          </a:ln>
        </p:spPr>
      </p:sp>
      <p:sp>
        <p:nvSpPr>
          <p:cNvPr id="25" name="Shape 23"/>
          <p:cNvSpPr/>
          <p:nvPr/>
        </p:nvSpPr>
        <p:spPr>
          <a:xfrm>
            <a:off x="4096512" y="4507992"/>
            <a:ext cx="10973" cy="658368"/>
          </a:xfrm>
          <a:prstGeom prst="rect">
            <a:avLst/>
          </a:prstGeom>
          <a:solidFill>
            <a:srgbClr val="D5DBE1"/>
          </a:solidFill>
          <a:ln/>
        </p:spPr>
      </p:sp>
      <p:sp>
        <p:nvSpPr>
          <p:cNvPr id="26" name="Text 24"/>
          <p:cNvSpPr/>
          <p:nvPr/>
        </p:nvSpPr>
        <p:spPr>
          <a:xfrm>
            <a:off x="850392" y="4507992"/>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Title VI (non-discrimination)</a:t>
            </a:r>
            <a:endParaRPr lang="en-US" sz="1150" dirty="0"/>
          </a:p>
        </p:txBody>
      </p:sp>
      <p:sp>
        <p:nvSpPr>
          <p:cNvPr id="27" name="Text 25"/>
          <p:cNvSpPr/>
          <p:nvPr/>
        </p:nvSpPr>
        <p:spPr>
          <a:xfrm>
            <a:off x="4261104" y="4507992"/>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Human gate on consequential actions; auditable flag/contact rationale (esp. Student Success)</a:t>
            </a:r>
            <a:endParaRPr lang="en-US" sz="1100" dirty="0"/>
          </a:p>
        </p:txBody>
      </p:sp>
      <p:sp>
        <p:nvSpPr>
          <p:cNvPr id="28" name="Shape 26"/>
          <p:cNvSpPr/>
          <p:nvPr/>
        </p:nvSpPr>
        <p:spPr>
          <a:xfrm>
            <a:off x="713232" y="5166360"/>
            <a:ext cx="10771632" cy="658368"/>
          </a:xfrm>
          <a:prstGeom prst="rect">
            <a:avLst/>
          </a:prstGeom>
          <a:solidFill>
            <a:srgbClr val="E9ECEF"/>
          </a:solidFill>
          <a:ln w="6350">
            <a:solidFill>
              <a:srgbClr val="D5DBE1"/>
            </a:solidFill>
            <a:prstDash val="solid"/>
          </a:ln>
        </p:spPr>
      </p:sp>
      <p:sp>
        <p:nvSpPr>
          <p:cNvPr id="29" name="Shape 27"/>
          <p:cNvSpPr/>
          <p:nvPr/>
        </p:nvSpPr>
        <p:spPr>
          <a:xfrm>
            <a:off x="4096512" y="5166360"/>
            <a:ext cx="10973" cy="658368"/>
          </a:xfrm>
          <a:prstGeom prst="rect">
            <a:avLst/>
          </a:prstGeom>
          <a:solidFill>
            <a:srgbClr val="D5DBE1"/>
          </a:solidFill>
          <a:ln/>
        </p:spPr>
      </p:sp>
      <p:sp>
        <p:nvSpPr>
          <p:cNvPr id="30" name="Text 28"/>
          <p:cNvSpPr/>
          <p:nvPr/>
        </p:nvSpPr>
        <p:spPr>
          <a:xfrm>
            <a:off x="850392" y="516636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NIST AI RMF</a:t>
            </a:r>
            <a:endParaRPr lang="en-US" sz="1150" dirty="0"/>
          </a:p>
        </p:txBody>
      </p:sp>
      <p:sp>
        <p:nvSpPr>
          <p:cNvPr id="31" name="Text 29"/>
          <p:cNvSpPr/>
          <p:nvPr/>
        </p:nvSpPr>
        <p:spPr>
          <a:xfrm>
            <a:off x="4261104" y="516636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Govern/Map/Measure/Manage: Guardrails, explainable outputs, HITL, continuous CloudWatch + audit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Maturity Ladder</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Climb at the institution's own pace — each rung reuses the same governed control plane.</a:t>
            </a:r>
            <a:endParaRPr lang="en-US" sz="1300" dirty="0"/>
          </a:p>
        </p:txBody>
      </p:sp>
      <p:sp>
        <p:nvSpPr>
          <p:cNvPr id="5" name="Shape 3"/>
          <p:cNvSpPr/>
          <p:nvPr/>
        </p:nvSpPr>
        <p:spPr>
          <a:xfrm>
            <a:off x="713232" y="1554480"/>
            <a:ext cx="2578608" cy="3291840"/>
          </a:xfrm>
          <a:prstGeom prst="rect">
            <a:avLst/>
          </a:prstGeom>
          <a:solidFill>
            <a:srgbClr val="16A085"/>
          </a:solidFill>
          <a:ln/>
          <a:effectLst>
            <a:outerShdw sx="100000" sy="100000" kx="0" ky="0" algn="bl" rotWithShape="0" blurRad="63500" dist="25400" dir="5400000">
              <a:srgbClr val="000000">
                <a:alpha val="10000"/>
              </a:srgbClr>
            </a:outerShdw>
          </a:effectLst>
        </p:spPr>
      </p:sp>
      <p:sp>
        <p:nvSpPr>
          <p:cNvPr id="6" name="Text 4"/>
          <p:cNvSpPr/>
          <p:nvPr/>
        </p:nvSpPr>
        <p:spPr>
          <a:xfrm>
            <a:off x="9144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1 · Assist</a:t>
            </a:r>
            <a:endParaRPr lang="en-US" sz="1700" dirty="0"/>
          </a:p>
        </p:txBody>
      </p:sp>
      <p:sp>
        <p:nvSpPr>
          <p:cNvPr id="7" name="Text 5"/>
          <p:cNvSpPr/>
          <p:nvPr/>
        </p:nvSpPr>
        <p:spPr>
          <a:xfrm>
            <a:off x="9326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Read-only answers &amp; drafts (Concierge, Service Desk). Humans act. Fastest proof, lowest risk.</a:t>
            </a:r>
            <a:endParaRPr lang="en-US" sz="1200" dirty="0"/>
          </a:p>
        </p:txBody>
      </p:sp>
      <p:sp>
        <p:nvSpPr>
          <p:cNvPr id="8" name="Shape 6"/>
          <p:cNvSpPr/>
          <p:nvPr/>
        </p:nvSpPr>
        <p:spPr>
          <a:xfrm>
            <a:off x="3456432" y="1554480"/>
            <a:ext cx="2578608" cy="3291840"/>
          </a:xfrm>
          <a:prstGeom prst="rect">
            <a:avLst/>
          </a:prstGeom>
          <a:solidFill>
            <a:srgbClr val="FF9900"/>
          </a:solidFill>
          <a:ln/>
          <a:effectLst>
            <a:outerShdw sx="100000" sy="100000" kx="0" ky="0" algn="bl" rotWithShape="0" blurRad="63500" dist="25400" dir="5400000">
              <a:srgbClr val="000000">
                <a:alpha val="10000"/>
              </a:srgbClr>
            </a:outerShdw>
          </a:effectLst>
        </p:spPr>
      </p:sp>
      <p:sp>
        <p:nvSpPr>
          <p:cNvPr id="9" name="Text 7"/>
          <p:cNvSpPr/>
          <p:nvPr/>
        </p:nvSpPr>
        <p:spPr>
          <a:xfrm>
            <a:off x="36576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2 · Draft</a:t>
            </a:r>
            <a:endParaRPr lang="en-US" sz="1700" dirty="0"/>
          </a:p>
        </p:txBody>
      </p:sp>
      <p:sp>
        <p:nvSpPr>
          <p:cNvPr id="10" name="Text 8"/>
          <p:cNvSpPr/>
          <p:nvPr/>
        </p:nvSpPr>
        <p:spPr>
          <a:xfrm>
            <a:off x="36758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AI drafts consequential artifacts (lessons, grades, plans); humans approve every one.</a:t>
            </a:r>
            <a:endParaRPr lang="en-US" sz="1200" dirty="0"/>
          </a:p>
        </p:txBody>
      </p:sp>
      <p:sp>
        <p:nvSpPr>
          <p:cNvPr id="11" name="Shape 9"/>
          <p:cNvSpPr/>
          <p:nvPr/>
        </p:nvSpPr>
        <p:spPr>
          <a:xfrm>
            <a:off x="6199632" y="1554480"/>
            <a:ext cx="2578608" cy="3291840"/>
          </a:xfrm>
          <a:prstGeom prst="rect">
            <a:avLst/>
          </a:prstGeom>
          <a:solidFill>
            <a:srgbClr val="E7157B"/>
          </a:solidFill>
          <a:ln/>
          <a:effectLst>
            <a:outerShdw sx="100000" sy="100000" kx="0" ky="0" algn="bl" rotWithShape="0" blurRad="63500" dist="25400" dir="5400000">
              <a:srgbClr val="000000">
                <a:alpha val="10000"/>
              </a:srgbClr>
            </a:outerShdw>
          </a:effectLst>
        </p:spPr>
      </p:sp>
      <p:sp>
        <p:nvSpPr>
          <p:cNvPr id="12" name="Text 10"/>
          <p:cNvSpPr/>
          <p:nvPr/>
        </p:nvSpPr>
        <p:spPr>
          <a:xfrm>
            <a:off x="64008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3 · Proactive</a:t>
            </a:r>
            <a:endParaRPr lang="en-US" sz="1700" dirty="0"/>
          </a:p>
        </p:txBody>
      </p:sp>
      <p:sp>
        <p:nvSpPr>
          <p:cNvPr id="13" name="Text 11"/>
          <p:cNvSpPr/>
          <p:nvPr/>
        </p:nvSpPr>
        <p:spPr>
          <a:xfrm>
            <a:off x="64190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Event-driven detection &amp; recommended interventions (Student Success); advisor approves.</a:t>
            </a:r>
            <a:endParaRPr lang="en-US" sz="1200" dirty="0"/>
          </a:p>
        </p:txBody>
      </p:sp>
      <p:sp>
        <p:nvSpPr>
          <p:cNvPr id="14" name="Shape 12"/>
          <p:cNvSpPr/>
          <p:nvPr/>
        </p:nvSpPr>
        <p:spPr>
          <a:xfrm>
            <a:off x="8942832" y="1554480"/>
            <a:ext cx="2578608" cy="3291840"/>
          </a:xfrm>
          <a:prstGeom prst="rect">
            <a:avLst/>
          </a:prstGeom>
          <a:solidFill>
            <a:srgbClr val="232F3E"/>
          </a:solidFill>
          <a:ln/>
          <a:effectLst>
            <a:outerShdw sx="100000" sy="100000" kx="0" ky="0" algn="bl" rotWithShape="0" blurRad="63500" dist="25400" dir="5400000">
              <a:srgbClr val="000000">
                <a:alpha val="10000"/>
              </a:srgbClr>
            </a:outerShdw>
          </a:effectLst>
        </p:spPr>
      </p:sp>
      <p:sp>
        <p:nvSpPr>
          <p:cNvPr id="15" name="Text 13"/>
          <p:cNvSpPr/>
          <p:nvPr/>
        </p:nvSpPr>
        <p:spPr>
          <a:xfrm>
            <a:off x="91440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4 · Orchestrated</a:t>
            </a:r>
            <a:endParaRPr lang="en-US" sz="1700" dirty="0"/>
          </a:p>
        </p:txBody>
      </p:sp>
      <p:sp>
        <p:nvSpPr>
          <p:cNvPr id="16" name="Text 14"/>
          <p:cNvSpPr/>
          <p:nvPr/>
        </p:nvSpPr>
        <p:spPr>
          <a:xfrm>
            <a:off x="91622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Multiple agents on one control plane; shared audit, identity, and governance.</a:t>
            </a:r>
            <a:endParaRPr lang="en-US" sz="1200" dirty="0"/>
          </a:p>
        </p:txBody>
      </p:sp>
      <p:sp>
        <p:nvSpPr>
          <p:cNvPr id="17" name="Text 15"/>
          <p:cNvSpPr/>
          <p:nvPr/>
        </p:nvSpPr>
        <p:spPr>
          <a:xfrm>
            <a:off x="713232" y="5120640"/>
            <a:ext cx="10789920" cy="457200"/>
          </a:xfrm>
          <a:prstGeom prst="rect">
            <a:avLst/>
          </a:prstGeom>
          <a:noFill/>
          <a:ln/>
        </p:spPr>
        <p:txBody>
          <a:bodyPr wrap="square" lIns="0" tIns="0" rIns="0" bIns="0" rtlCol="0" anchor="ctr"/>
          <a:lstStyle/>
          <a:p>
            <a:pPr algn="l" indent="0" marL="0">
              <a:buNone/>
            </a:pPr>
            <a:r>
              <a:rPr lang="en-US" sz="1400" i="1" dirty="0">
                <a:solidFill>
                  <a:srgbClr val="232F3E"/>
                </a:solidFill>
                <a:latin typeface="Calibri" pitchFamily="34" charset="0"/>
                <a:ea typeface="Calibri" pitchFamily="34" charset="-122"/>
                <a:cs typeface="Calibri" pitchFamily="34" charset="-120"/>
              </a:rPr>
              <a:t>The control plane never changes — only how much autonomy you grant on top of it.</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600" b="1" dirty="0">
                <a:solidFill>
                  <a:srgbClr val="232F3E"/>
                </a:solidFill>
                <a:latin typeface="Arial" pitchFamily="34" charset="0"/>
                <a:ea typeface="Arial" pitchFamily="34" charset="-122"/>
                <a:cs typeface="Arial" pitchFamily="34" charset="-120"/>
              </a:rPr>
              <a:t>Deployment — One Platform, Per-Customer Isolation</a:t>
            </a:r>
            <a:endParaRPr lang="en-US" sz="2600" dirty="0"/>
          </a:p>
        </p:txBody>
      </p:sp>
      <p:sp>
        <p:nvSpPr>
          <p:cNvPr id="4" name="Shape 2"/>
          <p:cNvSpPr/>
          <p:nvPr/>
        </p:nvSpPr>
        <p:spPr>
          <a:xfrm>
            <a:off x="713232"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5" name="Text 3"/>
          <p:cNvSpPr/>
          <p:nvPr/>
        </p:nvSpPr>
        <p:spPr>
          <a:xfrm>
            <a:off x="914400"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1</a:t>
            </a:r>
            <a:endParaRPr lang="en-US" sz="2000" dirty="0"/>
          </a:p>
        </p:txBody>
      </p:sp>
      <p:sp>
        <p:nvSpPr>
          <p:cNvPr id="6" name="Text 4"/>
          <p:cNvSpPr/>
          <p:nvPr/>
        </p:nvSpPr>
        <p:spPr>
          <a:xfrm>
            <a:off x="1426464"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Foundation</a:t>
            </a:r>
            <a:endParaRPr lang="en-US" sz="1350" dirty="0"/>
          </a:p>
        </p:txBody>
      </p:sp>
      <p:sp>
        <p:nvSpPr>
          <p:cNvPr id="7" name="Text 5"/>
          <p:cNvSpPr/>
          <p:nvPr/>
        </p:nvSpPr>
        <p:spPr>
          <a:xfrm>
            <a:off x="1426464"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Per-customer VPC + dedicated AWS account; KMS CMK per data class; network to systems-of-record (PrivateLink / Direct Connect).</a:t>
            </a:r>
            <a:endParaRPr lang="en-US" sz="1000" dirty="0"/>
          </a:p>
        </p:txBody>
      </p:sp>
      <p:sp>
        <p:nvSpPr>
          <p:cNvPr id="8" name="Shape 6"/>
          <p:cNvSpPr/>
          <p:nvPr/>
        </p:nvSpPr>
        <p:spPr>
          <a:xfrm>
            <a:off x="6409944"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9" name="Text 7"/>
          <p:cNvSpPr/>
          <p:nvPr/>
        </p:nvSpPr>
        <p:spPr>
          <a:xfrm>
            <a:off x="6611112"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2</a:t>
            </a:r>
            <a:endParaRPr lang="en-US" sz="2000" dirty="0"/>
          </a:p>
        </p:txBody>
      </p:sp>
      <p:sp>
        <p:nvSpPr>
          <p:cNvPr id="10" name="Text 8"/>
          <p:cNvSpPr/>
          <p:nvPr/>
        </p:nvSpPr>
        <p:spPr>
          <a:xfrm>
            <a:off x="7123176"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Identity</a:t>
            </a:r>
            <a:endParaRPr lang="en-US" sz="1350" dirty="0"/>
          </a:p>
        </p:txBody>
      </p:sp>
      <p:sp>
        <p:nvSpPr>
          <p:cNvPr id="11" name="Text 9"/>
          <p:cNvSpPr/>
          <p:nvPr/>
        </p:nvSpPr>
        <p:spPr>
          <a:xfrm>
            <a:off x="7123176"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Cognito SAML→JWT federation with role scoping (student / guardian / educator / counselor / admin). No credentials stored in AWS.</a:t>
            </a:r>
            <a:endParaRPr lang="en-US" sz="1000" dirty="0"/>
          </a:p>
        </p:txBody>
      </p:sp>
      <p:sp>
        <p:nvSpPr>
          <p:cNvPr id="12" name="Shape 10"/>
          <p:cNvSpPr/>
          <p:nvPr/>
        </p:nvSpPr>
        <p:spPr>
          <a:xfrm>
            <a:off x="713232"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3" name="Text 11"/>
          <p:cNvSpPr/>
          <p:nvPr/>
        </p:nvSpPr>
        <p:spPr>
          <a:xfrm>
            <a:off x="914400"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3</a:t>
            </a:r>
            <a:endParaRPr lang="en-US" sz="2000" dirty="0"/>
          </a:p>
        </p:txBody>
      </p:sp>
      <p:sp>
        <p:nvSpPr>
          <p:cNvPr id="14" name="Text 12"/>
          <p:cNvSpPr/>
          <p:nvPr/>
        </p:nvSpPr>
        <p:spPr>
          <a:xfrm>
            <a:off x="1426464"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Edge</a:t>
            </a:r>
            <a:endParaRPr lang="en-US" sz="1350" dirty="0"/>
          </a:p>
        </p:txBody>
      </p:sp>
      <p:sp>
        <p:nvSpPr>
          <p:cNvPr id="15" name="Text 13"/>
          <p:cNvSpPr/>
          <p:nvPr/>
        </p:nvSpPr>
        <p:spPr>
          <a:xfrm>
            <a:off x="1426464"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CloudFront + WAF; ALB TLS 1.3; Cognito auth at the edge.</a:t>
            </a:r>
            <a:endParaRPr lang="en-US" sz="1000" dirty="0"/>
          </a:p>
        </p:txBody>
      </p:sp>
      <p:sp>
        <p:nvSpPr>
          <p:cNvPr id="16" name="Shape 14"/>
          <p:cNvSpPr/>
          <p:nvPr/>
        </p:nvSpPr>
        <p:spPr>
          <a:xfrm>
            <a:off x="6409944"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7" name="Text 15"/>
          <p:cNvSpPr/>
          <p:nvPr/>
        </p:nvSpPr>
        <p:spPr>
          <a:xfrm>
            <a:off x="6611112"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4</a:t>
            </a:r>
            <a:endParaRPr lang="en-US" sz="2000" dirty="0"/>
          </a:p>
        </p:txBody>
      </p:sp>
      <p:sp>
        <p:nvSpPr>
          <p:cNvPr id="18" name="Text 16"/>
          <p:cNvSpPr/>
          <p:nvPr/>
        </p:nvSpPr>
        <p:spPr>
          <a:xfrm>
            <a:off x="7123176"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Agent + tools</a:t>
            </a:r>
            <a:endParaRPr lang="en-US" sz="1350" dirty="0"/>
          </a:p>
        </p:txBody>
      </p:sp>
      <p:sp>
        <p:nvSpPr>
          <p:cNvPr id="19" name="Text 17"/>
          <p:cNvSpPr/>
          <p:nvPr/>
        </p:nvSpPr>
        <p:spPr>
          <a:xfrm>
            <a:off x="7123176"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Deploy the AgentCore/Fargate agent; grant tools via the deny-by-default MCP gateway with short-lived scoped tokens.</a:t>
            </a:r>
            <a:endParaRPr lang="en-US" sz="1000" dirty="0"/>
          </a:p>
        </p:txBody>
      </p:sp>
      <p:sp>
        <p:nvSpPr>
          <p:cNvPr id="20" name="Shape 18"/>
          <p:cNvSpPr/>
          <p:nvPr/>
        </p:nvSpPr>
        <p:spPr>
          <a:xfrm>
            <a:off x="713232"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1" name="Text 19"/>
          <p:cNvSpPr/>
          <p:nvPr/>
        </p:nvSpPr>
        <p:spPr>
          <a:xfrm>
            <a:off x="914400"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5</a:t>
            </a:r>
            <a:endParaRPr lang="en-US" sz="2000" dirty="0"/>
          </a:p>
        </p:txBody>
      </p:sp>
      <p:sp>
        <p:nvSpPr>
          <p:cNvPr id="22" name="Text 20"/>
          <p:cNvSpPr/>
          <p:nvPr/>
        </p:nvSpPr>
        <p:spPr>
          <a:xfrm>
            <a:off x="1426464"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Connectors + data</a:t>
            </a:r>
            <a:endParaRPr lang="en-US" sz="1350" dirty="0"/>
          </a:p>
        </p:txBody>
      </p:sp>
      <p:sp>
        <p:nvSpPr>
          <p:cNvPr id="23" name="Text 21"/>
          <p:cNvSpPr/>
          <p:nvPr/>
        </p:nvSpPr>
        <p:spPr>
          <a:xfrm>
            <a:off x="1426464"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Wire SIS / LMS / ERP / ITSM connectors and Secrets Manager; index approved KB; add agent-specific blocks (Textract, Translate, EventBridge, Step Functions HITL).</a:t>
            </a:r>
            <a:endParaRPr lang="en-US" sz="1000" dirty="0"/>
          </a:p>
        </p:txBody>
      </p:sp>
      <p:sp>
        <p:nvSpPr>
          <p:cNvPr id="24" name="Shape 22"/>
          <p:cNvSpPr/>
          <p:nvPr/>
        </p:nvSpPr>
        <p:spPr>
          <a:xfrm>
            <a:off x="6409944"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5" name="Text 23"/>
          <p:cNvSpPr/>
          <p:nvPr/>
        </p:nvSpPr>
        <p:spPr>
          <a:xfrm>
            <a:off x="6611112"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6</a:t>
            </a:r>
            <a:endParaRPr lang="en-US" sz="2000" dirty="0"/>
          </a:p>
        </p:txBody>
      </p:sp>
      <p:sp>
        <p:nvSpPr>
          <p:cNvPr id="26" name="Text 24"/>
          <p:cNvSpPr/>
          <p:nvPr/>
        </p:nvSpPr>
        <p:spPr>
          <a:xfrm>
            <a:off x="7123176"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Governance + go-live</a:t>
            </a:r>
            <a:endParaRPr lang="en-US" sz="1350" dirty="0"/>
          </a:p>
        </p:txBody>
      </p:sp>
      <p:sp>
        <p:nvSpPr>
          <p:cNvPr id="27" name="Text 25"/>
          <p:cNvSpPr/>
          <p:nvPr/>
        </p:nvSpPr>
        <p:spPr>
          <a:xfrm>
            <a:off x="7123176"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Bedrock Guardrails (mandatory); S3 Object Lock + DynamoDB append-only audit; CloudTrail / Security Hub / Config; smoke + HITL test.</a:t>
            </a:r>
            <a:endParaRPr lang="en-US" sz="1000" dirty="0"/>
          </a:p>
        </p:txBody>
      </p:sp>
      <p:sp>
        <p:nvSpPr>
          <p:cNvPr id="28" name="Text 26"/>
          <p:cNvSpPr/>
          <p:nvPr/>
        </p:nvSpPr>
        <p:spPr>
          <a:xfrm>
            <a:off x="713232" y="5486400"/>
            <a:ext cx="10789920" cy="320040"/>
          </a:xfrm>
          <a:prstGeom prst="rect">
            <a:avLst/>
          </a:prstGeom>
          <a:noFill/>
          <a:ln/>
        </p:spPr>
        <p:txBody>
          <a:bodyPr wrap="square" lIns="0" tIns="0" rIns="0" bIns="0" rtlCol="0" anchor="ctr"/>
          <a:lstStyle/>
          <a:p>
            <a:pPr algn="l" indent="0" marL="0">
              <a:buNone/>
            </a:pPr>
            <a:r>
              <a:rPr lang="en-US" sz="1050" i="1" dirty="0">
                <a:solidFill>
                  <a:srgbClr val="6B7785"/>
                </a:solidFill>
                <a:latin typeface="Calibri" pitchFamily="34" charset="0"/>
                <a:ea typeface="Calibri" pitchFamily="34" charset="-122"/>
                <a:cs typeface="Calibri" pitchFamily="34" charset="-120"/>
              </a:rPr>
              <a:t>Reference: runbooks/agent-deploy/&lt;NN&gt;-*.md  ·  docs/AWS-DEPLOYMENT-REFERENCE.md</a:t>
            </a:r>
            <a:endParaRPr lang="en-US" sz="1050" dirty="0"/>
          </a:p>
        </p:txBody>
      </p:sp>
      <p:sp>
        <p:nvSpPr>
          <p:cNvPr id="29" name="Text 27"/>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Land-and-Expand</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Prove the governed control plane with low-risk agents, then expand to higher-governance workloads on the same foundation.</a:t>
            </a:r>
            <a:endParaRPr lang="en-US" sz="1300" dirty="0"/>
          </a:p>
        </p:txBody>
      </p:sp>
      <p:sp>
        <p:nvSpPr>
          <p:cNvPr id="5" name="Shape 3"/>
          <p:cNvSpPr/>
          <p:nvPr/>
        </p:nvSpPr>
        <p:spPr>
          <a:xfrm>
            <a:off x="713232" y="155448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6" name="Shape 4"/>
          <p:cNvSpPr/>
          <p:nvPr/>
        </p:nvSpPr>
        <p:spPr>
          <a:xfrm>
            <a:off x="713232" y="1554480"/>
            <a:ext cx="1920240" cy="1143000"/>
          </a:xfrm>
          <a:prstGeom prst="rect">
            <a:avLst/>
          </a:prstGeom>
          <a:solidFill>
            <a:srgbClr val="16A085"/>
          </a:solidFill>
          <a:ln/>
        </p:spPr>
      </p:sp>
      <p:sp>
        <p:nvSpPr>
          <p:cNvPr id="7" name="Text 5"/>
          <p:cNvSpPr/>
          <p:nvPr/>
        </p:nvSpPr>
        <p:spPr>
          <a:xfrm>
            <a:off x="713232" y="155448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LAND</a:t>
            </a:r>
            <a:endParaRPr lang="en-US" sz="2200" dirty="0"/>
          </a:p>
        </p:txBody>
      </p:sp>
      <p:sp>
        <p:nvSpPr>
          <p:cNvPr id="8" name="Text 6"/>
          <p:cNvSpPr/>
          <p:nvPr/>
        </p:nvSpPr>
        <p:spPr>
          <a:xfrm>
            <a:off x="2834640" y="171907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01 Concierge · 03 Educator Copilot · 07 Document/Accessibility · 08 Service Desk</a:t>
            </a:r>
            <a:endParaRPr lang="en-US" sz="1400" dirty="0"/>
          </a:p>
        </p:txBody>
      </p:sp>
      <p:sp>
        <p:nvSpPr>
          <p:cNvPr id="9" name="Text 7"/>
          <p:cNvSpPr/>
          <p:nvPr/>
        </p:nvSpPr>
        <p:spPr>
          <a:xfrm>
            <a:off x="2834640" y="215798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Visible, measurable, low decision-risk. Proves identity, gateway, audit, and Guardrails in production.</a:t>
            </a:r>
            <a:endParaRPr lang="en-US" sz="1200" dirty="0"/>
          </a:p>
        </p:txBody>
      </p:sp>
      <p:sp>
        <p:nvSpPr>
          <p:cNvPr id="10" name="Shape 8"/>
          <p:cNvSpPr/>
          <p:nvPr/>
        </p:nvSpPr>
        <p:spPr>
          <a:xfrm>
            <a:off x="713232" y="297180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1" name="Shape 9"/>
          <p:cNvSpPr/>
          <p:nvPr/>
        </p:nvSpPr>
        <p:spPr>
          <a:xfrm>
            <a:off x="713232" y="2971800"/>
            <a:ext cx="1920240" cy="1143000"/>
          </a:xfrm>
          <a:prstGeom prst="rect">
            <a:avLst/>
          </a:prstGeom>
          <a:solidFill>
            <a:srgbClr val="FF9900"/>
          </a:solidFill>
          <a:ln/>
        </p:spPr>
      </p:sp>
      <p:sp>
        <p:nvSpPr>
          <p:cNvPr id="12" name="Text 10"/>
          <p:cNvSpPr/>
          <p:nvPr/>
        </p:nvSpPr>
        <p:spPr>
          <a:xfrm>
            <a:off x="713232" y="297180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EXPAND</a:t>
            </a:r>
            <a:endParaRPr lang="en-US" sz="2200" dirty="0"/>
          </a:p>
        </p:txBody>
      </p:sp>
      <p:sp>
        <p:nvSpPr>
          <p:cNvPr id="13" name="Text 11"/>
          <p:cNvSpPr/>
          <p:nvPr/>
        </p:nvSpPr>
        <p:spPr>
          <a:xfrm>
            <a:off x="2834640" y="313639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04 Assessment · 02 Tutor</a:t>
            </a:r>
            <a:endParaRPr lang="en-US" sz="1400" dirty="0"/>
          </a:p>
        </p:txBody>
      </p:sp>
      <p:sp>
        <p:nvSpPr>
          <p:cNvPr id="14" name="Text 12"/>
          <p:cNvSpPr/>
          <p:nvPr/>
        </p:nvSpPr>
        <p:spPr>
          <a:xfrm>
            <a:off x="2834640" y="357530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Add mandatory human gates (grades, integrity) on the now-proven control plane.</a:t>
            </a:r>
            <a:endParaRPr lang="en-US" sz="1200" dirty="0"/>
          </a:p>
        </p:txBody>
      </p:sp>
      <p:sp>
        <p:nvSpPr>
          <p:cNvPr id="15" name="Shape 13"/>
          <p:cNvSpPr/>
          <p:nvPr/>
        </p:nvSpPr>
        <p:spPr>
          <a:xfrm>
            <a:off x="713232" y="438912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6" name="Shape 14"/>
          <p:cNvSpPr/>
          <p:nvPr/>
        </p:nvSpPr>
        <p:spPr>
          <a:xfrm>
            <a:off x="713232" y="4389120"/>
            <a:ext cx="1920240" cy="1143000"/>
          </a:xfrm>
          <a:prstGeom prst="rect">
            <a:avLst/>
          </a:prstGeom>
          <a:solidFill>
            <a:srgbClr val="232F3E"/>
          </a:solidFill>
          <a:ln/>
        </p:spPr>
      </p:sp>
      <p:sp>
        <p:nvSpPr>
          <p:cNvPr id="17" name="Text 15"/>
          <p:cNvSpPr/>
          <p:nvPr/>
        </p:nvSpPr>
        <p:spPr>
          <a:xfrm>
            <a:off x="713232" y="438912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SCALE</a:t>
            </a:r>
            <a:endParaRPr lang="en-US" sz="2200" dirty="0"/>
          </a:p>
        </p:txBody>
      </p:sp>
      <p:sp>
        <p:nvSpPr>
          <p:cNvPr id="18" name="Text 16"/>
          <p:cNvSpPr/>
          <p:nvPr/>
        </p:nvSpPr>
        <p:spPr>
          <a:xfrm>
            <a:off x="2834640" y="455371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05 Student Success · 06 Pathway</a:t>
            </a:r>
            <a:endParaRPr lang="en-US" sz="1400" dirty="0"/>
          </a:p>
        </p:txBody>
      </p:sp>
      <p:sp>
        <p:nvSpPr>
          <p:cNvPr id="19" name="Text 17"/>
          <p:cNvSpPr/>
          <p:nvPr/>
        </p:nvSpPr>
        <p:spPr>
          <a:xfrm>
            <a:off x="2834640" y="499262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Highest-governance, highest-CFO-value (retained tuition, transfer cost). Event-driven + advisor gates.</a:t>
            </a:r>
            <a:endParaRPr lang="en-US" sz="1200" dirty="0"/>
          </a:p>
        </p:txBody>
      </p:sp>
      <p:sp>
        <p:nvSpPr>
          <p:cNvPr id="20" name="Text 18"/>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411480"/>
            <a:ext cx="10789920" cy="64008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The Suite-Level Cost of Inaction</a:t>
            </a:r>
            <a:endParaRPr lang="en-US" sz="3000" dirty="0"/>
          </a:p>
        </p:txBody>
      </p:sp>
      <p:sp>
        <p:nvSpPr>
          <p:cNvPr id="4" name="Text 2"/>
          <p:cNvSpPr/>
          <p:nvPr/>
        </p:nvSpPr>
        <p:spPr>
          <a:xfrm>
            <a:off x="804672" y="1051560"/>
            <a:ext cx="10424160" cy="365760"/>
          </a:xfrm>
          <a:prstGeom prst="rect">
            <a:avLst/>
          </a:prstGeom>
          <a:noFill/>
          <a:ln/>
        </p:spPr>
        <p:txBody>
          <a:bodyPr wrap="square" lIns="0" tIns="0" rIns="0" bIns="0" rtlCol="0" anchor="t"/>
          <a:lstStyle/>
          <a:p>
            <a:pPr algn="l" indent="0" marL="0">
              <a:buNone/>
            </a:pPr>
            <a:r>
              <a:rPr lang="en-US" sz="1400" i="1" dirty="0">
                <a:solidFill>
                  <a:srgbClr val="9AA7B4"/>
                </a:solidFill>
                <a:latin typeface="Cambria" pitchFamily="34" charset="0"/>
                <a:ea typeface="Cambria" pitchFamily="34" charset="-122"/>
                <a:cs typeface="Cambria" pitchFamily="34" charset="-120"/>
              </a:rPr>
              <a:t>Per-agent cost of doing nothing, at a reference institution — substitute your own volumes.</a:t>
            </a:r>
            <a:endParaRPr lang="en-US" sz="1400" dirty="0"/>
          </a:p>
        </p:txBody>
      </p:sp>
      <p:sp>
        <p:nvSpPr>
          <p:cNvPr id="5" name="Shape 3"/>
          <p:cNvSpPr/>
          <p:nvPr/>
        </p:nvSpPr>
        <p:spPr>
          <a:xfrm>
            <a:off x="777240" y="1554480"/>
            <a:ext cx="3310128" cy="1078992"/>
          </a:xfrm>
          <a:prstGeom prst="rect">
            <a:avLst/>
          </a:prstGeom>
          <a:solidFill>
            <a:srgbClr val="2E3B4E"/>
          </a:solidFill>
          <a:ln w="12700">
            <a:solidFill>
              <a:srgbClr val="3A485A"/>
            </a:solidFill>
            <a:prstDash val="solid"/>
          </a:ln>
        </p:spPr>
      </p:sp>
      <p:sp>
        <p:nvSpPr>
          <p:cNvPr id="6" name="Text 4"/>
          <p:cNvSpPr/>
          <p:nvPr/>
        </p:nvSpPr>
        <p:spPr>
          <a:xfrm>
            <a:off x="960120"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01  Concierge</a:t>
            </a:r>
            <a:endParaRPr lang="en-US" sz="1200" dirty="0"/>
          </a:p>
        </p:txBody>
      </p:sp>
      <p:sp>
        <p:nvSpPr>
          <p:cNvPr id="7" name="Text 5"/>
          <p:cNvSpPr/>
          <p:nvPr/>
        </p:nvSpPr>
        <p:spPr>
          <a:xfrm>
            <a:off x="960120"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~$1.2M–$1.6M / yr</a:t>
            </a:r>
            <a:endParaRPr lang="en-US" sz="1800" dirty="0"/>
          </a:p>
        </p:txBody>
      </p:sp>
      <p:sp>
        <p:nvSpPr>
          <p:cNvPr id="8" name="Shape 6"/>
          <p:cNvSpPr/>
          <p:nvPr/>
        </p:nvSpPr>
        <p:spPr>
          <a:xfrm>
            <a:off x="4379976" y="1554480"/>
            <a:ext cx="3310128" cy="1078992"/>
          </a:xfrm>
          <a:prstGeom prst="rect">
            <a:avLst/>
          </a:prstGeom>
          <a:solidFill>
            <a:srgbClr val="2E3B4E"/>
          </a:solidFill>
          <a:ln w="12700">
            <a:solidFill>
              <a:srgbClr val="3A485A"/>
            </a:solidFill>
            <a:prstDash val="solid"/>
          </a:ln>
        </p:spPr>
      </p:sp>
      <p:sp>
        <p:nvSpPr>
          <p:cNvPr id="9" name="Text 7"/>
          <p:cNvSpPr/>
          <p:nvPr/>
        </p:nvSpPr>
        <p:spPr>
          <a:xfrm>
            <a:off x="4562856"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02  Tutor</a:t>
            </a:r>
            <a:endParaRPr lang="en-US" sz="1200" dirty="0"/>
          </a:p>
        </p:txBody>
      </p:sp>
      <p:sp>
        <p:nvSpPr>
          <p:cNvPr id="10" name="Text 8"/>
          <p:cNvSpPr/>
          <p:nvPr/>
        </p:nvSpPr>
        <p:spPr>
          <a:xfrm>
            <a:off x="4562856"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~$1.2M–$2.5M+ / yr</a:t>
            </a:r>
            <a:endParaRPr lang="en-US" sz="1800" dirty="0"/>
          </a:p>
        </p:txBody>
      </p:sp>
      <p:sp>
        <p:nvSpPr>
          <p:cNvPr id="11" name="Shape 9"/>
          <p:cNvSpPr/>
          <p:nvPr/>
        </p:nvSpPr>
        <p:spPr>
          <a:xfrm>
            <a:off x="7982712" y="1554480"/>
            <a:ext cx="3310128" cy="1078992"/>
          </a:xfrm>
          <a:prstGeom prst="rect">
            <a:avLst/>
          </a:prstGeom>
          <a:solidFill>
            <a:srgbClr val="2E3B4E"/>
          </a:solidFill>
          <a:ln w="12700">
            <a:solidFill>
              <a:srgbClr val="3A485A"/>
            </a:solidFill>
            <a:prstDash val="solid"/>
          </a:ln>
        </p:spPr>
      </p:sp>
      <p:sp>
        <p:nvSpPr>
          <p:cNvPr id="12" name="Text 10"/>
          <p:cNvSpPr/>
          <p:nvPr/>
        </p:nvSpPr>
        <p:spPr>
          <a:xfrm>
            <a:off x="8165592"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03  Educator Copilot</a:t>
            </a:r>
            <a:endParaRPr lang="en-US" sz="1200" dirty="0"/>
          </a:p>
        </p:txBody>
      </p:sp>
      <p:sp>
        <p:nvSpPr>
          <p:cNvPr id="13" name="Text 11"/>
          <p:cNvSpPr/>
          <p:nvPr/>
        </p:nvSpPr>
        <p:spPr>
          <a:xfrm>
            <a:off x="8165592"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~$11.9K–$24.9K / teacher</a:t>
            </a:r>
            <a:endParaRPr lang="en-US" sz="1800" dirty="0"/>
          </a:p>
        </p:txBody>
      </p:sp>
      <p:sp>
        <p:nvSpPr>
          <p:cNvPr id="14" name="Shape 12"/>
          <p:cNvSpPr/>
          <p:nvPr/>
        </p:nvSpPr>
        <p:spPr>
          <a:xfrm>
            <a:off x="777240" y="2889504"/>
            <a:ext cx="3310128" cy="1078992"/>
          </a:xfrm>
          <a:prstGeom prst="rect">
            <a:avLst/>
          </a:prstGeom>
          <a:solidFill>
            <a:srgbClr val="2E3B4E"/>
          </a:solidFill>
          <a:ln w="12700">
            <a:solidFill>
              <a:srgbClr val="3A485A"/>
            </a:solidFill>
            <a:prstDash val="solid"/>
          </a:ln>
        </p:spPr>
      </p:sp>
      <p:sp>
        <p:nvSpPr>
          <p:cNvPr id="15" name="Text 13"/>
          <p:cNvSpPr/>
          <p:nvPr/>
        </p:nvSpPr>
        <p:spPr>
          <a:xfrm>
            <a:off x="960120"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04  Assessment / Grading</a:t>
            </a:r>
            <a:endParaRPr lang="en-US" sz="1200" dirty="0"/>
          </a:p>
        </p:txBody>
      </p:sp>
      <p:sp>
        <p:nvSpPr>
          <p:cNvPr id="16" name="Text 14"/>
          <p:cNvSpPr/>
          <p:nvPr/>
        </p:nvSpPr>
        <p:spPr>
          <a:xfrm>
            <a:off x="960120"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~$4,270 / instructor / yr</a:t>
            </a:r>
            <a:endParaRPr lang="en-US" sz="1800" dirty="0"/>
          </a:p>
        </p:txBody>
      </p:sp>
      <p:sp>
        <p:nvSpPr>
          <p:cNvPr id="17" name="Shape 15"/>
          <p:cNvSpPr/>
          <p:nvPr/>
        </p:nvSpPr>
        <p:spPr>
          <a:xfrm>
            <a:off x="4379976" y="2889504"/>
            <a:ext cx="3310128" cy="1078992"/>
          </a:xfrm>
          <a:prstGeom prst="rect">
            <a:avLst/>
          </a:prstGeom>
          <a:solidFill>
            <a:srgbClr val="2E3B4E"/>
          </a:solidFill>
          <a:ln w="12700">
            <a:solidFill>
              <a:srgbClr val="3A485A"/>
            </a:solidFill>
            <a:prstDash val="solid"/>
          </a:ln>
        </p:spPr>
      </p:sp>
      <p:sp>
        <p:nvSpPr>
          <p:cNvPr id="18" name="Text 16"/>
          <p:cNvSpPr/>
          <p:nvPr/>
        </p:nvSpPr>
        <p:spPr>
          <a:xfrm>
            <a:off x="4562856"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05  Student Success</a:t>
            </a:r>
            <a:endParaRPr lang="en-US" sz="1200" dirty="0"/>
          </a:p>
        </p:txBody>
      </p:sp>
      <p:sp>
        <p:nvSpPr>
          <p:cNvPr id="19" name="Text 17"/>
          <p:cNvSpPr/>
          <p:nvPr/>
        </p:nvSpPr>
        <p:spPr>
          <a:xfrm>
            <a:off x="4562856"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~$5.6M / yr</a:t>
            </a:r>
            <a:endParaRPr lang="en-US" sz="1800" dirty="0"/>
          </a:p>
        </p:txBody>
      </p:sp>
      <p:sp>
        <p:nvSpPr>
          <p:cNvPr id="20" name="Shape 18"/>
          <p:cNvSpPr/>
          <p:nvPr/>
        </p:nvSpPr>
        <p:spPr>
          <a:xfrm>
            <a:off x="7982712" y="2889504"/>
            <a:ext cx="3310128" cy="1078992"/>
          </a:xfrm>
          <a:prstGeom prst="rect">
            <a:avLst/>
          </a:prstGeom>
          <a:solidFill>
            <a:srgbClr val="2E3B4E"/>
          </a:solidFill>
          <a:ln w="12700">
            <a:solidFill>
              <a:srgbClr val="3A485A"/>
            </a:solidFill>
            <a:prstDash val="solid"/>
          </a:ln>
        </p:spPr>
      </p:sp>
      <p:sp>
        <p:nvSpPr>
          <p:cNvPr id="21" name="Text 19"/>
          <p:cNvSpPr/>
          <p:nvPr/>
        </p:nvSpPr>
        <p:spPr>
          <a:xfrm>
            <a:off x="8165592"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06  Pathway Navigator</a:t>
            </a:r>
            <a:endParaRPr lang="en-US" sz="1200" dirty="0"/>
          </a:p>
        </p:txBody>
      </p:sp>
      <p:sp>
        <p:nvSpPr>
          <p:cNvPr id="22" name="Text 20"/>
          <p:cNvSpPr/>
          <p:nvPr/>
        </p:nvSpPr>
        <p:spPr>
          <a:xfrm>
            <a:off x="8165592"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~$13,081–$26,396 / student</a:t>
            </a:r>
            <a:endParaRPr lang="en-US" sz="1800" dirty="0"/>
          </a:p>
        </p:txBody>
      </p:sp>
      <p:sp>
        <p:nvSpPr>
          <p:cNvPr id="23" name="Shape 21"/>
          <p:cNvSpPr/>
          <p:nvPr/>
        </p:nvSpPr>
        <p:spPr>
          <a:xfrm>
            <a:off x="777240" y="4224528"/>
            <a:ext cx="3310128" cy="1078992"/>
          </a:xfrm>
          <a:prstGeom prst="rect">
            <a:avLst/>
          </a:prstGeom>
          <a:solidFill>
            <a:srgbClr val="2E3B4E"/>
          </a:solidFill>
          <a:ln w="12700">
            <a:solidFill>
              <a:srgbClr val="3A485A"/>
            </a:solidFill>
            <a:prstDash val="solid"/>
          </a:ln>
        </p:spPr>
      </p:sp>
      <p:sp>
        <p:nvSpPr>
          <p:cNvPr id="24" name="Text 22"/>
          <p:cNvSpPr/>
          <p:nvPr/>
        </p:nvSpPr>
        <p:spPr>
          <a:xfrm>
            <a:off x="960120"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07  Document / Accessibility</a:t>
            </a:r>
            <a:endParaRPr lang="en-US" sz="1200" dirty="0"/>
          </a:p>
        </p:txBody>
      </p:sp>
      <p:sp>
        <p:nvSpPr>
          <p:cNvPr id="25" name="Text 23"/>
          <p:cNvSpPr/>
          <p:nvPr/>
        </p:nvSpPr>
        <p:spPr>
          <a:xfrm>
            <a:off x="960120"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$30K–$815K exposure</a:t>
            </a:r>
            <a:endParaRPr lang="en-US" sz="1800" dirty="0"/>
          </a:p>
        </p:txBody>
      </p:sp>
      <p:sp>
        <p:nvSpPr>
          <p:cNvPr id="26" name="Shape 24"/>
          <p:cNvSpPr/>
          <p:nvPr/>
        </p:nvSpPr>
        <p:spPr>
          <a:xfrm>
            <a:off x="4379976" y="4224528"/>
            <a:ext cx="3310128" cy="1078992"/>
          </a:xfrm>
          <a:prstGeom prst="rect">
            <a:avLst/>
          </a:prstGeom>
          <a:solidFill>
            <a:srgbClr val="2E3B4E"/>
          </a:solidFill>
          <a:ln w="12700">
            <a:solidFill>
              <a:srgbClr val="3A485A"/>
            </a:solidFill>
            <a:prstDash val="solid"/>
          </a:ln>
        </p:spPr>
      </p:sp>
      <p:sp>
        <p:nvSpPr>
          <p:cNvPr id="27" name="Text 25"/>
          <p:cNvSpPr/>
          <p:nvPr/>
        </p:nvSpPr>
        <p:spPr>
          <a:xfrm>
            <a:off x="4562856"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08  IT Service Desk</a:t>
            </a:r>
            <a:endParaRPr lang="en-US" sz="1200" dirty="0"/>
          </a:p>
        </p:txBody>
      </p:sp>
      <p:sp>
        <p:nvSpPr>
          <p:cNvPr id="28" name="Text 26"/>
          <p:cNvSpPr/>
          <p:nvPr/>
        </p:nvSpPr>
        <p:spPr>
          <a:xfrm>
            <a:off x="4562856"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~$300K / yr</a:t>
            </a:r>
            <a:endParaRPr lang="en-US" sz="1800" dirty="0"/>
          </a:p>
        </p:txBody>
      </p:sp>
      <p:sp>
        <p:nvSpPr>
          <p:cNvPr id="29" name="Text 27"/>
          <p:cNvSpPr/>
          <p:nvPr/>
        </p:nvSpPr>
        <p:spPr>
          <a:xfrm>
            <a:off x="777240" y="5806440"/>
            <a:ext cx="10789920" cy="457200"/>
          </a:xfrm>
          <a:prstGeom prst="rect">
            <a:avLst/>
          </a:prstGeom>
          <a:noFill/>
          <a:ln/>
        </p:spPr>
        <p:txBody>
          <a:bodyPr wrap="square" lIns="0" tIns="0" rIns="0" bIns="0" rtlCol="0" anchor="ctr"/>
          <a:lstStyle/>
          <a:p>
            <a:pPr algn="l" indent="0" marL="0">
              <a:buNone/>
            </a:pPr>
            <a:r>
              <a:rPr lang="en-US" sz="1050" i="1" dirty="0">
                <a:solidFill>
                  <a:srgbClr val="9AA7B4"/>
                </a:solidFill>
                <a:latin typeface="Calibri" pitchFamily="34" charset="0"/>
                <a:ea typeface="Calibri" pitchFamily="34" charset="-122"/>
                <a:cs typeface="Calibri" pitchFamily="34" charset="-120"/>
              </a:rPr>
              <a:t>Most are modeled at a reference baseline; 03/06/07 use direct published figures. None are guaranteed — they substitute the customer's actuals.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371600"/>
            <a:ext cx="1060704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Arial" pitchFamily="34" charset="0"/>
                <a:ea typeface="Arial" pitchFamily="34" charset="-122"/>
                <a:cs typeface="Arial" pitchFamily="34" charset="-120"/>
              </a:rPr>
              <a:t>The Takeaway</a:t>
            </a:r>
            <a:endParaRPr lang="en-US" sz="4000" dirty="0"/>
          </a:p>
        </p:txBody>
      </p:sp>
      <p:sp>
        <p:nvSpPr>
          <p:cNvPr id="4" name="Text 2"/>
          <p:cNvSpPr/>
          <p:nvPr/>
        </p:nvSpPr>
        <p:spPr>
          <a:xfrm>
            <a:off x="795528" y="2377440"/>
            <a:ext cx="10424160" cy="1280160"/>
          </a:xfrm>
          <a:prstGeom prst="rect">
            <a:avLst/>
          </a:prstGeom>
          <a:noFill/>
          <a:ln/>
        </p:spPr>
        <p:txBody>
          <a:bodyPr wrap="square" lIns="0" tIns="0" rIns="0" bIns="0" rtlCol="0" anchor="t"/>
          <a:lstStyle/>
          <a:p>
            <a:pPr algn="l" indent="0" marL="0">
              <a:lnSpc>
                <a:spcPct val="110000"/>
              </a:lnSpc>
              <a:buNone/>
            </a:pPr>
            <a:r>
              <a:rPr lang="en-US" sz="2600" b="1" dirty="0">
                <a:solidFill>
                  <a:srgbClr val="FF9900"/>
                </a:solidFill>
                <a:latin typeface="Arial" pitchFamily="34" charset="0"/>
                <a:ea typeface="Arial" pitchFamily="34" charset="-122"/>
                <a:cs typeface="Arial" pitchFamily="34" charset="-120"/>
              </a:rPr>
              <a:t>The agent isn't the product.  </a:t>
            </a:r>
            <a:pPr algn="l" indent="0" marL="0">
              <a:lnSpc>
                <a:spcPct val="110000"/>
              </a:lnSpc>
              <a:buNone/>
            </a:pPr>
            <a:r>
              <a:rPr lang="en-US" sz="2600" dirty="0">
                <a:solidFill>
                  <a:srgbClr val="FFFFFF"/>
                </a:solidFill>
                <a:latin typeface="Arial" pitchFamily="34" charset="0"/>
                <a:ea typeface="Arial" pitchFamily="34" charset="-122"/>
                <a:cs typeface="Arial" pitchFamily="34" charset="-120"/>
              </a:rPr>
              <a:t>The governed platform that makes it FERPA/ADA-defensible and deployable on AWS is.</a:t>
            </a:r>
            <a:endParaRPr lang="en-US" sz="2600" dirty="0"/>
          </a:p>
        </p:txBody>
      </p:sp>
      <p:sp>
        <p:nvSpPr>
          <p:cNvPr id="5" name="Text 3"/>
          <p:cNvSpPr/>
          <p:nvPr/>
        </p:nvSpPr>
        <p:spPr>
          <a:xfrm>
            <a:off x="804672" y="40233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 one control plane · land-first with 01 / 03 / 07 / 08 · expand at your own pace.</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runbooks/agent-deploy/  ·  docs/AWS-DEPLOYMENT-REFERENCE.md  ·  June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 AI Agent Suite — Executive Overview</dc:title>
  <dc:subject>PptxGenJS Presentation</dc:subject>
  <dc:creator>EDU AI Agent Suite</dc:creator>
  <cp:lastModifiedBy>EDU AI Agent Suite</cp:lastModifiedBy>
  <cp:revision>1</cp:revision>
  <dcterms:created xsi:type="dcterms:W3CDTF">2026-06-24T03:49:11Z</dcterms:created>
  <dcterms:modified xsi:type="dcterms:W3CDTF">2026-06-24T03:49:11Z</dcterms:modified>
</cp:coreProperties>
</file>