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[00:00] HOOK — open by naming the agent and its one-line value: "24/7 Socratic help grounded in the course's own materials — democratizing tutoring without answer-dumping." Pause, then frame the whole deck: this is one of eight agents that all ride the SAME governed AWS platform — deny-by-default gateway, human-in-the-loop, full audit. POSITION: For a CIO/CISO, stress that the value prop is bounded by governance from slide one; for an academic leader, stress the outcome for students/staff. Say: "Six slides — the problem, how we govern it, the AWS architecture, how you deploy it, and the honest ROI." Keep it to ~45 seconds; the architecture slide is where you'll spend real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THE PROBLEM — lead with the big number: $1.2K–$2.5K+. Let it land, then read the source aloud ("EdResearch for Action, 2024 · foundation/research") so the room knows it's not a vendor claim. Walk the three "what we solve for" cards quickly — these are the pains your buyer feels in their own operation. POSITION: For an academic/operational leader this is the empathy slide — they live this pain; for a CIO/CISO it sizes the problem worth governing. Tie it back: "This is the recurring cost of doing nothing." Don't oversell — the metric carries it. ~50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THE GOVERNED PIPELINE — this is the trust slide. Walk left to right: retrieve only approved content, analyze, draft/recommend, then the HITL gate (the amber step), then audit. Land hard on the bright line: "A human instructor owns assessment and integrity decisions; the agent coaches, it never grades or replaces the teacher." POSITION: This is the slide for the CISO and the academic-integrity/compliance stakeholder — the agent is decision-support, a human owns the consequential call. Say explicitly: "The agent never crosses this line." If they push on autonomy, this slide is your answer. ~55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[02:30] AWS ARCHITECTURE — the most important slide; slow down. Trace the request path along the top spine: request → CloudFront+WAF → Cognito (role-scoped) → AgentCore Gateway (deny-by-default — nothing the agent wasn't explicitly granted) → Bedrock+Guardrails in-VPC, where PII is masked and never egresses. Then drop to this agent's specific tools/connectors (LMS / content connector, Bedrock Knowledge Base, AgentCore memory), all gateway-scoped, and finally the WORM audit band. HOW IT DEPLOYS / WHAT THE CUSTOMER NEEDS: it runs in the customer's own AWS account; they bring their IdP, their data systems to connect, and a KMS key — Bedrock inference is in-account so student PII stays in their boundary. POSITION: This is the CISO/cloud-architect slide — emphasize tenancy, deny-by-default, and that the platform is identical across all 8 agents, so they govern once. ~70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[03:40] HOW TO DEPLOY — show it's a known, repeatable path, not a science project: keys/network, identity, edge, the agent and its tool grants, connectors/secrets, WORM audit, smoke test. End on the deploy one-liner. HOW IT DEPLOYS / WHAT THE CUSTOMER NEEDS: a runbook exists for this exact agent (runbooks/agent-deploy/02-tutor-study-companion.md) and a shared reference architecture (docs/AWS-DEPLOYMENT-REFERENCE.md); the customer supplies AWS account access, IdP federation, the systems to connect, and approved content/KB. POSITION: For a CIO/PMO this de-risks delivery and timeline; for a CISO it shows audit and least-privilege are wired in by step, not bolted on. Offer: "We can stand up a governed pilot in a contained environment quickly." ~45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[04:25] ROI &amp; HONEST TRADEOFFS — walk the three callouts, calling the source class each time; note which are vendor/estimate vs gov/peer-reviewed. Then the honesty panel — say it out loud: decision-support not autonomy, humans own consequential calls, vendor figures flagged, outcomes modeled to THEIR baseline, not guaranteed. POSITION: This candor is what earns the CISO and the academic leader; don't skip it to look stronger — it's the differentiator. Close: "We'll model these against your actual volumes and staffing before you commit." CLOSE/NEXT STEP: propose a scoped pilot starting with the land-first agents (01/03/07/08). ~50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11880"/>
            <a:ext cx="9144000" cy="1531620"/>
          </a:xfrm>
          <a:prstGeom prst="rect">
            <a:avLst/>
          </a:prstGeom>
          <a:solidFill>
            <a:srgbClr val="24365C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8804" y="785652"/>
            <a:ext cx="403799" cy="40379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3AA6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1627632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Personalized Tutor &amp; Study Companion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658368" y="3822192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i="1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 Socratic help grounded in the course's own materials — democratizing tutoring without answer-dumping.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658368" y="4430268"/>
            <a:ext cx="365760" cy="365760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466" y="4525366"/>
            <a:ext cx="175565" cy="17556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15568" y="44302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E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TODAY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cost of doing nothing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234440"/>
            <a:ext cx="3657600" cy="3200400"/>
          </a:xfrm>
          <a:prstGeom prst="roundRect">
            <a:avLst>
              <a:gd name="adj" fmla="val 2857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66928" y="1481328"/>
            <a:ext cx="34564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$1.2K–$2.5K+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603504" y="2907792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E5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student / year for high-impact human tutoring — effective, but access is uneven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03504" y="395020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3AA6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EdResearch for Action, 2024 · foundation/research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434840" y="123444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SOLVE FOR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34840" y="1572768"/>
            <a:ext cx="425196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90288" y="1792224"/>
            <a:ext cx="457200" cy="457200"/>
          </a:xfrm>
          <a:prstGeom prst="ellipse">
            <a:avLst/>
          </a:prstGeom>
          <a:solidFill>
            <a:srgbClr val="3AA6A4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911096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175504" y="16824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On-demand help at scale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175504" y="1975104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 support grounded in the course's own materials.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434840" y="2587752"/>
            <a:ext cx="425196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590288" y="2807208"/>
            <a:ext cx="457200" cy="457200"/>
          </a:xfrm>
          <a:prstGeom prst="ellipse">
            <a:avLst/>
          </a:prstGeom>
          <a:solidFill>
            <a:srgbClr val="3AA6A4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926080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175504" y="26974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Equity of access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5175504" y="299008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students who cannot afford private tutoring.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434840" y="3602736"/>
            <a:ext cx="425196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590288" y="3822192"/>
            <a:ext cx="457200" cy="457200"/>
          </a:xfrm>
          <a:prstGeom prst="ellipse">
            <a:avLst/>
          </a:prstGeom>
          <a:solidFill>
            <a:srgbClr val="3AA6A4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3941064"/>
            <a:ext cx="219456" cy="21945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175504" y="37124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Integrity by design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5175504" y="4005072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Socratic, step-at-a-time guidance — no answer-dumping.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457200" y="47594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7040880" y="47594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SOLVE IT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governed pipeline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74750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8" name="Text 5"/>
          <p:cNvSpPr/>
          <p:nvPr/>
        </p:nvSpPr>
        <p:spPr>
          <a:xfrm>
            <a:off x="974750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12064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48640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course content / LMS materials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1990649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132381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649931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4" name="Text 11"/>
          <p:cNvSpPr/>
          <p:nvPr/>
        </p:nvSpPr>
        <p:spPr>
          <a:xfrm>
            <a:off x="2649931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2187245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Analyze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2223821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student's question and current level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665830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807562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325112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0" name="Text 17"/>
          <p:cNvSpPr/>
          <p:nvPr/>
        </p:nvSpPr>
        <p:spPr>
          <a:xfrm>
            <a:off x="4325112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3862426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Coach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3899002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step at a time via Guardrails-bounded prompts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341010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2742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6EEE0"/>
          </a:solidFill>
          <a:ln w="19050">
            <a:solidFill>
              <a:srgbClr val="E8A33D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000293" y="1508760"/>
            <a:ext cx="493776" cy="49377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6" name="Text 23"/>
          <p:cNvSpPr/>
          <p:nvPr/>
        </p:nvSpPr>
        <p:spPr>
          <a:xfrm>
            <a:off x="6000293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5537606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Escalate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5574182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 instructor / tutor on distress or repeated struggle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7016191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157923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7675474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2" name="Text 29"/>
          <p:cNvSpPr/>
          <p:nvPr/>
        </p:nvSpPr>
        <p:spPr>
          <a:xfrm>
            <a:off x="7675474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7212787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7249363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Interactions logged for integrity review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57200" y="3950208"/>
            <a:ext cx="8229600" cy="676656"/>
          </a:xfrm>
          <a:prstGeom prst="roundRect">
            <a:avLst>
              <a:gd name="adj" fmla="val 10811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03504" y="4078224"/>
            <a:ext cx="420624" cy="420624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866" y="4187586"/>
            <a:ext cx="201900" cy="201900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1133856" y="3950208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   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E9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instructor owns assessment and integrity decisions; the agent coaches, it never grades or replaces the teacher.</a:t>
            </a:r>
            <a:endParaRPr lang="en-US" sz="1100" dirty="0"/>
          </a:p>
        </p:txBody>
      </p:sp>
      <p:sp>
        <p:nvSpPr>
          <p:cNvPr id="39" name="Text 35"/>
          <p:cNvSpPr/>
          <p:nvPr/>
        </p:nvSpPr>
        <p:spPr>
          <a:xfrm>
            <a:off x="457200" y="47594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900" dirty="0"/>
          </a:p>
        </p:txBody>
      </p:sp>
      <p:sp>
        <p:nvSpPr>
          <p:cNvPr id="40" name="Text 36"/>
          <p:cNvSpPr/>
          <p:nvPr/>
        </p:nvSpPr>
        <p:spPr>
          <a:xfrm>
            <a:off x="7040880" y="47594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ARCHITECTURE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path &amp; traffic flow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02920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/ staff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000707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128723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174443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CloudFront + WAF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174443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672230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800246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845966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Cognito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845966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Role-scoped identity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343754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71770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517490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AgentCore Gateway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517490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7015277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143293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189013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Bedrock + Guardrails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189013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In-VPC · PII masked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860182" y="2231136"/>
            <a:ext cx="109728" cy="201168"/>
          </a:xfrm>
          <a:prstGeom prst="down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7200" y="2468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AGENT-SPECIFIC TOOLS &amp; CONNECTORS  (gateway-scoped)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57200" y="2743200"/>
            <a:ext cx="2657856" cy="713232"/>
          </a:xfrm>
          <a:prstGeom prst="roundRect">
            <a:avLst>
              <a:gd name="adj" fmla="val 7692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512064" y="2834640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LMS / content connector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12064" y="3145536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 and similar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243072" y="2743200"/>
            <a:ext cx="2657856" cy="713232"/>
          </a:xfrm>
          <a:prstGeom prst="roundRect">
            <a:avLst>
              <a:gd name="adj" fmla="val 7692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3297936" y="2834640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Bedrock Knowledge Base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3297936" y="3145536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course materials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028944" y="2743200"/>
            <a:ext cx="2657856" cy="713232"/>
          </a:xfrm>
          <a:prstGeom prst="roundRect">
            <a:avLst>
              <a:gd name="adj" fmla="val 7692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6083808" y="2834640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AgentCore memory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6083808" y="3145536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Retention-bounded context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57200" y="3602736"/>
            <a:ext cx="8229600" cy="512064"/>
          </a:xfrm>
          <a:prstGeom prst="roundRect">
            <a:avLst>
              <a:gd name="adj" fmla="val 10714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66928" y="3694176"/>
            <a:ext cx="329184" cy="329184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516" y="3779764"/>
            <a:ext cx="158008" cy="158008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1005840" y="3602736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EVIDENCE   </a:t>
            </a:r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E9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+ DynamoDB append-only — every access, draft, approval, and action logged.</a:t>
            </a:r>
            <a:endParaRPr lang="en-US" sz="950" dirty="0"/>
          </a:p>
        </p:txBody>
      </p:sp>
      <p:sp>
        <p:nvSpPr>
          <p:cNvPr id="40" name="Text 36"/>
          <p:cNvSpPr/>
          <p:nvPr/>
        </p:nvSpPr>
        <p:spPr>
          <a:xfrm>
            <a:off x="457200" y="472287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question → CloudFront/WAF → Cognito → Gateway → KB retrieve → Bedrock+Guardrails (Socratic) → response → (escalate if flagged) → audit.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DEPLOY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zero to governed in seven steps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29844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85216" y="142646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8" name="Text 5"/>
          <p:cNvSpPr/>
          <p:nvPr/>
        </p:nvSpPr>
        <p:spPr>
          <a:xfrm>
            <a:off x="585216" y="1426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15568" y="138988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CMK / KMS + network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1115568" y="165506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Customer-managed keys; isolated VPC.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202996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85216" y="215798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" y="2157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115568" y="212140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Cognito / JWT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115568" y="238658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 the IdP; role scoping.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57200" y="276148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85216" y="288950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8" name="Text 15"/>
          <p:cNvSpPr/>
          <p:nvPr/>
        </p:nvSpPr>
        <p:spPr>
          <a:xfrm>
            <a:off x="585216" y="2889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115568" y="285292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CloudFront / WAF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1115568" y="311810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 at the front door.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57200" y="349300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85216" y="362102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3" name="Text 20"/>
          <p:cNvSpPr/>
          <p:nvPr/>
        </p:nvSpPr>
        <p:spPr>
          <a:xfrm>
            <a:off x="585216" y="3621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115568" y="358444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AgentCore agent + tool grants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1115568" y="384962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agent; grant only this agent's tools.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074920" y="129844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202936" y="142646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8" name="Text 25"/>
          <p:cNvSpPr/>
          <p:nvPr/>
        </p:nvSpPr>
        <p:spPr>
          <a:xfrm>
            <a:off x="5202936" y="1426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733288" y="138988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Connectors + secrets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5733288" y="165506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LMS, index course materials into a Knowledge Base, set integrity guardrails and memory-retention boundaries.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074920" y="202996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202936" y="215798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3" name="Text 30"/>
          <p:cNvSpPr/>
          <p:nvPr/>
        </p:nvSpPr>
        <p:spPr>
          <a:xfrm>
            <a:off x="5202936" y="2157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733288" y="212140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S3 WORM + DynamoDB audit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5733288" y="238658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Lock + append-only audit on.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074920" y="276148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202936" y="288950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8" name="Text 35"/>
          <p:cNvSpPr/>
          <p:nvPr/>
        </p:nvSpPr>
        <p:spPr>
          <a:xfrm>
            <a:off x="5202936" y="2889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5733288" y="285292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Smoke test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5733288" y="311810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path, HITL gate, audit write.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074920" y="349300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5202936" y="3538728"/>
            <a:ext cx="3813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ONE-LINER
</a:t>
            </a:r>
            <a:endParaRPr lang="en-US" sz="95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E9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Quick-deploy environment + gateway; connect LMS, index course materials into a Knowledge Base, set integrity guardrails and memory-retention boundaries.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457200" y="472287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</a:t>
            </a:r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runbooks/agent-deploy/02-tutor-study-companion.md   ·   </a:t>
            </a:r>
            <a:pPr algn="l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</a:t>
            </a:r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docs/AWS-DEPLOYMENT-REFERENCE.md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&amp; HONEST TRADEOFFS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Outcomes modeled to your baseline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325880"/>
            <a:ext cx="263347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48640" y="1472184"/>
            <a:ext cx="2450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&gt;2x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585216" y="22219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much learned in less time vs active-learning class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85216" y="2770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Harvard RCT · gov/peer-reviewed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55264" y="1325880"/>
            <a:ext cx="263347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346704" y="1472184"/>
            <a:ext cx="2450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~0.37 SD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3383280" y="22219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human-tutoring benchmark the agent helps democratize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383280" y="2770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meta-analysis · gov/peer-reviewed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053328" y="1325880"/>
            <a:ext cx="263347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144768" y="1472184"/>
            <a:ext cx="2450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~1/3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181344" y="22219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tutoring cost reduction via tech substitution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181344" y="2770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UChicago · gov/peer-reviewed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57200" y="3291840"/>
            <a:ext cx="8229600" cy="1078992"/>
          </a:xfrm>
          <a:prstGeom prst="roundRect">
            <a:avLst>
              <a:gd name="adj" fmla="val 6780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0080" y="3621024"/>
            <a:ext cx="420624" cy="420624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442" y="3730386"/>
            <a:ext cx="201900" cy="20190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170432" y="3401568"/>
            <a:ext cx="7406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is — and isn't.  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Decision-support, not autonomy: humans own every consequential call (grades, awards, interventions, account changes).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figures are flagged on-slide and never lead.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are documented at the named institution and modeled to your baseline — not guaranteed.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457200" y="47594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7040880" y="47594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Personalized Tutor &amp; Study Companion</dc:title>
  <dc:subject>PptxGenJS Presentation</dc:subject>
  <dc:creator>EDU AI Agent Suite</dc:creator>
  <cp:lastModifiedBy>EDU AI Agent Suite</cp:lastModifiedBy>
  <cp:revision>1</cp:revision>
  <dcterms:created xsi:type="dcterms:W3CDTF">2026-06-24T02:54:27Z</dcterms:created>
  <dcterms:modified xsi:type="dcterms:W3CDTF">2026-06-24T02:54:27Z</dcterms:modified>
</cp:coreProperties>
</file>