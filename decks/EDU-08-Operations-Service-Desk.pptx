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[00:00] HOOK — open by naming the agent and its one-line value: "Deflect self-resolvable tickets to knowledge-grounded answers — privileged actions always pass a human gate." Pause, then frame the whole deck: this is one of eight agents that all ride the SAME governed AWS platform — deny-by-default gateway, human-in-the-loop, full audit. POSITION: For a CIO/CISO, stress that the value prop is bounded by governance from slide one; for an academic leader, stress the outcome for students/staff. Say: "Six slides — the problem, how we govern it, the AWS architecture, how you deploy it, and the honest ROI." Keep it to ~45 seconds; the architecture slide is where you'll spend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THE PROBLEM — lead with the big number: ~$70. Let it land, then read the source aloud ("Forrester / industry estimate — flagged on slide") so the room knows it's not a vendor claim. Walk the three "what we solve for" cards quickly — these are the pains your buyer feels in their own operation. POSITION: For an academic/operational leader this is the empathy slide — they live this pain; for a CIO/CISO it sizes the problem worth governing. Tie it back: "This is the recurring cost of doing nothing." Don't oversell — the metric carries it. ~50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THE GOVERNED PIPELINE — this is the trust slide. Walk left to right: retrieve only approved content, analyze, draft/recommend, then the HITL gate (the amber step), then audit. Land hard on the bright line: "A human approves every privileged or consequential action; only low-risk, reversible actions auto-resolve." POSITION: This is the slide for the CISO and the academic-integrity/compliance stakeholder — the agent is decision-support, a human owns the consequential call. Say explicitly: "The agent never crosses this line." If they push on autonomy, this slide is your answer. ~55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[02:30] AWS ARCHITECTURE — the most important slide; slow down. Trace the request path along the top spine: request → CloudFront+WAF → Cognito (role-scoped) → AgentCore Gateway (deny-by-default — nothing the agent wasn't explicitly granted) → Bedrock+Guardrails in-VPC, where PII is masked and never egresses. Then drop to this agent's specific tools/connectors (ITSM connector, IAM / IdP connector, Runbook Knowledge Base), all gateway-scoped, and finally the WORM audit band. HOW IT DEPLOYS / WHAT THE CUSTOMER NEEDS: it runs in the customer's own AWS account; they bring their IdP, their data systems to connect, and a KMS key — Bedrock inference is in-account so student PII stays in their boundary. POSITION: This is the CISO/cloud-architect slide — emphasize tenancy, deny-by-default, and that the platform is identical across all 8 agents, so they govern once. ~70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[03:40] HOW TO DEPLOY — show it's a known, repeatable path, not a science project: keys/network, identity, edge, the agent and its tool grants, connectors/secrets, WORM audit, smoke test. End on the deploy one-liner. HOW IT DEPLOYS / WHAT THE CUSTOMER NEEDS: a runbook exists for this exact agent (runbooks/agent-deploy/08-operations-service-desk.md) and a shared reference architecture (docs/AWS-DEPLOYMENT-REFERENCE.md); the customer supplies AWS account access, IdP federation, the systems to connect, and approved content/KB. POSITION: For a CIO/PMO this de-risks delivery and timeline; for a CISO it shows audit and least-privilege are wired in by step, not bolted on. Offer: "We can stand up a governed pilot in a contained environment quickly." ~45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[04:25] ROI &amp; HONEST TRADEOFFS — walk the three callouts, calling the source class each time; note which are vendor/estimate vs gov/peer-reviewed. Then the honesty panel — say it out loud: decision-support not autonomy, humans own consequential calls, vendor figures flagged, outcomes modeled to THEIR baseline, not guaranteed. POSITION: This candor is what earns the CISO and the academic leader; don't skip it to look stronger — it's the differentiator. Close: "We'll model these against your actual volumes and staffing before you commit." CLOSE/NEXT STEP: propose a scoped pilot starting with the land-first agents (01/03/07/08). ~50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24365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804" y="785652"/>
            <a:ext cx="403799" cy="4037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627632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/ IT Service Desk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58368" y="382219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 self-resolvable tickets to knowledge-grounded answers — privileged actions always pass a human gate.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58368" y="4430268"/>
            <a:ext cx="365760" cy="36576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6" y="4525366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5568" y="44302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E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doing nothing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" y="1481328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~$70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03504" y="290779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E5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cost per help-desk password reset (education tickets ~$6–$12 each)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3504" y="3950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A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/ industry estimate — flagged on slide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34840" y="12344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SOLVE FOR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1572768"/>
            <a:ext cx="4251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1792224"/>
            <a:ext cx="457200" cy="457200"/>
          </a:xfrm>
          <a:prstGeom prst="ellipse">
            <a:avLst/>
          </a:prstGeom>
          <a:solidFill>
            <a:srgbClr val="3AA6A4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1109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75504" y="16824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High-volume, self-resolvable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175504" y="197510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Password/access, how-to, status tickets.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34840" y="2587752"/>
            <a:ext cx="4251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90288" y="2807208"/>
            <a:ext cx="457200" cy="457200"/>
          </a:xfrm>
          <a:prstGeom prst="ellipse">
            <a:avLst/>
          </a:prstGeom>
          <a:solidFill>
            <a:srgbClr val="3AA6A4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92608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5504" y="2697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Deflection to self-service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175504" y="299008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IT teams focus on real incidents.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434840" y="3602736"/>
            <a:ext cx="4251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90288" y="3822192"/>
            <a:ext cx="457200" cy="457200"/>
          </a:xfrm>
          <a:prstGeom prst="ellipse">
            <a:avLst/>
          </a:prstGeom>
          <a:solidFill>
            <a:srgbClr val="3AA6A4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94106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75504" y="37124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Knowledge-grounded answers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175504" y="400507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approved runbooks / KB.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47594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040880" y="47594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 IT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governed pipeline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1528877" cy="2331720"/>
          </a:xfrm>
          <a:prstGeom prst="roundRect">
            <a:avLst>
              <a:gd name="adj" fmla="val 418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4750" y="1508760"/>
            <a:ext cx="493776" cy="49377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974750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12064" y="2112264"/>
            <a:ext cx="1419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2551176"/>
            <a:ext cx="134599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IT KB / runbooks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90649" y="2436876"/>
            <a:ext cx="146304" cy="109728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32381" y="1325880"/>
            <a:ext cx="1528877" cy="2331720"/>
          </a:xfrm>
          <a:prstGeom prst="roundRect">
            <a:avLst>
              <a:gd name="adj" fmla="val 418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49931" y="1508760"/>
            <a:ext cx="493776" cy="49377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2649931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87245" y="2112264"/>
            <a:ext cx="1419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223821" y="2551176"/>
            <a:ext cx="134599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intent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65830" y="2436876"/>
            <a:ext cx="146304" cy="109728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07562" y="1325880"/>
            <a:ext cx="1528877" cy="2331720"/>
          </a:xfrm>
          <a:prstGeom prst="roundRect">
            <a:avLst>
              <a:gd name="adj" fmla="val 418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25112" y="1508760"/>
            <a:ext cx="493776" cy="49377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7"/>
          <p:cNvSpPr/>
          <p:nvPr/>
        </p:nvSpPr>
        <p:spPr>
          <a:xfrm>
            <a:off x="4325112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862426" y="2112264"/>
            <a:ext cx="1419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/ draft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899002" y="2551176"/>
            <a:ext cx="134599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answer or drafted action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41010" y="2436876"/>
            <a:ext cx="146304" cy="109728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2742" y="1325880"/>
            <a:ext cx="1528877" cy="2331720"/>
          </a:xfrm>
          <a:prstGeom prst="roundRect">
            <a:avLst>
              <a:gd name="adj" fmla="val 4187"/>
            </a:avLst>
          </a:prstGeom>
          <a:solidFill>
            <a:srgbClr val="F6EEE0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00293" y="1508760"/>
            <a:ext cx="493776" cy="49377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3"/>
          <p:cNvSpPr/>
          <p:nvPr/>
        </p:nvSpPr>
        <p:spPr>
          <a:xfrm>
            <a:off x="6000293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537606" y="2112264"/>
            <a:ext cx="1419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C97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HITL gate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574182" y="2551176"/>
            <a:ext cx="134599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resets auto; privileged / account changes escalate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016191" y="2436876"/>
            <a:ext cx="146304" cy="109728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57923" y="1325880"/>
            <a:ext cx="1528877" cy="2331720"/>
          </a:xfrm>
          <a:prstGeom prst="roundRect">
            <a:avLst>
              <a:gd name="adj" fmla="val 418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675474" y="1508760"/>
            <a:ext cx="493776" cy="493776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2" name="Text 29"/>
          <p:cNvSpPr/>
          <p:nvPr/>
        </p:nvSpPr>
        <p:spPr>
          <a:xfrm>
            <a:off x="7675474" y="1508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212787" y="2112264"/>
            <a:ext cx="14191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7249363" y="2551176"/>
            <a:ext cx="1345997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3950208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03504" y="4078224"/>
            <a:ext cx="420624" cy="420624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66" y="4187586"/>
            <a:ext cx="201900" cy="2019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133856" y="3950208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   </a:t>
            </a:r>
            <a:pPr algn="l"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9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approves every privileged or consequential action; only low-risk, reversible actions auto-resolve.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57200" y="47594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7040880" y="47594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path &amp; traffic flow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543507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481328"/>
            <a:ext cx="14520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847088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staff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000707" y="1732788"/>
            <a:ext cx="128016" cy="100584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28723" y="1371600"/>
            <a:ext cx="1543507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74443" y="1481328"/>
            <a:ext cx="14520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CloudFront + WAF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74443" y="1847088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protection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672230" y="1732788"/>
            <a:ext cx="128016" cy="100584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00246" y="1371600"/>
            <a:ext cx="1543507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845966" y="1481328"/>
            <a:ext cx="14520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5966" y="1847088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identity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343754" y="1732788"/>
            <a:ext cx="128016" cy="100584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71770" y="1371600"/>
            <a:ext cx="1543507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17490" y="1481328"/>
            <a:ext cx="14520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 Gateway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17490" y="1847088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015277" y="1732788"/>
            <a:ext cx="128016" cy="100584"/>
          </a:xfrm>
          <a:prstGeom prst="right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43293" y="1371600"/>
            <a:ext cx="1543507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189013" y="1481328"/>
            <a:ext cx="14520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Bedrock + Guardrails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89013" y="1847088"/>
            <a:ext cx="14520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In-VPC · PII masked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860182" y="2231136"/>
            <a:ext cx="109728" cy="201168"/>
          </a:xfrm>
          <a:prstGeom prst="downArrow">
            <a:avLst/>
          </a:prstGeom>
          <a:solidFill>
            <a:srgbClr val="8593A3"/>
          </a:solidFill>
          <a:ln w="12700">
            <a:solidFill>
              <a:srgbClr val="8593A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2468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AGENT-SPECIFIC TOOLS &amp; CONNECTORS  (gateway-scoped)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" y="2743200"/>
            <a:ext cx="2657856" cy="713232"/>
          </a:xfrm>
          <a:prstGeom prst="roundRect">
            <a:avLst>
              <a:gd name="adj" fmla="val 7692"/>
            </a:avLst>
          </a:prstGeom>
          <a:solidFill>
            <a:srgbClr val="EDF3F4"/>
          </a:solidFill>
          <a:ln w="1270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12064" y="2834640"/>
            <a:ext cx="254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ITSM connector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2064" y="3145536"/>
            <a:ext cx="254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system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243072" y="2743200"/>
            <a:ext cx="2657856" cy="713232"/>
          </a:xfrm>
          <a:prstGeom prst="roundRect">
            <a:avLst>
              <a:gd name="adj" fmla="val 7692"/>
            </a:avLst>
          </a:prstGeom>
          <a:solidFill>
            <a:srgbClr val="EDF3F4"/>
          </a:solidFill>
          <a:ln w="1270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297936" y="2834640"/>
            <a:ext cx="254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/ IdP connector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297936" y="3145536"/>
            <a:ext cx="254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/ access resets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028944" y="2743200"/>
            <a:ext cx="2657856" cy="713232"/>
          </a:xfrm>
          <a:prstGeom prst="roundRect">
            <a:avLst>
              <a:gd name="adj" fmla="val 7692"/>
            </a:avLst>
          </a:prstGeom>
          <a:solidFill>
            <a:srgbClr val="EDF3F4"/>
          </a:solidFill>
          <a:ln w="1270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083808" y="2834640"/>
            <a:ext cx="254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 Knowledge Base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083808" y="3145536"/>
            <a:ext cx="254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IT KB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57200" y="3602736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66928" y="3694176"/>
            <a:ext cx="329184" cy="329184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16" y="3779764"/>
            <a:ext cx="158008" cy="15800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005840" y="3602736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EVIDENCE   </a:t>
            </a:r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E9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+ DynamoDB append-only — every access, draft, approval, and action logged.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57200" y="47228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Ticket/chat → CloudFront/WAF → Cognito → Gateway → KB retrieve → Bedrock+Guardrails resolve/draft → (HITL if privileged) → action + audit.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DEPLOY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to governed in seven steps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4069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" y="1426464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5568" y="13898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CMK / KMS + network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15568" y="165506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keys; isolated VPC.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029968"/>
            <a:ext cx="4069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" y="2157984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5568" y="21214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Cognito / JWT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15568" y="238658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the IdP; role scoping.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2761488"/>
            <a:ext cx="4069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" y="2889504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15568" y="285292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CloudFront / WAF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15568" y="311810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protection at the front door.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493008"/>
            <a:ext cx="4069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5216" y="3621024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3" name="Text 20"/>
          <p:cNvSpPr/>
          <p:nvPr/>
        </p:nvSpPr>
        <p:spPr>
          <a:xfrm>
            <a:off x="585216" y="3621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15568" y="358444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 agent + tool grants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15568" y="384962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agent; grant only this agent's tools.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74920" y="1298448"/>
            <a:ext cx="4069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202936" y="1426464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8" name="Text 25"/>
          <p:cNvSpPr/>
          <p:nvPr/>
        </p:nvSpPr>
        <p:spPr>
          <a:xfrm>
            <a:off x="5202936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733288" y="138988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 + secrets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733288" y="165506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ITSM tool and identity provider, index runbooks, set which actions auto-resolve vs require approval.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074920" y="2029968"/>
            <a:ext cx="4069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202936" y="2157984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3" name="Text 30"/>
          <p:cNvSpPr/>
          <p:nvPr/>
        </p:nvSpPr>
        <p:spPr>
          <a:xfrm>
            <a:off x="5202936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33288" y="21214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WORM + DynamoDB audit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5733288" y="238658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Lock + append-only audit on.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074920" y="2761488"/>
            <a:ext cx="4069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202936" y="2889504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8" name="Text 35"/>
          <p:cNvSpPr/>
          <p:nvPr/>
        </p:nvSpPr>
        <p:spPr>
          <a:xfrm>
            <a:off x="5202936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733288" y="285292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Smoke test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5733288" y="311810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path, HITL gate, audit write.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074920" y="3493008"/>
            <a:ext cx="4069080" cy="676656"/>
          </a:xfrm>
          <a:prstGeom prst="roundRect">
            <a:avLst>
              <a:gd name="adj" fmla="val 810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202936" y="3538728"/>
            <a:ext cx="3813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ONE-LINER
</a:t>
            </a:r>
            <a:endParaRPr lang="en-US" sz="9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E9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Quick-deploy + gateway; connect the ITSM tool and identity provider, index runbooks, set which actions auto-resolve vs. require approval.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57200" y="47228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</a:t>
            </a:r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runbooks/agent-deploy/08-operations-service-desk.md   ·   </a:t>
            </a:r>
            <a:pPr algn="l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docs/AWS-DEPLOYMENT-REFERENCE.md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566928" cy="566928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458297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HONEST TRADEOFFS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70432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modeled to your baseline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472184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$1–$4 vs $17–$25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85216" y="2221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vs phone resolution; AI deflects 45%+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estimate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55264" y="132588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46704" y="1472184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383280" y="2221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per-reset labor cost reset automation targets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83280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· estimate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53328" y="132588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44768" y="1472184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7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gain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181344" y="22219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K-12's small IT teams from deflection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81344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— flagged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329184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DF3F4"/>
          </a:solidFill>
          <a:ln w="12700">
            <a:solidFill>
              <a:srgbClr val="3AA6A4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3621024"/>
            <a:ext cx="420624" cy="420624"/>
          </a:xfrm>
          <a:prstGeom prst="ellipse">
            <a:avLst/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1B2A4A">
                <a:alpha val="16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42" y="3730386"/>
            <a:ext cx="201900" cy="2019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70432" y="3401568"/>
            <a:ext cx="7406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— and isn't. 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Decision-support, not autonomy: humans own every consequential call (grades, awards, interventions, account changes).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figures are flagged on-slide and never lead.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are documented at the named institution and modeled to your baseline — not guaranteed.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47594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AI on AWS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040880" y="47594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/ IT Service Desk</dc:title>
  <dc:subject>PptxGenJS Presentation</dc:subject>
  <dc:creator>EDU AI Agent Suite</dc:creator>
  <cp:lastModifiedBy>EDU AI Agent Suite</cp:lastModifiedBy>
  <cp:revision>1</cp:revision>
  <dcterms:created xsi:type="dcterms:W3CDTF">2026-06-24T02:54:27Z</dcterms:created>
  <dcterms:modified xsi:type="dcterms:W3CDTF">2026-06-24T02:54:27Z</dcterms:modified>
</cp:coreProperties>
</file>