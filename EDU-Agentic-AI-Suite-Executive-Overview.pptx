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 AI AGENT SUITE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Agents for Education — Built on AWS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are not the product.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platform that makes them deployable, auditable, and compliant with student-privacy law 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 ·  Charter &amp; Private  ·  Community College  ·  University  ·  Online  ·  Adult / Workforce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is already yours. The agents just need a safe way to reach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 away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live in portals, PDFs, departmental pages, and staff inboxes — reachable only by someone who knows which screen to open.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828800"/>
            <a:ext cx="352044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agents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EDU agents retrieve approved info, analyze data, draft and recommend, call approved APIs, initiate low-risk workflows, and escalate exceptions.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828800"/>
            <a:ext cx="352044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decide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2697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autonomously decide grades, admissions, discipline, financial aid, special-ed eligibility, or placement.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isn't the model or the chatbot — it's giving agents clean, governed API access to the data itself.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flagship agents on one governed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&amp; Family Concierge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answers, status, cases — best first deploy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4448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&amp; Study Companion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8444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Curriculum-grounded Socratic tutoring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91656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1656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Educator Copilot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91656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Instruction, differentiation &amp; LMS workflow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0264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98864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9886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98864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Assessment, Grading &amp; Feedback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98864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Rubric-grounded drafts; educator owns grades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Success &amp; Engagement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5532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assembly + proactive outreach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55848" y="4069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84448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584448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84448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 Navigator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84448" y="5532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Degree, transfer &amp; career planning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4069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91656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391656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91656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&amp; Accessibility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91656" y="5532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intake + accessible content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70264" y="4069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98864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9198864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98864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Service Desk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98864" y="5532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+ staff admin workflow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LAND &amp; EXPAND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where risk is low and value is visible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first deployments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Student &amp; Family Concierge — the single best entry point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Educator Copilot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Document &amp; Accessibility Services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Operations Service Desk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i="1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visibility · low decision-risk · measurable deflection &amp; cycle-time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828800"/>
            <a:ext cx="53035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High-value, higher-governance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Tutor &amp; Study Companion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Assessment, Grading &amp; Feedback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Student Success &amp; Engagement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Pathway Navigator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i="1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learning &amp; outcomes — stronger evaluation, oversight, bias testing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01 — it funds the shared gateway every later agent inherits for free.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MCP authorization gateway — and why it comes 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only needs to talk. An agent needs to act on a student's record — so who is allowed to do what, and the proof of every action, becomes the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828800"/>
          </a:xfrm>
          <a:prstGeom prst="rect">
            <a:avLst/>
          </a:prstGeom>
          <a:solidFill>
            <a:srgbClr val="2B356E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Gateway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Managed. Fastest to production, lowest ops burden.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default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20440" cy="1828800"/>
          </a:xfrm>
          <a:prstGeom prst="rect">
            <a:avLst/>
          </a:prstGeom>
          <a:solidFill>
            <a:srgbClr val="2B356E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primitives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Lambda + Step Functions + STS.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platform 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520440" cy="1828800"/>
          </a:xfrm>
          <a:prstGeom prst="rect">
            <a:avLst/>
          </a:prstGeom>
          <a:solidFill>
            <a:srgbClr val="2B356E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FastMCP (self-built)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MCP server code; maximum portability.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must own 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controls across all three: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 &amp; role · deny-by-default least privilege · human gate on consequential actions · short-lived scoped tokens · PII-masked append-only audit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once on Agent 01; agents 02-08 inherit it. It's what passes the CISO, privacy, and registrar review.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layers, cleanly separated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58368"/>
          </a:xfrm>
          <a:prstGeom prst="rect">
            <a:avLst/>
          </a:prstGeom>
          <a:solidFill>
            <a:srgbClr val="23304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· Governance &amp; Observability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prompt registry · evals · fairness · audit · CloudWatch / CloudTrail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11064240" cy="658368"/>
          </a:xfrm>
          <a:prstGeom prst="rect">
            <a:avLst/>
          </a:prstGeom>
          <a:solidFill>
            <a:srgbClr val="2A3A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0428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Models &amp; Deterministic Services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3042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(Claude) · Guardrails · degree/rubric rules · PII masker · SageMaker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11064240" cy="658368"/>
          </a:xfrm>
          <a:prstGeom prst="rect">
            <a:avLst/>
          </a:prstGeom>
          <a:solidFill>
            <a:srgbClr val="31477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540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Data &amp; Semantic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05409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 · vector search · governed student-data lake · RWD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11064240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0390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MCP Authorization Gateway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80390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+ Identity · connectors · student-PII masking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11064240" cy="658368"/>
          </a:xfrm>
          <a:prstGeom prst="rect">
            <a:avLst/>
          </a:prstGeom>
          <a:solidFill>
            <a:srgbClr val="31477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537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Supervisor &amp; Specialist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5537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· framework-enforced HITL gates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64240" cy="658368"/>
          </a:xfrm>
          <a:prstGeom prst="rect">
            <a:avLst/>
          </a:prstGeom>
          <a:solidFill>
            <a:srgbClr val="2A3A6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035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Experience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53035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panel (LTI) · student/family portal · Teams · Amazon Connect · web/API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identity follows every request; the SIS/LMS/ERP/CRM stays the system of record; any agent or tool can be disabled instantly.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EDU COMPLIANCE SPINE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regulation stack, enforced in the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FERPA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Identity-scoped access; rights transfer at 18; school-official direct control; disclosure audit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828800"/>
            <a:ext cx="10972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COPPA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304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Under-13 flag drives heightened Guardrails, data minimization, no non-educational use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99232"/>
            <a:ext cx="10972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protected-category inference; outreach grounded in operational signals only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999232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999232"/>
            <a:ext cx="10972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/ 504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&amp; placement are human decisions; IEP/504 data heightened-sensitivity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9664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69664"/>
            <a:ext cx="10972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79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 / 508 / WCAG 2.2 AA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6451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student-facing surfaces; accessible content transformation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169664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4169664"/>
            <a:ext cx="10972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279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privacy (~140 laws)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46451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Residency, retention, consent &amp; prohibited-use are configuration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no agent autonomously decides grades, admissions, discipline, financial aid, special-ed eligibility, or placement.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IN PRODUCTION (AWS)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is already deploying these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94.5%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of UA-Pulaski Tech's AWS agent (MyAgent); +253% admissions-content engagement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400800" y="272491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status emails, calls &amp; visits at Highline College's financial-aid self-service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4-6 wks to ~1 day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822960" y="4507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Tech transcript / credential evaluation turnaround on AWS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61188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 Sage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400800" y="4507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Austin's faculty-guided Bedrock tutor (Textract, Lambda, DynamoDB, OpenSearch, Cognito)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AWS Public Sector Blog (Pulaski/Modo Labs, Highline, UT Austin); Illinois Tech case study. Measured outcomes, not chat volume.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five categories — outcomes, not conversations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7830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Minutes/case · staff hours · overtime · seasonal staffing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694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56946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wait time · first-contact resolution · after-hours availability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558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335584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· course pass rate · feedback turnaround · engagement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87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1422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journey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414223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completion · attendance · persistence · graduation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92861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quality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492861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&amp; escalation rate · overrides · privacy incidents · equity gaps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tutoring agent with high usage but no measurable learning gain is not a success. An enrollment agent with a 70% cut in processing time is.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ACCELERATOR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governed, testable, deployable starting 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factory · student-PII masker · MCP gateway · connectors (SIS/LMS/CRM/ITSM/ERP)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783080"/>
            <a:ext cx="534924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47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in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hash-pinned prompts · HITL gate tests · red team · fairness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34924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73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agents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workflows · gateway-scoped tools · deterministic demo · Streamlit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108960"/>
            <a:ext cx="534924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73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deployment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+ Terraform · AgentCore container (/invocations, /ping)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34840"/>
            <a:ext cx="534924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599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&amp; GTM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· offerings (POC to managed) · stakeholder briefings · TPRM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43484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4434840"/>
            <a:ext cx="534924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599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4983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 API key · full test suite green · marquee proof points checked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Documented + Demonstrated, Deployable-by-design. Production-readiness (CSV, IdP, live connectors, WCAG, pen test) is the engagement.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proof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2651760"/>
          </a:xfrm>
          <a:prstGeom prst="rect">
            <a:avLst/>
          </a:prstGeom>
          <a:solidFill>
            <a:srgbClr val="232C5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FERPA/COPPA posture, IdP &amp; role mapping, system inventory, accessibility baseline, state-law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8688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01568" y="1920240"/>
            <a:ext cx="2651760" cy="2651760"/>
          </a:xfrm>
          <a:prstGeom prst="rect">
            <a:avLst/>
          </a:prstGeom>
          <a:solidFill>
            <a:srgbClr val="232C5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0168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016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0168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0168" y="3474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in demo mode — prove the controls and the experience; go/no-go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71616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54496" y="1920240"/>
            <a:ext cx="2651760" cy="2651760"/>
          </a:xfrm>
          <a:prstGeom prst="rect">
            <a:avLst/>
          </a:prstGeom>
          <a:solidFill>
            <a:srgbClr val="232C5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3096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3096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83096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wks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83096" y="3474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system + the MCP gateway in Phase 1; exit criteria to production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24544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07424" y="1920240"/>
            <a:ext cx="2651760" cy="2651760"/>
          </a:xfrm>
          <a:prstGeom prst="rect">
            <a:avLst/>
          </a:prstGeom>
          <a:solidFill>
            <a:srgbClr val="232C5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36024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933602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3602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Run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36024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36024" y="3474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portfolio; managed HITL queue, evals, fairness &amp; accessibility monitoring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gateway in Phase 1 — far cheaper to build first than to retrofit governance across eight agents later.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between eight pilots and eight agents in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agents. One governed gateway. A compliance spine that compounds. Outcomes you can measure.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7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the Student &amp; Family Concierge — then expand across the portfolio.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Governed AI for Education on AWS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AI Agent Suite — Executive Overview</dc:title>
  <dc:subject>PptxGenJS Presentation</dc:subject>
  <dc:creator>Education GTM Accelerator</dc:creator>
  <cp:lastModifiedBy>Education GTM Accelerator</cp:lastModifiedBy>
  <cp:revision>1</cp:revision>
  <dcterms:created xsi:type="dcterms:W3CDTF">2026-06-18T00:41:21Z</dcterms:created>
  <dcterms:modified xsi:type="dcterms:W3CDTF">2026-06-18T00:41:21Z</dcterms:modified>
</cp:coreProperties>
</file>